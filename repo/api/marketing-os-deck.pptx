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9F6931C-978D-F600-76DF-6435A3F6DC86}">
          <p14:sldIdLst>
            <p14:sldId id="256"/>
          </p14:sldIdLst>
        </p14:section>
        <p14:section name="Why it matters" id="{9E947CEA-A318-B6A3-99F9-6E24FB2C3EAF}">
          <p14:sldIdLst>
            <p14:sldId id="257"/>
            <p14:sldId id="258"/>
            <p14:sldId id="259"/>
          </p14:sldIdLst>
        </p14:section>
        <p14:section name="The product" id="{51884B49-5714-5B27-9A1E-86B7F478DB05}">
          <p14:sldIdLst>
            <p14:sldId id="260"/>
            <p14:sldId id="261"/>
            <p14:sldId id="262"/>
            <p14:sldId id="263"/>
            <p14:sldId id="264"/>
          </p14:sldIdLst>
        </p14:section>
        <p14:section name="In action" id="{4DAE5D7F-A848-DE71-6C82-767AF6BC401C}">
          <p14:sldIdLst>
            <p14:sldId id="265"/>
            <p14:sldId id="266"/>
          </p14:sldIdLst>
        </p14:section>
        <p14:section name="Fit and next steps" id="{19A11A06-3804-BF82-3D86-08225381E390}">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2903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Marketing OS (KOGO Workspace for Marketing) is one AI-native control plane for marketing. Signals in, decisions out, in a loop. The ring is the whole product: Capture, Learn, Create, Deploy. Everything after this slide zooms into one part of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Every marketer does the same four things: launch, read how it is doing, improve, guide the buyer to purchase. Define "signal" out loud, because the rest of the deck leans on it: any sign of how marketing is doing. Land the closing line: the job is the same, the volume is not.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shift. Generative AI makes creative, campaigns and platforms effectively unlimited. Every piece of output also produces signals (views, clicks, sales, reviews), so the amount to read grows with it. We are deliberately not quoting numbers here: the point is the direction, not a benchmark.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output has become infinite, but nobody has a cockpit for the signals that come back. Signals pile up on the left, very few decisions come out on the right. The four cards are the plain-language cost: tired ads keep running, budget leaks, buyers about to leave go unnoticed, and winning ads do not get more money in time. A control plane is simply the one place where signals turn into decisions.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on one slide. Signals from ads, website, stores and buyers flow in on the left. Agents monitor (always on), analyse (in the moment) and decide (within the rules the customer sets). A human approves, then decisions go out: pause what is dying, scale what is winning, create the next creative, send to the right person. Control and memory are covered in detail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answers one plain question: what is happening, what does it mean, what should we make, what do we do about it. The return path along the bottom is what makes this a loop and not a pipeline: whatever the system does becomes the next signal.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breadth slide: five families of signal, from paid ads to store footfall, all landing in one field. The tools along the bottom are what captures them today: Commerce OS, Matomo, Hyperlocal, and CRM &amp; Support. The product team has not mapped each tool to a single family, so do not promise a one-to-one mapping.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agents turn performance, behaviour and customer signals into one read, in the moment. Four things they look for: what is fatiguing (ads people have seen too often), what is scaling, where the budget leaks, and who is about to churn. Create: Commerce OS flags the winning ad, Artist makes the next creative from that signal, Adapt Engine sizes it for every platform and format.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 is where the decision goes back out: pause what is dying, scale what is winning, move the budget, send the email. Then the loop closes: every action becomes a new signal and is captured again. The agents do not act unseen: the customer approves each decision, or pre-approves narrow moves within rules they set.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 to tell. It is an illustration, so say so; if you have a real example from the customer account, swap it in. Two a.m.: an ad has been shown to the same people too often and clicks are falling over several days. The agent flags it, Artist drafts a replacement from the winner, Adapt Engine sizes it for every platform. At seven the marketer sees one decision, approves it, and the budget moves. The agents detect, draft and size; the human decides.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one slide. Control: agents draft, you decide. Every suggestion shows its reason, you approve, edit or decline, and only then does the action run. Customers can pre-approve narrow moves within rules they set, such as budget shifts under a cap. Memory: every decision is logged with its reason and learned from, so each lap of the loop is sharper than the last. Confirm the exact configurability of pre-approved rules with the product team before promising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is the same; what it watches and what it decides differs. B2B watches accounts, intent and pipeline and decides who to pursue and when. B2C watches creative, audiences and storefronts and decides what to run next and where. The bottom row is what both get: configured in days, private, and agents draft while you decide.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a buying criterion, so it gets its own slide. Three ways to run one product: managed by Arinox AI, inside the customer cloud, or on-prem. The product page commits to "private: your cloud, your rules"; the three delivery options are Arinox-side framing, so confirm the wording of the on-prem column with the deployment team before sending externally.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three-step path. The signal audit is the low-commitment first move: it maps what the customer already has and shows where the loop would start. Leave the headline on screen for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0241280" cy="1097280"/>
          </a:xfrm>
          <a:prstGeom prst="rect">
            <a:avLst/>
          </a:prstGeom>
          <a:noFill/>
          <a:ln/>
        </p:spPr>
        <p:txBody>
          <a:bodyPr wrap="square" rtlCol="0"/>
          <a:lstStyle>
            <a:lvl1pPr marL="0" indent="0" algn="l">
              <a:buNone/>
              <a:defRPr lang="en-US" sz="3200" dirty="0">
                <a:solidFill>
                  <a:schemeClr val="tx1"/>
                </a:solidFill>
              </a:defRPr>
            </a:lvl1pPr>
          </a:lstStyle>
          <a:p>
            <a:pPr marL="0" indent="0" algn="l">
              <a:buNone/>
            </a:pPr>
            <a:endParaRPr lang="en-US" sz="3200" dirty="0"/>
          </a:p>
        </p:txBody>
      </p:sp>
      <p:sp>
        <p:nvSpPr>
          <p:cNvPr id="3" name="Text 0"/>
          <p:cNvSpPr>
            <a:spLocks noGrp="1"/>
          </p:cNvSpPr>
          <p:nvPr>
            <p:ph type="body" idx="101" hasCustomPrompt="1"/>
          </p:nvPr>
        </p:nvSpPr>
        <p:spPr>
          <a:xfrm>
            <a:off x="548640" y="402336"/>
            <a:ext cx="8229600" cy="274320"/>
          </a:xfrm>
          <a:prstGeom prst="rect">
            <a:avLst/>
          </a:prstGeom>
          <a:noFill/>
          <a:ln/>
        </p:spPr>
        <p:txBody>
          <a:bodyPr wrap="square" rtlCol="0"/>
          <a:lstStyle>
            <a:lvl1pPr marL="0" indent="0">
              <a:buNone/>
              <a:defRPr lang="en-US" sz="1200" b="1" kern="0" spc="300" dirty="0">
                <a:solidFill>
                  <a:schemeClr val="accent1"/>
                </a:solidFill>
              </a:defRPr>
            </a:lvl1pPr>
          </a:lstStyle>
          <a:p>
            <a:pPr marL="0" indent="0">
              <a:buNone/>
            </a:pPr>
            <a:endParaRPr lang="en-US" sz="1200" dirty="0"/>
          </a:p>
        </p:txBody>
      </p:sp>
      <p:pic>
        <p:nvPicPr>
          <p:cNvPr id="4" name="Image 0" descr="Arinox logo"/>
          <p:cNvPicPr>
            <a:picLocks noChangeAspect="1"/>
          </p:cNvPicPr>
          <p:nvPr/>
        </p:nvPicPr>
        <p:blipFill>
          <a:blip r:embed="rId2"/>
          <a:stretch>
            <a:fillRect/>
          </a:stretch>
        </p:blipFill>
        <p:spPr>
          <a:xfrm>
            <a:off x="10271455" y="365760"/>
            <a:ext cx="1371600" cy="241572"/>
          </a:xfrm>
          <a:prstGeom prst="rect">
            <a:avLst/>
          </a:prstGeom>
        </p:spPr>
      </p:pic>
      <p:sp>
        <p:nvSpPr>
          <p:cNvPr id="5" name="Text 0"/>
          <p:cNvSpPr txBox="1"/>
          <p:nvPr/>
        </p:nvSpPr>
        <p:spPr>
          <a:xfrm>
            <a:off x="548640" y="6400800"/>
            <a:ext cx="4572000" cy="228600"/>
          </a:xfrm>
          <a:prstGeom prst="rect">
            <a:avLst/>
          </a:prstGeom>
          <a:noFill/>
          <a:ln/>
        </p:spPr>
        <p:txBody>
          <a:bodyPr wrap="square" lIns="0" tIns="0" rIns="0" bIns="0" rtlCol="0" anchor="ctr"/>
          <a:lstStyle/>
          <a:p>
            <a:pPr marL="0" indent="0">
              <a:buNone/>
            </a:pPr>
            <a:r>
              <a:rPr lang="en-US" sz="1000" kern="0" spc="200" dirty="0">
                <a:solidFill>
                  <a:schemeClr val="accent4"/>
                </a:solidFill>
              </a:rPr>
              <a:t>MARKETING OS  ·  ARINOX AI</a:t>
            </a:r>
            <a:endParaRPr lang="en-US" sz="1000" dirty="0"/>
          </a:p>
        </p:txBody>
      </p:sp>
      <p:sp>
        <p:nvSpPr>
          <p:cNvPr id="6" name="Text 1"/>
          <p:cNvSpPr txBox="1"/>
          <p:nvPr/>
        </p:nvSpPr>
        <p:spPr>
          <a:xfrm>
            <a:off x="6583680" y="6400800"/>
            <a:ext cx="4572000" cy="228600"/>
          </a:xfrm>
          <a:prstGeom prst="rect">
            <a:avLst/>
          </a:prstGeom>
          <a:noFill/>
          <a:ln/>
        </p:spPr>
        <p:txBody>
          <a:bodyPr wrap="square" lIns="0" tIns="0" rIns="0" bIns="0" rtlCol="0" anchor="ctr"/>
          <a:lstStyle/>
          <a:p>
            <a:pPr marL="0" indent="0" algn="r">
              <a:buNone/>
            </a:pPr>
            <a:r>
              <a:rPr lang="en-US" sz="1000" dirty="0">
                <a:solidFill>
                  <a:schemeClr val="accent4"/>
                </a:solidFill>
              </a:rPr>
              <a:t>Adisen Tech Private Limited  ·  Bengaluru</a:t>
            </a:r>
            <a:endParaRPr lang="en-US" sz="10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1A1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49808"/>
            <a:ext cx="10241280" cy="1097280"/>
          </a:xfrm>
          <a:prstGeom prst="rect">
            <a:avLst/>
          </a:prstGeom>
          <a:noFill/>
          <a:ln/>
        </p:spPr>
        <p:txBody>
          <a:bodyPr wrap="square" rtlCol="0"/>
          <a:lstStyle>
            <a:lvl1pPr marL="0" indent="0" algn="l">
              <a:buNone/>
              <a:defRPr lang="en-US" sz="3200" dirty="0">
                <a:solidFill>
                  <a:schemeClr val="bg1"/>
                </a:solidFill>
              </a:defRPr>
            </a:lvl1pPr>
          </a:lstStyle>
          <a:p>
            <a:pPr marL="0" indent="0" algn="l">
              <a:buNone/>
            </a:pPr>
            <a:endParaRPr lang="en-US" sz="3200" dirty="0"/>
          </a:p>
        </p:txBody>
      </p:sp>
      <p:sp>
        <p:nvSpPr>
          <p:cNvPr id="3" name="Text 0"/>
          <p:cNvSpPr>
            <a:spLocks noGrp="1"/>
          </p:cNvSpPr>
          <p:nvPr>
            <p:ph type="body" idx="101" hasCustomPrompt="1"/>
          </p:nvPr>
        </p:nvSpPr>
        <p:spPr>
          <a:xfrm>
            <a:off x="548640" y="402336"/>
            <a:ext cx="8229600" cy="274320"/>
          </a:xfrm>
          <a:prstGeom prst="rect">
            <a:avLst/>
          </a:prstGeom>
          <a:noFill/>
          <a:ln/>
        </p:spPr>
        <p:txBody>
          <a:bodyPr wrap="square" rtlCol="0"/>
          <a:lstStyle>
            <a:lvl1pPr marL="0" indent="0">
              <a:buNone/>
              <a:defRPr lang="en-US" sz="1200" b="1" kern="0" spc="300" dirty="0">
                <a:solidFill>
                  <a:schemeClr val="accent1"/>
                </a:solidFill>
              </a:defRPr>
            </a:lvl1pPr>
          </a:lstStyle>
          <a:p>
            <a:pPr marL="0" indent="0">
              <a:buNone/>
            </a:pPr>
            <a:endParaRPr lang="en-US" sz="1200" dirty="0"/>
          </a:p>
        </p:txBody>
      </p:sp>
      <p:pic>
        <p:nvPicPr>
          <p:cNvPr id="4" name="Image 0" descr="Arinox logo"/>
          <p:cNvPicPr>
            <a:picLocks noChangeAspect="1"/>
          </p:cNvPicPr>
          <p:nvPr/>
        </p:nvPicPr>
        <p:blipFill>
          <a:blip r:embed="rId2"/>
          <a:stretch>
            <a:fillRect/>
          </a:stretch>
        </p:blipFill>
        <p:spPr>
          <a:xfrm>
            <a:off x="10271455" y="365760"/>
            <a:ext cx="1371600" cy="241572"/>
          </a:xfrm>
          <a:prstGeom prst="rect">
            <a:avLst/>
          </a:prstGeom>
        </p:spPr>
      </p:pic>
      <p:sp>
        <p:nvSpPr>
          <p:cNvPr id="5" name="Text 0"/>
          <p:cNvSpPr txBox="1"/>
          <p:nvPr/>
        </p:nvSpPr>
        <p:spPr>
          <a:xfrm>
            <a:off x="548640" y="6400800"/>
            <a:ext cx="4572000" cy="228600"/>
          </a:xfrm>
          <a:prstGeom prst="rect">
            <a:avLst/>
          </a:prstGeom>
          <a:noFill/>
          <a:ln/>
        </p:spPr>
        <p:txBody>
          <a:bodyPr wrap="square" lIns="0" tIns="0" rIns="0" bIns="0" rtlCol="0" anchor="ctr"/>
          <a:lstStyle/>
          <a:p>
            <a:pPr marL="0" indent="0">
              <a:buNone/>
            </a:pPr>
            <a:r>
              <a:rPr lang="en-US" sz="1000" kern="0" spc="200" dirty="0">
                <a:solidFill>
                  <a:schemeClr val="accent4"/>
                </a:solidFill>
              </a:rPr>
              <a:t>MARKETING OS  ·  ARINOX AI</a:t>
            </a:r>
            <a:endParaRPr lang="en-US" sz="1000" dirty="0"/>
          </a:p>
        </p:txBody>
      </p:sp>
      <p:sp>
        <p:nvSpPr>
          <p:cNvPr id="6" name="Text 1"/>
          <p:cNvSpPr txBox="1"/>
          <p:nvPr/>
        </p:nvSpPr>
        <p:spPr>
          <a:xfrm>
            <a:off x="6583680" y="6400800"/>
            <a:ext cx="4572000" cy="228600"/>
          </a:xfrm>
          <a:prstGeom prst="rect">
            <a:avLst/>
          </a:prstGeom>
          <a:noFill/>
          <a:ln/>
        </p:spPr>
        <p:txBody>
          <a:bodyPr wrap="square" lIns="0" tIns="0" rIns="0" bIns="0" rtlCol="0" anchor="ctr"/>
          <a:lstStyle/>
          <a:p>
            <a:pPr marL="0" indent="0" algn="r">
              <a:buNone/>
            </a:pPr>
            <a:r>
              <a:rPr lang="en-US" sz="1000" dirty="0">
                <a:solidFill>
                  <a:schemeClr val="accent4"/>
                </a:solidFill>
              </a:rPr>
              <a:t>Adisen Tech Private Limited  ·  Bengaluru</a:t>
            </a:r>
            <a:endParaRPr lang="en-US" sz="10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F1A1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5212080" cy="2377440"/>
          </a:xfrm>
          <a:prstGeom prst="rect">
            <a:avLst/>
          </a:prstGeom>
          <a:noFill/>
          <a:ln/>
        </p:spPr>
        <p:txBody>
          <a:bodyPr wrap="square" rtlCol="0"/>
          <a:lstStyle>
            <a:lvl1pPr marL="0" indent="0" algn="l">
              <a:buNone/>
              <a:defRPr lang="en-US" sz="4000"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1417320"/>
            <a:ext cx="8229600" cy="274320"/>
          </a:xfrm>
          <a:prstGeom prst="rect">
            <a:avLst/>
          </a:prstGeom>
          <a:noFill/>
          <a:ln/>
        </p:spPr>
        <p:txBody>
          <a:bodyPr wrap="square" rtlCol="0"/>
          <a:lstStyle>
            <a:lvl1pPr marL="0" indent="0">
              <a:buNone/>
              <a:defRPr lang="en-US" sz="1200" b="1" kern="0" spc="300" dirty="0">
                <a:solidFill>
                  <a:schemeClr val="accent1"/>
                </a:solidFill>
              </a:defRPr>
            </a:lvl1pPr>
          </a:lstStyle>
          <a:p>
            <a:pPr marL="0" indent="0">
              <a:buNone/>
            </a:pPr>
            <a:endParaRPr lang="en-US" sz="1200" dirty="0"/>
          </a:p>
        </p:txBody>
      </p:sp>
      <p:pic>
        <p:nvPicPr>
          <p:cNvPr id="4" name="Image 0" descr="Arinox logo"/>
          <p:cNvPicPr>
            <a:picLocks noChangeAspect="1"/>
          </p:cNvPicPr>
          <p:nvPr/>
        </p:nvPicPr>
        <p:blipFill>
          <a:blip r:embed="rId2"/>
          <a:stretch>
            <a:fillRect/>
          </a:stretch>
        </p:blipFill>
        <p:spPr>
          <a:xfrm>
            <a:off x="10271455" y="365760"/>
            <a:ext cx="1371600" cy="241572"/>
          </a:xfrm>
          <a:prstGeom prst="rect">
            <a:avLst/>
          </a:prstGeom>
        </p:spPr>
      </p:pic>
      <p:sp>
        <p:nvSpPr>
          <p:cNvPr id="5" name="Text 0"/>
          <p:cNvSpPr txBox="1"/>
          <p:nvPr/>
        </p:nvSpPr>
        <p:spPr>
          <a:xfrm>
            <a:off x="548640" y="6400800"/>
            <a:ext cx="4572000" cy="228600"/>
          </a:xfrm>
          <a:prstGeom prst="rect">
            <a:avLst/>
          </a:prstGeom>
          <a:noFill/>
          <a:ln/>
        </p:spPr>
        <p:txBody>
          <a:bodyPr wrap="square" lIns="0" tIns="0" rIns="0" bIns="0" rtlCol="0" anchor="ctr"/>
          <a:lstStyle/>
          <a:p>
            <a:pPr marL="0" indent="0">
              <a:buNone/>
            </a:pPr>
            <a:r>
              <a:rPr lang="en-US" sz="1000" kern="0" spc="200" dirty="0">
                <a:solidFill>
                  <a:schemeClr val="accent4"/>
                </a:solidFill>
              </a:rPr>
              <a:t>MARKETING OS  ·  ARINOX AI</a:t>
            </a:r>
            <a:endParaRPr lang="en-US" sz="1000" dirty="0"/>
          </a:p>
        </p:txBody>
      </p:sp>
      <p:sp>
        <p:nvSpPr>
          <p:cNvPr id="6" name="Text 1"/>
          <p:cNvSpPr txBox="1"/>
          <p:nvPr/>
        </p:nvSpPr>
        <p:spPr>
          <a:xfrm>
            <a:off x="6583680" y="6400800"/>
            <a:ext cx="4572000" cy="228600"/>
          </a:xfrm>
          <a:prstGeom prst="rect">
            <a:avLst/>
          </a:prstGeom>
          <a:noFill/>
          <a:ln/>
        </p:spPr>
        <p:txBody>
          <a:bodyPr wrap="square" lIns="0" tIns="0" rIns="0" bIns="0" rtlCol="0" anchor="ctr"/>
          <a:lstStyle/>
          <a:p>
            <a:pPr marL="0" indent="0" algn="r">
              <a:buNone/>
            </a:pPr>
            <a:r>
              <a:rPr lang="en-US" sz="1000" dirty="0">
                <a:solidFill>
                  <a:schemeClr val="accent4"/>
                </a:solidFill>
              </a:rPr>
              <a:t>Adisen Tech Private Limited  ·  Bengaluru</a:t>
            </a:r>
            <a:endParaRPr lang="en-US" sz="10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F1A1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240280"/>
            <a:ext cx="6035040" cy="1737360"/>
          </a:xfrm>
          <a:prstGeom prst="rect">
            <a:avLst/>
          </a:prstGeom>
          <a:noFill/>
          <a:ln/>
        </p:spPr>
        <p:txBody>
          <a:bodyPr wrap="square" rtlCol="0"/>
          <a:lstStyle>
            <a:lvl1pPr marL="0" indent="0" algn="l">
              <a:buNone/>
              <a:defRPr lang="en-US" sz="5600" dirty="0">
                <a:solidFill>
                  <a:schemeClr val="bg1"/>
                </a:solidFill>
              </a:defRPr>
            </a:lvl1pPr>
          </a:lstStyle>
          <a:p>
            <a:pPr marL="0" indent="0" algn="l">
              <a:buNone/>
            </a:pPr>
            <a:endParaRPr lang="en-US" sz="5600" dirty="0"/>
          </a:p>
        </p:txBody>
      </p:sp>
      <p:sp>
        <p:nvSpPr>
          <p:cNvPr id="3" name="Text 0"/>
          <p:cNvSpPr>
            <a:spLocks noGrp="1"/>
          </p:cNvSpPr>
          <p:nvPr>
            <p:ph type="body" idx="101" hasCustomPrompt="1"/>
          </p:nvPr>
        </p:nvSpPr>
        <p:spPr>
          <a:xfrm>
            <a:off x="548640" y="1783080"/>
            <a:ext cx="6035040" cy="274320"/>
          </a:xfrm>
          <a:prstGeom prst="rect">
            <a:avLst/>
          </a:prstGeom>
          <a:noFill/>
          <a:ln/>
        </p:spPr>
        <p:txBody>
          <a:bodyPr wrap="square" rtlCol="0"/>
          <a:lstStyle>
            <a:lvl1pPr marL="0" indent="0">
              <a:buNone/>
              <a:defRPr lang="en-US" sz="1200" b="1" kern="0" spc="300" dirty="0">
                <a:solidFill>
                  <a:schemeClr val="accent1"/>
                </a:solidFill>
              </a:defRPr>
            </a:lvl1pPr>
          </a:lstStyle>
          <a:p>
            <a:pPr marL="0" indent="0">
              <a:buNone/>
            </a:pPr>
            <a:endParaRPr lang="en-US" sz="1200" dirty="0"/>
          </a:p>
        </p:txBody>
      </p:sp>
      <p:pic>
        <p:nvPicPr>
          <p:cNvPr id="4" name="Image 0" descr="Arinox logo"/>
          <p:cNvPicPr>
            <a:picLocks noChangeAspect="1"/>
          </p:cNvPicPr>
          <p:nvPr/>
        </p:nvPicPr>
        <p:blipFill>
          <a:blip r:embed="rId2"/>
          <a:stretch>
            <a:fillRect/>
          </a:stretch>
        </p:blipFill>
        <p:spPr>
          <a:xfrm>
            <a:off x="548640" y="502920"/>
            <a:ext cx="2103120" cy="37041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17.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29.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0.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1783080"/>
            <a:ext cx="603504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MARKETING OS</a:t>
            </a:r>
            <a:endParaRPr lang="en-US" sz="1200" dirty="0"/>
          </a:p>
        </p:txBody>
      </p:sp>
      <p:sp>
        <p:nvSpPr>
          <p:cNvPr id="3" name="Text 0"/>
          <p:cNvSpPr>
            <a:spLocks noGrp="1"/>
          </p:cNvSpPr>
          <p:nvPr>
            <p:ph type="title" idx="100" hasCustomPrompt="1"/>
          </p:nvPr>
        </p:nvSpPr>
        <p:spPr>
          <a:xfrm>
            <a:off x="548640" y="2240280"/>
            <a:ext cx="6035040" cy="1737360"/>
          </a:xfrm>
          <a:prstGeom prst="rect">
            <a:avLst/>
          </a:prstGeom>
          <a:noFill/>
          <a:ln/>
        </p:spPr>
        <p:txBody>
          <a:bodyPr wrap="square" lIns="0" tIns="0" rIns="0" bIns="0" rtlCol="0" anchor="t"/>
          <a:lstStyle/>
          <a:p>
            <a:pPr marL="0" indent="0" algn="l">
              <a:buNone/>
            </a:pPr>
            <a:r>
              <a:rPr lang="en-US" sz="5600" dirty="0">
                <a:solidFill>
                  <a:schemeClr val="bg1"/>
                </a:solidFill>
              </a:rPr>
              <a:t>The AI way to </a:t>
            </a:r>
            <a:r>
              <a:rPr lang="en-US" sz="5600" dirty="0">
                <a:solidFill>
                  <a:schemeClr val="accent1"/>
                </a:solidFill>
              </a:rPr>
              <a:t>market.</a:t>
            </a:r>
            <a:endParaRPr lang="en-US" sz="5600" dirty="0"/>
          </a:p>
        </p:txBody>
      </p:sp>
      <p:sp>
        <p:nvSpPr>
          <p:cNvPr id="4" name="Text 2"/>
          <p:cNvSpPr txBox="1"/>
          <p:nvPr/>
        </p:nvSpPr>
        <p:spPr>
          <a:xfrm>
            <a:off x="548640" y="4114800"/>
            <a:ext cx="5486400" cy="822960"/>
          </a:xfrm>
          <a:prstGeom prst="rect">
            <a:avLst/>
          </a:prstGeom>
          <a:noFill/>
          <a:ln/>
        </p:spPr>
        <p:txBody>
          <a:bodyPr wrap="square" lIns="0" tIns="0" rIns="0" bIns="0" rtlCol="0" anchor="t"/>
          <a:lstStyle/>
          <a:p>
            <a:pPr marL="0" indent="0">
              <a:buNone/>
            </a:pPr>
            <a:r>
              <a:rPr lang="en-US" sz="2000" dirty="0">
                <a:solidFill>
                  <a:schemeClr val="bg2"/>
                </a:solidFill>
              </a:rPr>
              <a:t>One AI-native control plane for your marketing. Run by you and your agents.</a:t>
            </a:r>
            <a:endParaRPr lang="en-US" sz="2000" dirty="0"/>
          </a:p>
        </p:txBody>
      </p:sp>
      <p:sp>
        <p:nvSpPr>
          <p:cNvPr id="5" name="Text 3"/>
          <p:cNvSpPr txBox="1"/>
          <p:nvPr/>
        </p:nvSpPr>
        <p:spPr>
          <a:xfrm>
            <a:off x="548640" y="5074920"/>
            <a:ext cx="5852160" cy="411480"/>
          </a:xfrm>
          <a:prstGeom prst="rect">
            <a:avLst/>
          </a:prstGeom>
          <a:noFill/>
          <a:ln/>
        </p:spPr>
        <p:txBody>
          <a:bodyPr wrap="square" lIns="0" tIns="0" rIns="0" bIns="0" rtlCol="0" anchor="t"/>
          <a:lstStyle/>
          <a:p>
            <a:pPr marL="0" indent="0">
              <a:buNone/>
            </a:pPr>
            <a:r>
              <a:rPr lang="en-US" sz="2200" i="1" dirty="0">
                <a:solidFill>
                  <a:schemeClr val="accent1"/>
                </a:solidFill>
                <a:latin typeface="+mj-lt" pitchFamily="34" charset="0"/>
                <a:ea typeface="+mj-lt" pitchFamily="34" charset="-122"/>
                <a:cs typeface="+mj-lt" pitchFamily="34" charset="-120"/>
              </a:rPr>
              <a:t>Signals in. Decisions out. In a loop.</a:t>
            </a:r>
            <a:endParaRPr lang="en-US" sz="2200" dirty="0"/>
          </a:p>
        </p:txBody>
      </p:sp>
      <p:sp>
        <p:nvSpPr>
          <p:cNvPr id="6" name="Text 4"/>
          <p:cNvSpPr txBox="1"/>
          <p:nvPr/>
        </p:nvSpPr>
        <p:spPr>
          <a:xfrm>
            <a:off x="548640" y="6263640"/>
            <a:ext cx="7315200" cy="274320"/>
          </a:xfrm>
          <a:prstGeom prst="rect">
            <a:avLst/>
          </a:prstGeom>
          <a:noFill/>
          <a:ln/>
        </p:spPr>
        <p:txBody>
          <a:bodyPr wrap="square" lIns="0" tIns="0" rIns="0" bIns="0" rtlCol="0" anchor="t"/>
          <a:lstStyle/>
          <a:p>
            <a:pPr marL="0" indent="0">
              <a:buNone/>
            </a:pPr>
            <a:r>
              <a:rPr lang="en-US" sz="1200" dirty="0">
                <a:solidFill>
                  <a:schemeClr val="accent4"/>
                </a:solidFill>
              </a:rPr>
              <a:t>Arinox AI  ·  October 2026</a:t>
            </a:r>
            <a:endParaRPr lang="en-US" sz="1200" dirty="0"/>
          </a:p>
        </p:txBody>
      </p:sp>
      <p:pic>
        <p:nvPicPr>
          <p:cNvPr id="7" name="Image 0" descr="Four-stage loop: Capture, Learn, Create, Deploy"/>
          <p:cNvPicPr>
            <a:picLocks noChangeAspect="1"/>
          </p:cNvPicPr>
          <p:nvPr/>
        </p:nvPicPr>
        <p:blipFill>
          <a:blip r:embed="rId3"/>
          <a:stretch>
            <a:fillRect/>
          </a:stretch>
        </p:blipFill>
        <p:spPr>
          <a:xfrm>
            <a:off x="6629400" y="868680"/>
            <a:ext cx="5303520" cy="5303520"/>
          </a:xfrm>
          <a:prstGeom prst="rect">
            <a:avLst/>
          </a:prstGeom>
        </p:spPr>
      </p:pic>
      <p:sp>
        <p:nvSpPr>
          <p:cNvPr id="8" name="Shape 5"/>
          <p:cNvSpPr/>
          <p:nvPr/>
        </p:nvSpPr>
        <p:spPr>
          <a:xfrm>
            <a:off x="8595360" y="1517904"/>
            <a:ext cx="1371600" cy="402336"/>
          </a:xfrm>
          <a:prstGeom prst="roundRect">
            <a:avLst>
              <a:gd name="adj" fmla="val 50000"/>
            </a:avLst>
          </a:prstGeom>
          <a:solidFill>
            <a:srgbClr val="E8590C"/>
          </a:solidFill>
          <a:ln/>
        </p:spPr>
      </p:sp>
      <p:sp>
        <p:nvSpPr>
          <p:cNvPr id="9" name="Text 6"/>
          <p:cNvSpPr txBox="1"/>
          <p:nvPr/>
        </p:nvSpPr>
        <p:spPr>
          <a:xfrm>
            <a:off x="8595360" y="1517904"/>
            <a:ext cx="1371600" cy="402336"/>
          </a:xfrm>
          <a:prstGeom prst="rect">
            <a:avLst/>
          </a:prstGeom>
          <a:noFill/>
          <a:ln/>
        </p:spPr>
        <p:txBody>
          <a:bodyPr wrap="square" lIns="0" tIns="0" rIns="0" bIns="0" rtlCol="0" anchor="ctr"/>
          <a:lstStyle/>
          <a:p>
            <a:pPr marL="0" indent="0" algn="ctr">
              <a:buNone/>
            </a:pPr>
            <a:r>
              <a:rPr lang="en-US" sz="1400" b="1" dirty="0">
                <a:solidFill>
                  <a:schemeClr val="bg1"/>
                </a:solidFill>
              </a:rPr>
              <a:t>1  Capture</a:t>
            </a:r>
            <a:endParaRPr lang="en-US" sz="1400" dirty="0"/>
          </a:p>
        </p:txBody>
      </p:sp>
      <p:sp>
        <p:nvSpPr>
          <p:cNvPr id="10" name="Shape 7"/>
          <p:cNvSpPr/>
          <p:nvPr/>
        </p:nvSpPr>
        <p:spPr>
          <a:xfrm>
            <a:off x="10396728" y="3319272"/>
            <a:ext cx="1371600" cy="402336"/>
          </a:xfrm>
          <a:prstGeom prst="roundRect">
            <a:avLst>
              <a:gd name="adj" fmla="val 50000"/>
            </a:avLst>
          </a:prstGeom>
          <a:solidFill>
            <a:srgbClr val="E8590C"/>
          </a:solidFill>
          <a:ln/>
        </p:spPr>
      </p:sp>
      <p:sp>
        <p:nvSpPr>
          <p:cNvPr id="11" name="Text 8"/>
          <p:cNvSpPr txBox="1"/>
          <p:nvPr/>
        </p:nvSpPr>
        <p:spPr>
          <a:xfrm>
            <a:off x="10396728" y="3319272"/>
            <a:ext cx="1371600" cy="402336"/>
          </a:xfrm>
          <a:prstGeom prst="rect">
            <a:avLst/>
          </a:prstGeom>
          <a:noFill/>
          <a:ln/>
        </p:spPr>
        <p:txBody>
          <a:bodyPr wrap="square" lIns="0" tIns="0" rIns="0" bIns="0" rtlCol="0" anchor="ctr"/>
          <a:lstStyle/>
          <a:p>
            <a:pPr marL="0" indent="0" algn="ctr">
              <a:buNone/>
            </a:pPr>
            <a:r>
              <a:rPr lang="en-US" sz="1400" b="1" dirty="0">
                <a:solidFill>
                  <a:schemeClr val="bg1"/>
                </a:solidFill>
              </a:rPr>
              <a:t>2  Learn</a:t>
            </a:r>
            <a:endParaRPr lang="en-US" sz="1400" dirty="0"/>
          </a:p>
        </p:txBody>
      </p:sp>
      <p:sp>
        <p:nvSpPr>
          <p:cNvPr id="12" name="Shape 9"/>
          <p:cNvSpPr/>
          <p:nvPr/>
        </p:nvSpPr>
        <p:spPr>
          <a:xfrm>
            <a:off x="8595360" y="5120640"/>
            <a:ext cx="1371600" cy="402336"/>
          </a:xfrm>
          <a:prstGeom prst="roundRect">
            <a:avLst>
              <a:gd name="adj" fmla="val 50000"/>
            </a:avLst>
          </a:prstGeom>
          <a:solidFill>
            <a:srgbClr val="E8590C"/>
          </a:solidFill>
          <a:ln/>
        </p:spPr>
      </p:sp>
      <p:sp>
        <p:nvSpPr>
          <p:cNvPr id="13" name="Text 10"/>
          <p:cNvSpPr txBox="1"/>
          <p:nvPr/>
        </p:nvSpPr>
        <p:spPr>
          <a:xfrm>
            <a:off x="8595360" y="5120640"/>
            <a:ext cx="1371600" cy="402336"/>
          </a:xfrm>
          <a:prstGeom prst="rect">
            <a:avLst/>
          </a:prstGeom>
          <a:noFill/>
          <a:ln/>
        </p:spPr>
        <p:txBody>
          <a:bodyPr wrap="square" lIns="0" tIns="0" rIns="0" bIns="0" rtlCol="0" anchor="ctr"/>
          <a:lstStyle/>
          <a:p>
            <a:pPr marL="0" indent="0" algn="ctr">
              <a:buNone/>
            </a:pPr>
            <a:r>
              <a:rPr lang="en-US" sz="1400" b="1" dirty="0">
                <a:solidFill>
                  <a:schemeClr val="bg1"/>
                </a:solidFill>
              </a:rPr>
              <a:t>3  Create</a:t>
            </a:r>
            <a:endParaRPr lang="en-US" sz="1400" dirty="0"/>
          </a:p>
        </p:txBody>
      </p:sp>
      <p:sp>
        <p:nvSpPr>
          <p:cNvPr id="14" name="Shape 11"/>
          <p:cNvSpPr/>
          <p:nvPr/>
        </p:nvSpPr>
        <p:spPr>
          <a:xfrm>
            <a:off x="6793992" y="3319272"/>
            <a:ext cx="1371600" cy="402336"/>
          </a:xfrm>
          <a:prstGeom prst="roundRect">
            <a:avLst>
              <a:gd name="adj" fmla="val 50000"/>
            </a:avLst>
          </a:prstGeom>
          <a:solidFill>
            <a:srgbClr val="E8590C"/>
          </a:solidFill>
          <a:ln/>
        </p:spPr>
      </p:sp>
      <p:sp>
        <p:nvSpPr>
          <p:cNvPr id="15" name="Text 12"/>
          <p:cNvSpPr txBox="1"/>
          <p:nvPr/>
        </p:nvSpPr>
        <p:spPr>
          <a:xfrm>
            <a:off x="6793992" y="3319272"/>
            <a:ext cx="1371600" cy="402336"/>
          </a:xfrm>
          <a:prstGeom prst="rect">
            <a:avLst/>
          </a:prstGeom>
          <a:noFill/>
          <a:ln/>
        </p:spPr>
        <p:txBody>
          <a:bodyPr wrap="square" lIns="0" tIns="0" rIns="0" bIns="0" rtlCol="0" anchor="ctr"/>
          <a:lstStyle/>
          <a:p>
            <a:pPr marL="0" indent="0" algn="ctr">
              <a:buNone/>
            </a:pPr>
            <a:r>
              <a:rPr lang="en-US" sz="1400" b="1" dirty="0">
                <a:solidFill>
                  <a:schemeClr val="bg1"/>
                </a:solidFill>
              </a:rPr>
              <a:t>4  Deploy</a:t>
            </a:r>
            <a:endParaRPr lang="en-US" sz="1400" dirty="0"/>
          </a:p>
        </p:txBody>
      </p:sp>
      <p:sp>
        <p:nvSpPr>
          <p:cNvPr id="16" name="Text 13"/>
          <p:cNvSpPr txBox="1"/>
          <p:nvPr/>
        </p:nvSpPr>
        <p:spPr>
          <a:xfrm>
            <a:off x="8366760" y="2953512"/>
            <a:ext cx="1828800" cy="320040"/>
          </a:xfrm>
          <a:prstGeom prst="rect">
            <a:avLst/>
          </a:prstGeom>
          <a:noFill/>
          <a:ln/>
        </p:spPr>
        <p:txBody>
          <a:bodyPr wrap="square" lIns="0" tIns="0" rIns="0" bIns="0" rtlCol="0" anchor="t"/>
          <a:lstStyle/>
          <a:p>
            <a:pPr marL="0" indent="0" algn="ctr">
              <a:buNone/>
            </a:pPr>
            <a:r>
              <a:rPr lang="en-US" sz="1600" dirty="0">
                <a:solidFill>
                  <a:schemeClr val="bg2"/>
                </a:solidFill>
              </a:rPr>
              <a:t>Marketing</a:t>
            </a:r>
            <a:endParaRPr lang="en-US" sz="1600" dirty="0"/>
          </a:p>
        </p:txBody>
      </p:sp>
      <p:sp>
        <p:nvSpPr>
          <p:cNvPr id="17" name="Text 14"/>
          <p:cNvSpPr txBox="1"/>
          <p:nvPr/>
        </p:nvSpPr>
        <p:spPr>
          <a:xfrm>
            <a:off x="8366760" y="3246120"/>
            <a:ext cx="1828800" cy="685800"/>
          </a:xfrm>
          <a:prstGeom prst="rect">
            <a:avLst/>
          </a:prstGeom>
          <a:noFill/>
          <a:ln/>
        </p:spPr>
        <p:txBody>
          <a:bodyPr wrap="square" lIns="0" tIns="0" rIns="0" bIns="0" rtlCol="0" anchor="t"/>
          <a:lstStyle/>
          <a:p>
            <a:pPr marL="0" indent="0" algn="ctr">
              <a:buNone/>
            </a:pPr>
            <a:r>
              <a:rPr lang="en-US" sz="4000" b="1" dirty="0">
                <a:solidFill>
                  <a:schemeClr val="accent1"/>
                </a:solidFill>
                <a:latin typeface="+mj-lt" pitchFamily="34" charset="0"/>
                <a:ea typeface="+mj-lt" pitchFamily="34" charset="-122"/>
                <a:cs typeface="+mj-lt" pitchFamily="34" charset="-120"/>
              </a:rPr>
              <a:t>OS</a:t>
            </a:r>
            <a:endParaRPr lang="en-US" sz="4000" dirty="0"/>
          </a:p>
        </p:txBody>
      </p:sp>
      <p:sp>
        <p:nvSpPr>
          <p:cNvPr id="18" name="Text 15"/>
          <p:cNvSpPr txBox="1"/>
          <p:nvPr/>
        </p:nvSpPr>
        <p:spPr>
          <a:xfrm>
            <a:off x="8366760" y="3977640"/>
            <a:ext cx="1828800" cy="228600"/>
          </a:xfrm>
          <a:prstGeom prst="rect">
            <a:avLst/>
          </a:prstGeom>
          <a:noFill/>
          <a:ln/>
        </p:spPr>
        <p:txBody>
          <a:bodyPr wrap="square" lIns="0" tIns="0" rIns="0" bIns="0" rtlCol="0" anchor="t"/>
          <a:lstStyle/>
          <a:p>
            <a:pPr marL="0" indent="0" algn="ctr">
              <a:buNone/>
            </a:pPr>
            <a:r>
              <a:rPr lang="en-US" sz="1100" kern="0" spc="400" dirty="0">
                <a:solidFill>
                  <a:schemeClr val="accent4"/>
                </a:solidFill>
              </a:rPr>
              <a:t>THE LOOP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THE JOB</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tx1"/>
                </a:solidFill>
              </a:rPr>
              <a:t>Marketing has always been the same job</a:t>
            </a:r>
            <a:endParaRPr lang="en-US" sz="3200" dirty="0"/>
          </a:p>
        </p:txBody>
      </p:sp>
      <p:sp>
        <p:nvSpPr>
          <p:cNvPr id="4" name="Job card 01"/>
          <p:cNvSpPr/>
          <p:nvPr/>
        </p:nvSpPr>
        <p:spPr>
          <a:xfrm>
            <a:off x="548640" y="1691640"/>
            <a:ext cx="2514600" cy="2697480"/>
          </a:xfrm>
          <a:prstGeom prst="roundRect">
            <a:avLst>
              <a:gd name="adj" fmla="val 2909"/>
            </a:avLst>
          </a:prstGeom>
          <a:solidFill>
            <a:srgbClr val="F2EFE9"/>
          </a:solidFill>
          <a:ln/>
        </p:spPr>
      </p:sp>
      <p:sp>
        <p:nvSpPr>
          <p:cNvPr id="5" name="Text 3"/>
          <p:cNvSpPr txBox="1"/>
          <p:nvPr/>
        </p:nvSpPr>
        <p:spPr>
          <a:xfrm>
            <a:off x="777240" y="1892808"/>
            <a:ext cx="9144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01</a:t>
            </a:r>
            <a:endParaRPr lang="en-US" sz="1200" dirty="0"/>
          </a:p>
        </p:txBody>
      </p:sp>
      <p:sp>
        <p:nvSpPr>
          <p:cNvPr id="6" name="Icon disc"/>
          <p:cNvSpPr/>
          <p:nvPr/>
        </p:nvSpPr>
        <p:spPr>
          <a:xfrm>
            <a:off x="777240" y="2240280"/>
            <a:ext cx="658368" cy="658368"/>
          </a:xfrm>
          <a:prstGeom prst="ellipse">
            <a:avLst/>
          </a:prstGeom>
          <a:solidFill>
            <a:schemeClr val="accent1"/>
          </a:solidFill>
          <a:ln/>
        </p:spPr>
      </p:sp>
      <p:pic>
        <p:nvPicPr>
          <p:cNvPr id="7" name="Image 0" descr="Rocket icon"/>
          <p:cNvPicPr>
            <a:picLocks noChangeAspect="1"/>
          </p:cNvPicPr>
          <p:nvPr/>
        </p:nvPicPr>
        <p:blipFill>
          <a:blip r:embed="rId3"/>
          <a:stretch>
            <a:fillRect/>
          </a:stretch>
        </p:blipFill>
        <p:spPr>
          <a:xfrm>
            <a:off x="935248" y="2398288"/>
            <a:ext cx="342351" cy="342351"/>
          </a:xfrm>
          <a:prstGeom prst="rect">
            <a:avLst/>
          </a:prstGeom>
        </p:spPr>
      </p:pic>
      <p:sp>
        <p:nvSpPr>
          <p:cNvPr id="8" name="Text 5"/>
          <p:cNvSpPr txBox="1"/>
          <p:nvPr/>
        </p:nvSpPr>
        <p:spPr>
          <a:xfrm>
            <a:off x="777240" y="3017520"/>
            <a:ext cx="2057400" cy="68580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Deploy</a:t>
            </a:r>
            <a:endParaRPr lang="en-US" sz="2200" dirty="0"/>
          </a:p>
        </p:txBody>
      </p:sp>
      <p:sp>
        <p:nvSpPr>
          <p:cNvPr id="9" name="Text 6"/>
          <p:cNvSpPr txBox="1"/>
          <p:nvPr/>
        </p:nvSpPr>
        <p:spPr>
          <a:xfrm>
            <a:off x="777240" y="3794760"/>
            <a:ext cx="2057400" cy="502920"/>
          </a:xfrm>
          <a:prstGeom prst="rect">
            <a:avLst/>
          </a:prstGeom>
          <a:noFill/>
          <a:ln/>
        </p:spPr>
        <p:txBody>
          <a:bodyPr wrap="square" lIns="0" tIns="0" rIns="0" bIns="0" rtlCol="0" anchor="t"/>
          <a:lstStyle/>
          <a:p>
            <a:pPr marL="0" indent="0">
              <a:buNone/>
            </a:pPr>
            <a:r>
              <a:rPr lang="en-US" sz="1500" dirty="0">
                <a:solidFill>
                  <a:schemeClr val="tx2"/>
                </a:solidFill>
              </a:rPr>
              <a:t>Launch the campaign</a:t>
            </a:r>
            <a:endParaRPr lang="en-US" sz="1500" dirty="0"/>
          </a:p>
        </p:txBody>
      </p:sp>
      <p:pic>
        <p:nvPicPr>
          <p:cNvPr id="10" name="Image 1" descr="ChevronRight icon"/>
          <p:cNvPicPr>
            <a:picLocks noChangeAspect="1"/>
          </p:cNvPicPr>
          <p:nvPr/>
        </p:nvPicPr>
        <p:blipFill>
          <a:blip r:embed="rId4"/>
          <a:stretch>
            <a:fillRect/>
          </a:stretch>
        </p:blipFill>
        <p:spPr>
          <a:xfrm>
            <a:off x="3098749" y="2788920"/>
            <a:ext cx="274320" cy="274320"/>
          </a:xfrm>
          <a:prstGeom prst="rect">
            <a:avLst/>
          </a:prstGeom>
        </p:spPr>
      </p:pic>
      <p:sp>
        <p:nvSpPr>
          <p:cNvPr id="11" name="Job card 02"/>
          <p:cNvSpPr/>
          <p:nvPr/>
        </p:nvSpPr>
        <p:spPr>
          <a:xfrm>
            <a:off x="3408578" y="1691640"/>
            <a:ext cx="2514600" cy="2697480"/>
          </a:xfrm>
          <a:prstGeom prst="roundRect">
            <a:avLst>
              <a:gd name="adj" fmla="val 2909"/>
            </a:avLst>
          </a:prstGeom>
          <a:solidFill>
            <a:srgbClr val="F2EFE9"/>
          </a:solidFill>
          <a:ln/>
        </p:spPr>
      </p:sp>
      <p:sp>
        <p:nvSpPr>
          <p:cNvPr id="12" name="Text 8"/>
          <p:cNvSpPr txBox="1"/>
          <p:nvPr/>
        </p:nvSpPr>
        <p:spPr>
          <a:xfrm>
            <a:off x="3637178" y="1892808"/>
            <a:ext cx="9144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02</a:t>
            </a:r>
            <a:endParaRPr lang="en-US" sz="1200" dirty="0"/>
          </a:p>
        </p:txBody>
      </p:sp>
      <p:sp>
        <p:nvSpPr>
          <p:cNvPr id="13" name="Icon disc"/>
          <p:cNvSpPr/>
          <p:nvPr/>
        </p:nvSpPr>
        <p:spPr>
          <a:xfrm>
            <a:off x="3637178" y="2240280"/>
            <a:ext cx="658368" cy="658368"/>
          </a:xfrm>
          <a:prstGeom prst="ellipse">
            <a:avLst/>
          </a:prstGeom>
          <a:solidFill>
            <a:schemeClr val="accent1"/>
          </a:solidFill>
          <a:ln/>
        </p:spPr>
      </p:sp>
      <p:pic>
        <p:nvPicPr>
          <p:cNvPr id="14" name="Image 2" descr="Eye icon"/>
          <p:cNvPicPr>
            <a:picLocks noChangeAspect="1"/>
          </p:cNvPicPr>
          <p:nvPr/>
        </p:nvPicPr>
        <p:blipFill>
          <a:blip r:embed="rId5"/>
          <a:stretch>
            <a:fillRect/>
          </a:stretch>
        </p:blipFill>
        <p:spPr>
          <a:xfrm>
            <a:off x="3795187" y="2398288"/>
            <a:ext cx="342351" cy="342351"/>
          </a:xfrm>
          <a:prstGeom prst="rect">
            <a:avLst/>
          </a:prstGeom>
        </p:spPr>
      </p:pic>
      <p:sp>
        <p:nvSpPr>
          <p:cNvPr id="15" name="Text 10"/>
          <p:cNvSpPr txBox="1"/>
          <p:nvPr/>
        </p:nvSpPr>
        <p:spPr>
          <a:xfrm>
            <a:off x="3637178" y="3017520"/>
            <a:ext cx="2057400" cy="68580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Read the signals</a:t>
            </a:r>
            <a:endParaRPr lang="en-US" sz="2200" dirty="0"/>
          </a:p>
        </p:txBody>
      </p:sp>
      <p:sp>
        <p:nvSpPr>
          <p:cNvPr id="16" name="Text 11"/>
          <p:cNvSpPr txBox="1"/>
          <p:nvPr/>
        </p:nvSpPr>
        <p:spPr>
          <a:xfrm>
            <a:off x="3637178" y="3794760"/>
            <a:ext cx="2057400" cy="502920"/>
          </a:xfrm>
          <a:prstGeom prst="rect">
            <a:avLst/>
          </a:prstGeom>
          <a:noFill/>
          <a:ln/>
        </p:spPr>
        <p:txBody>
          <a:bodyPr wrap="square" lIns="0" tIns="0" rIns="0" bIns="0" rtlCol="0" anchor="t"/>
          <a:lstStyle/>
          <a:p>
            <a:pPr marL="0" indent="0">
              <a:buNone/>
            </a:pPr>
            <a:r>
              <a:rPr lang="en-US" sz="1500" dirty="0">
                <a:solidFill>
                  <a:schemeClr val="tx2"/>
                </a:solidFill>
              </a:rPr>
              <a:t>Check early how it is doing</a:t>
            </a:r>
            <a:endParaRPr lang="en-US" sz="1500" dirty="0"/>
          </a:p>
        </p:txBody>
      </p:sp>
      <p:pic>
        <p:nvPicPr>
          <p:cNvPr id="17" name="Image 3" descr="ChevronRight icon"/>
          <p:cNvPicPr>
            <a:picLocks noChangeAspect="1"/>
          </p:cNvPicPr>
          <p:nvPr/>
        </p:nvPicPr>
        <p:blipFill>
          <a:blip r:embed="rId4"/>
          <a:stretch>
            <a:fillRect/>
          </a:stretch>
        </p:blipFill>
        <p:spPr>
          <a:xfrm>
            <a:off x="5958688" y="2788920"/>
            <a:ext cx="274320" cy="274320"/>
          </a:xfrm>
          <a:prstGeom prst="rect">
            <a:avLst/>
          </a:prstGeom>
        </p:spPr>
      </p:pic>
      <p:sp>
        <p:nvSpPr>
          <p:cNvPr id="18" name="Job card 03"/>
          <p:cNvSpPr/>
          <p:nvPr/>
        </p:nvSpPr>
        <p:spPr>
          <a:xfrm>
            <a:off x="6268517" y="1691640"/>
            <a:ext cx="2514600" cy="2697480"/>
          </a:xfrm>
          <a:prstGeom prst="roundRect">
            <a:avLst>
              <a:gd name="adj" fmla="val 2909"/>
            </a:avLst>
          </a:prstGeom>
          <a:solidFill>
            <a:srgbClr val="F2EFE9"/>
          </a:solidFill>
          <a:ln/>
        </p:spPr>
      </p:sp>
      <p:sp>
        <p:nvSpPr>
          <p:cNvPr id="19" name="Text 13"/>
          <p:cNvSpPr txBox="1"/>
          <p:nvPr/>
        </p:nvSpPr>
        <p:spPr>
          <a:xfrm>
            <a:off x="6497117" y="1892808"/>
            <a:ext cx="9144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03</a:t>
            </a:r>
            <a:endParaRPr lang="en-US" sz="1200" dirty="0"/>
          </a:p>
        </p:txBody>
      </p:sp>
      <p:sp>
        <p:nvSpPr>
          <p:cNvPr id="20" name="Icon disc"/>
          <p:cNvSpPr/>
          <p:nvPr/>
        </p:nvSpPr>
        <p:spPr>
          <a:xfrm>
            <a:off x="6497117" y="2240280"/>
            <a:ext cx="658368" cy="658368"/>
          </a:xfrm>
          <a:prstGeom prst="ellipse">
            <a:avLst/>
          </a:prstGeom>
          <a:solidFill>
            <a:schemeClr val="accent1"/>
          </a:solidFill>
          <a:ln/>
        </p:spPr>
      </p:sp>
      <p:pic>
        <p:nvPicPr>
          <p:cNvPr id="21" name="Image 4" descr="RefreshCw icon"/>
          <p:cNvPicPr>
            <a:picLocks noChangeAspect="1"/>
          </p:cNvPicPr>
          <p:nvPr/>
        </p:nvPicPr>
        <p:blipFill>
          <a:blip r:embed="rId6"/>
          <a:stretch>
            <a:fillRect/>
          </a:stretch>
        </p:blipFill>
        <p:spPr>
          <a:xfrm>
            <a:off x="6655125" y="2398288"/>
            <a:ext cx="342351" cy="342351"/>
          </a:xfrm>
          <a:prstGeom prst="rect">
            <a:avLst/>
          </a:prstGeom>
        </p:spPr>
      </p:pic>
      <p:sp>
        <p:nvSpPr>
          <p:cNvPr id="22" name="Text 15"/>
          <p:cNvSpPr txBox="1"/>
          <p:nvPr/>
        </p:nvSpPr>
        <p:spPr>
          <a:xfrm>
            <a:off x="6497117" y="3017520"/>
            <a:ext cx="2057400" cy="68580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Iterate</a:t>
            </a:r>
            <a:endParaRPr lang="en-US" sz="2200" dirty="0"/>
          </a:p>
        </p:txBody>
      </p:sp>
      <p:sp>
        <p:nvSpPr>
          <p:cNvPr id="23" name="Text 16"/>
          <p:cNvSpPr txBox="1"/>
          <p:nvPr/>
        </p:nvSpPr>
        <p:spPr>
          <a:xfrm>
            <a:off x="6497117" y="3794760"/>
            <a:ext cx="2057400" cy="502920"/>
          </a:xfrm>
          <a:prstGeom prst="rect">
            <a:avLst/>
          </a:prstGeom>
          <a:noFill/>
          <a:ln/>
        </p:spPr>
        <p:txBody>
          <a:bodyPr wrap="square" lIns="0" tIns="0" rIns="0" bIns="0" rtlCol="0" anchor="t"/>
          <a:lstStyle/>
          <a:p>
            <a:pPr marL="0" indent="0">
              <a:buNone/>
            </a:pPr>
            <a:r>
              <a:rPr lang="en-US" sz="1500" dirty="0">
                <a:solidFill>
                  <a:schemeClr val="tx2"/>
                </a:solidFill>
              </a:rPr>
              <a:t>Improve what ran</a:t>
            </a:r>
            <a:endParaRPr lang="en-US" sz="1500" dirty="0"/>
          </a:p>
        </p:txBody>
      </p:sp>
      <p:pic>
        <p:nvPicPr>
          <p:cNvPr id="24" name="Image 5" descr="ChevronRight icon"/>
          <p:cNvPicPr>
            <a:picLocks noChangeAspect="1"/>
          </p:cNvPicPr>
          <p:nvPr/>
        </p:nvPicPr>
        <p:blipFill>
          <a:blip r:embed="rId4"/>
          <a:stretch>
            <a:fillRect/>
          </a:stretch>
        </p:blipFill>
        <p:spPr>
          <a:xfrm>
            <a:off x="8818626" y="2788920"/>
            <a:ext cx="274320" cy="274320"/>
          </a:xfrm>
          <a:prstGeom prst="rect">
            <a:avLst/>
          </a:prstGeom>
        </p:spPr>
      </p:pic>
      <p:sp>
        <p:nvSpPr>
          <p:cNvPr id="25" name="Job card 04"/>
          <p:cNvSpPr/>
          <p:nvPr/>
        </p:nvSpPr>
        <p:spPr>
          <a:xfrm>
            <a:off x="9128455" y="1691640"/>
            <a:ext cx="2514600" cy="2697480"/>
          </a:xfrm>
          <a:prstGeom prst="roundRect">
            <a:avLst>
              <a:gd name="adj" fmla="val 2909"/>
            </a:avLst>
          </a:prstGeom>
          <a:solidFill>
            <a:srgbClr val="F2EFE9"/>
          </a:solidFill>
          <a:ln/>
        </p:spPr>
      </p:sp>
      <p:sp>
        <p:nvSpPr>
          <p:cNvPr id="26" name="Text 18"/>
          <p:cNvSpPr txBox="1"/>
          <p:nvPr/>
        </p:nvSpPr>
        <p:spPr>
          <a:xfrm>
            <a:off x="9357055" y="1892808"/>
            <a:ext cx="9144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04</a:t>
            </a:r>
            <a:endParaRPr lang="en-US" sz="1200" dirty="0"/>
          </a:p>
        </p:txBody>
      </p:sp>
      <p:sp>
        <p:nvSpPr>
          <p:cNvPr id="27" name="Icon disc"/>
          <p:cNvSpPr/>
          <p:nvPr/>
        </p:nvSpPr>
        <p:spPr>
          <a:xfrm>
            <a:off x="9357055" y="2240280"/>
            <a:ext cx="658368" cy="658368"/>
          </a:xfrm>
          <a:prstGeom prst="ellipse">
            <a:avLst/>
          </a:prstGeom>
          <a:solidFill>
            <a:schemeClr val="accent1"/>
          </a:solidFill>
          <a:ln/>
        </p:spPr>
      </p:sp>
      <p:pic>
        <p:nvPicPr>
          <p:cNvPr id="28" name="Image 6" descr="ShoppingCart icon"/>
          <p:cNvPicPr>
            <a:picLocks noChangeAspect="1"/>
          </p:cNvPicPr>
          <p:nvPr/>
        </p:nvPicPr>
        <p:blipFill>
          <a:blip r:embed="rId7"/>
          <a:stretch>
            <a:fillRect/>
          </a:stretch>
        </p:blipFill>
        <p:spPr>
          <a:xfrm>
            <a:off x="9515064" y="2398288"/>
            <a:ext cx="342351" cy="342351"/>
          </a:xfrm>
          <a:prstGeom prst="rect">
            <a:avLst/>
          </a:prstGeom>
        </p:spPr>
      </p:pic>
      <p:sp>
        <p:nvSpPr>
          <p:cNvPr id="29" name="Text 20"/>
          <p:cNvSpPr txBox="1"/>
          <p:nvPr/>
        </p:nvSpPr>
        <p:spPr>
          <a:xfrm>
            <a:off x="9357055" y="3017520"/>
            <a:ext cx="2057400" cy="68580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Steer the purchase</a:t>
            </a:r>
            <a:endParaRPr lang="en-US" sz="2200" dirty="0"/>
          </a:p>
        </p:txBody>
      </p:sp>
      <p:sp>
        <p:nvSpPr>
          <p:cNvPr id="30" name="Text 21"/>
          <p:cNvSpPr txBox="1"/>
          <p:nvPr/>
        </p:nvSpPr>
        <p:spPr>
          <a:xfrm>
            <a:off x="9357055" y="3794760"/>
            <a:ext cx="2057400" cy="502920"/>
          </a:xfrm>
          <a:prstGeom prst="rect">
            <a:avLst/>
          </a:prstGeom>
          <a:noFill/>
          <a:ln/>
        </p:spPr>
        <p:txBody>
          <a:bodyPr wrap="square" lIns="0" tIns="0" rIns="0" bIns="0" rtlCol="0" anchor="t"/>
          <a:lstStyle/>
          <a:p>
            <a:pPr marL="0" indent="0">
              <a:buNone/>
            </a:pPr>
            <a:r>
              <a:rPr lang="en-US" sz="1500" dirty="0">
                <a:solidFill>
                  <a:schemeClr val="tx2"/>
                </a:solidFill>
              </a:rPr>
              <a:t>Guide the buyer towards buying</a:t>
            </a:r>
            <a:endParaRPr lang="en-US" sz="1500" dirty="0"/>
          </a:p>
        </p:txBody>
      </p:sp>
      <p:sp>
        <p:nvSpPr>
          <p:cNvPr id="31" name="Signal definition"/>
          <p:cNvSpPr/>
          <p:nvPr/>
        </p:nvSpPr>
        <p:spPr>
          <a:xfrm>
            <a:off x="548640" y="4663440"/>
            <a:ext cx="6949440" cy="1463040"/>
          </a:xfrm>
          <a:prstGeom prst="roundRect">
            <a:avLst>
              <a:gd name="adj" fmla="val 5000"/>
            </a:avLst>
          </a:prstGeom>
          <a:solidFill>
            <a:srgbClr val="F2EFE9"/>
          </a:solidFill>
          <a:ln/>
        </p:spPr>
      </p:sp>
      <p:sp>
        <p:nvSpPr>
          <p:cNvPr id="32" name="Text 23"/>
          <p:cNvSpPr txBox="1"/>
          <p:nvPr/>
        </p:nvSpPr>
        <p:spPr>
          <a:xfrm>
            <a:off x="822960" y="4828032"/>
            <a:ext cx="45720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WHAT IS A SIGNAL?</a:t>
            </a:r>
            <a:endParaRPr lang="en-US" sz="1200" dirty="0"/>
          </a:p>
        </p:txBody>
      </p:sp>
      <p:sp>
        <p:nvSpPr>
          <p:cNvPr id="33" name="Text 24"/>
          <p:cNvSpPr txBox="1"/>
          <p:nvPr/>
        </p:nvSpPr>
        <p:spPr>
          <a:xfrm>
            <a:off x="822960" y="5138928"/>
            <a:ext cx="6400800" cy="868680"/>
          </a:xfrm>
          <a:prstGeom prst="rect">
            <a:avLst/>
          </a:prstGeom>
          <a:noFill/>
          <a:ln/>
        </p:spPr>
        <p:txBody>
          <a:bodyPr wrap="square" lIns="0" tIns="0" rIns="0" bIns="0" rtlCol="0" anchor="t"/>
          <a:lstStyle/>
          <a:p>
            <a:pPr marL="0" indent="0">
              <a:buNone/>
            </a:pPr>
            <a:r>
              <a:rPr lang="en-US" sz="2000" dirty="0">
                <a:solidFill>
                  <a:schemeClr val="tx1"/>
                </a:solidFill>
              </a:rPr>
              <a:t>Any sign of how your marketing is doing: a click, a sale, a review, a store visit.</a:t>
            </a:r>
            <a:endParaRPr lang="en-US" sz="2000" dirty="0"/>
          </a:p>
        </p:txBody>
      </p:sp>
      <p:sp>
        <p:nvSpPr>
          <p:cNvPr id="34" name="Volume callout"/>
          <p:cNvSpPr/>
          <p:nvPr/>
        </p:nvSpPr>
        <p:spPr>
          <a:xfrm>
            <a:off x="7680960" y="4663440"/>
            <a:ext cx="3962095" cy="1463040"/>
          </a:xfrm>
          <a:prstGeom prst="roundRect">
            <a:avLst>
              <a:gd name="adj" fmla="val 5000"/>
            </a:avLst>
          </a:prstGeom>
          <a:solidFill>
            <a:srgbClr val="E8590C"/>
          </a:solidFill>
          <a:ln/>
        </p:spPr>
      </p:sp>
      <p:sp>
        <p:nvSpPr>
          <p:cNvPr id="35" name="Text 26"/>
          <p:cNvSpPr txBox="1"/>
          <p:nvPr/>
        </p:nvSpPr>
        <p:spPr>
          <a:xfrm>
            <a:off x="8001000" y="4828032"/>
            <a:ext cx="3474720" cy="457200"/>
          </a:xfrm>
          <a:prstGeom prst="rect">
            <a:avLst/>
          </a:prstGeom>
          <a:noFill/>
          <a:ln/>
        </p:spPr>
        <p:txBody>
          <a:bodyPr wrap="square" lIns="0" tIns="0" rIns="0" bIns="0" rtlCol="0" anchor="t"/>
          <a:lstStyle/>
          <a:p>
            <a:pPr marL="0" indent="0">
              <a:buNone/>
            </a:pPr>
            <a:r>
              <a:rPr lang="en-US" sz="2800" dirty="0">
                <a:solidFill>
                  <a:schemeClr val="bg1"/>
                </a:solidFill>
                <a:latin typeface="+mj-lt" pitchFamily="34" charset="0"/>
                <a:ea typeface="+mj-lt" pitchFamily="34" charset="-122"/>
                <a:cs typeface="+mj-lt" pitchFamily="34" charset="-120"/>
              </a:rPr>
              <a:t>Same job.</a:t>
            </a:r>
            <a:endParaRPr lang="en-US" sz="2800" dirty="0"/>
          </a:p>
        </p:txBody>
      </p:sp>
      <p:sp>
        <p:nvSpPr>
          <p:cNvPr id="36" name="Text 27"/>
          <p:cNvSpPr txBox="1"/>
          <p:nvPr/>
        </p:nvSpPr>
        <p:spPr>
          <a:xfrm>
            <a:off x="8001000" y="5349240"/>
            <a:ext cx="3383280" cy="685800"/>
          </a:xfrm>
          <a:prstGeom prst="rect">
            <a:avLst/>
          </a:prstGeom>
          <a:noFill/>
          <a:ln/>
        </p:spPr>
        <p:txBody>
          <a:bodyPr wrap="square" lIns="0" tIns="0" rIns="0" bIns="0" rtlCol="0" anchor="t"/>
          <a:lstStyle/>
          <a:p>
            <a:pPr marL="0" indent="0">
              <a:buNone/>
            </a:pPr>
            <a:r>
              <a:rPr lang="en-US" sz="1800" dirty="0">
                <a:solidFill>
                  <a:schemeClr val="bg1"/>
                </a:solidFill>
              </a:rPr>
              <a:t>The difference now is the volume.</a:t>
            </a:r>
            <a:endParaRPr lang="en-US" sz="1800" dirty="0"/>
          </a:p>
        </p:txBody>
      </p:sp>
      <p:sp>
        <p:nvSpPr>
          <p:cNvPr id="37"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WHAT CHANGED</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tx1"/>
                </a:solidFill>
              </a:rPr>
              <a:t>AI made output infinite. So the things to watch multiplied too</a:t>
            </a:r>
            <a:endParaRPr lang="en-US" sz="3200" dirty="0"/>
          </a:p>
        </p:txBody>
      </p:sp>
      <p:sp>
        <p:nvSpPr>
          <p:cNvPr id="4" name="Output card"/>
          <p:cNvSpPr/>
          <p:nvPr/>
        </p:nvSpPr>
        <p:spPr>
          <a:xfrm>
            <a:off x="548640" y="2103120"/>
            <a:ext cx="4114800" cy="2971800"/>
          </a:xfrm>
          <a:prstGeom prst="roundRect">
            <a:avLst>
              <a:gd name="adj" fmla="val 2462"/>
            </a:avLst>
          </a:prstGeom>
          <a:solidFill>
            <a:srgbClr val="F2EFE9"/>
          </a:solidFill>
          <a:ln/>
        </p:spPr>
      </p:sp>
      <p:sp>
        <p:nvSpPr>
          <p:cNvPr id="5" name="Text 3"/>
          <p:cNvSpPr txBox="1"/>
          <p:nvPr/>
        </p:nvSpPr>
        <p:spPr>
          <a:xfrm>
            <a:off x="822960" y="2286000"/>
            <a:ext cx="356616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WHAT AI CAN NOW MAKE</a:t>
            </a:r>
            <a:endParaRPr lang="en-US" sz="1200" dirty="0"/>
          </a:p>
        </p:txBody>
      </p:sp>
      <p:sp>
        <p:nvSpPr>
          <p:cNvPr id="6" name="Output row Creative"/>
          <p:cNvSpPr/>
          <p:nvPr/>
        </p:nvSpPr>
        <p:spPr>
          <a:xfrm>
            <a:off x="822960" y="2651760"/>
            <a:ext cx="3566160" cy="438912"/>
          </a:xfrm>
          <a:prstGeom prst="roundRect">
            <a:avLst>
              <a:gd name="adj" fmla="val 16667"/>
            </a:avLst>
          </a:prstGeom>
          <a:solidFill>
            <a:srgbClr val="FFFFFF"/>
          </a:solidFill>
          <a:ln w="12700">
            <a:solidFill>
              <a:srgbClr val="DDD8CF"/>
            </a:solidFill>
            <a:prstDash val="solid"/>
          </a:ln>
        </p:spPr>
      </p:sp>
      <p:sp>
        <p:nvSpPr>
          <p:cNvPr id="7" name="Text 5"/>
          <p:cNvSpPr txBox="1"/>
          <p:nvPr/>
        </p:nvSpPr>
        <p:spPr>
          <a:xfrm>
            <a:off x="1005840" y="2651760"/>
            <a:ext cx="3200400" cy="438912"/>
          </a:xfrm>
          <a:prstGeom prst="rect">
            <a:avLst/>
          </a:prstGeom>
          <a:noFill/>
          <a:ln/>
        </p:spPr>
        <p:txBody>
          <a:bodyPr wrap="square" lIns="0" tIns="0" rIns="0" bIns="0" rtlCol="0" anchor="ctr"/>
          <a:lstStyle/>
          <a:p>
            <a:pPr marL="0" indent="0">
              <a:buNone/>
            </a:pPr>
            <a:r>
              <a:rPr lang="en-US" sz="1600" b="1" dirty="0">
                <a:solidFill>
                  <a:schemeClr val="tx1"/>
                </a:solidFill>
              </a:rPr>
              <a:t>Creative</a:t>
            </a:r>
            <a:endParaRPr lang="en-US" sz="1600" dirty="0"/>
          </a:p>
        </p:txBody>
      </p:sp>
      <p:sp>
        <p:nvSpPr>
          <p:cNvPr id="8" name="Output row Campaigns"/>
          <p:cNvSpPr/>
          <p:nvPr/>
        </p:nvSpPr>
        <p:spPr>
          <a:xfrm>
            <a:off x="822960" y="3182112"/>
            <a:ext cx="3566160" cy="438912"/>
          </a:xfrm>
          <a:prstGeom prst="roundRect">
            <a:avLst>
              <a:gd name="adj" fmla="val 16667"/>
            </a:avLst>
          </a:prstGeom>
          <a:solidFill>
            <a:srgbClr val="FFFFFF"/>
          </a:solidFill>
          <a:ln w="12700">
            <a:solidFill>
              <a:srgbClr val="DDD8CF"/>
            </a:solidFill>
            <a:prstDash val="solid"/>
          </a:ln>
        </p:spPr>
      </p:sp>
      <p:sp>
        <p:nvSpPr>
          <p:cNvPr id="9" name="Text 7"/>
          <p:cNvSpPr txBox="1"/>
          <p:nvPr/>
        </p:nvSpPr>
        <p:spPr>
          <a:xfrm>
            <a:off x="1005840" y="3182112"/>
            <a:ext cx="3200400" cy="438912"/>
          </a:xfrm>
          <a:prstGeom prst="rect">
            <a:avLst/>
          </a:prstGeom>
          <a:noFill/>
          <a:ln/>
        </p:spPr>
        <p:txBody>
          <a:bodyPr wrap="square" lIns="0" tIns="0" rIns="0" bIns="0" rtlCol="0" anchor="ctr"/>
          <a:lstStyle/>
          <a:p>
            <a:pPr marL="0" indent="0">
              <a:buNone/>
            </a:pPr>
            <a:r>
              <a:rPr lang="en-US" sz="1600" b="1" dirty="0">
                <a:solidFill>
                  <a:schemeClr val="tx1"/>
                </a:solidFill>
              </a:rPr>
              <a:t>Campaigns</a:t>
            </a:r>
            <a:endParaRPr lang="en-US" sz="1600" dirty="0"/>
          </a:p>
        </p:txBody>
      </p:sp>
      <p:sp>
        <p:nvSpPr>
          <p:cNvPr id="10" name="Output row Platforms"/>
          <p:cNvSpPr/>
          <p:nvPr/>
        </p:nvSpPr>
        <p:spPr>
          <a:xfrm>
            <a:off x="822960" y="3712464"/>
            <a:ext cx="3566160" cy="438912"/>
          </a:xfrm>
          <a:prstGeom prst="roundRect">
            <a:avLst>
              <a:gd name="adj" fmla="val 16667"/>
            </a:avLst>
          </a:prstGeom>
          <a:solidFill>
            <a:srgbClr val="FFFFFF"/>
          </a:solidFill>
          <a:ln w="12700">
            <a:solidFill>
              <a:srgbClr val="DDD8CF"/>
            </a:solidFill>
            <a:prstDash val="solid"/>
          </a:ln>
        </p:spPr>
      </p:sp>
      <p:sp>
        <p:nvSpPr>
          <p:cNvPr id="11" name="Text 9"/>
          <p:cNvSpPr txBox="1"/>
          <p:nvPr/>
        </p:nvSpPr>
        <p:spPr>
          <a:xfrm>
            <a:off x="1005840" y="3712464"/>
            <a:ext cx="3200400" cy="438912"/>
          </a:xfrm>
          <a:prstGeom prst="rect">
            <a:avLst/>
          </a:prstGeom>
          <a:noFill/>
          <a:ln/>
        </p:spPr>
        <p:txBody>
          <a:bodyPr wrap="square" lIns="0" tIns="0" rIns="0" bIns="0" rtlCol="0" anchor="ctr"/>
          <a:lstStyle/>
          <a:p>
            <a:pPr marL="0" indent="0">
              <a:buNone/>
            </a:pPr>
            <a:r>
              <a:rPr lang="en-US" sz="1600" b="1" dirty="0">
                <a:solidFill>
                  <a:schemeClr val="tx1"/>
                </a:solidFill>
              </a:rPr>
              <a:t>Platforms</a:t>
            </a:r>
            <a:endParaRPr lang="en-US" sz="1600" dirty="0"/>
          </a:p>
        </p:txBody>
      </p:sp>
      <p:pic>
        <p:nvPicPr>
          <p:cNvPr id="12" name="Image 0" descr="Infinity icon"/>
          <p:cNvPicPr>
            <a:picLocks noChangeAspect="1"/>
          </p:cNvPicPr>
          <p:nvPr/>
        </p:nvPicPr>
        <p:blipFill>
          <a:blip r:embed="rId3"/>
          <a:stretch>
            <a:fillRect/>
          </a:stretch>
        </p:blipFill>
        <p:spPr>
          <a:xfrm>
            <a:off x="822960" y="4343400"/>
            <a:ext cx="457200" cy="457200"/>
          </a:xfrm>
          <a:prstGeom prst="rect">
            <a:avLst/>
          </a:prstGeom>
        </p:spPr>
      </p:pic>
      <p:sp>
        <p:nvSpPr>
          <p:cNvPr id="13" name="Text 10"/>
          <p:cNvSpPr txBox="1"/>
          <p:nvPr/>
        </p:nvSpPr>
        <p:spPr>
          <a:xfrm>
            <a:off x="1417320" y="4343400"/>
            <a:ext cx="2926080" cy="457200"/>
          </a:xfrm>
          <a:prstGeom prst="rect">
            <a:avLst/>
          </a:prstGeom>
          <a:noFill/>
          <a:ln/>
        </p:spPr>
        <p:txBody>
          <a:bodyPr wrap="square" lIns="0" tIns="0" rIns="0" bIns="0" rtlCol="0" anchor="ctr"/>
          <a:lstStyle/>
          <a:p>
            <a:pPr marL="0" indent="0">
              <a:buNone/>
            </a:pPr>
            <a:r>
              <a:rPr lang="en-US" sz="1500" dirty="0">
                <a:solidFill>
                  <a:schemeClr val="tx2"/>
                </a:solidFill>
              </a:rPr>
              <a:t>Generate anything, endlessly.</a:t>
            </a:r>
            <a:endParaRPr lang="en-US" sz="1500" dirty="0"/>
          </a:p>
        </p:txBody>
      </p:sp>
      <p:pic>
        <p:nvPicPr>
          <p:cNvPr id="14" name="Image 1" descr="Arrow to the right"/>
          <p:cNvPicPr>
            <a:picLocks noChangeAspect="1"/>
          </p:cNvPicPr>
          <p:nvPr/>
        </p:nvPicPr>
        <p:blipFill>
          <a:blip r:embed="rId4"/>
          <a:stretch>
            <a:fillRect/>
          </a:stretch>
        </p:blipFill>
        <p:spPr>
          <a:xfrm>
            <a:off x="4846320" y="3429000"/>
            <a:ext cx="457200" cy="457200"/>
          </a:xfrm>
          <a:prstGeom prst="rect">
            <a:avLst/>
          </a:prstGeom>
        </p:spPr>
      </p:pic>
      <p:sp>
        <p:nvSpPr>
          <p:cNvPr id="15" name="Signals card"/>
          <p:cNvSpPr/>
          <p:nvPr/>
        </p:nvSpPr>
        <p:spPr>
          <a:xfrm>
            <a:off x="5623560" y="2103120"/>
            <a:ext cx="6019495" cy="2971800"/>
          </a:xfrm>
          <a:prstGeom prst="roundRect">
            <a:avLst>
              <a:gd name="adj" fmla="val 2462"/>
            </a:avLst>
          </a:prstGeom>
          <a:solidFill>
            <a:srgbClr val="FFFFFF"/>
          </a:solidFill>
          <a:ln w="12700">
            <a:solidFill>
              <a:srgbClr val="DDD8CF"/>
            </a:solidFill>
            <a:prstDash val="solid"/>
          </a:ln>
        </p:spPr>
      </p:sp>
      <p:sp>
        <p:nvSpPr>
          <p:cNvPr id="16" name="Text 12"/>
          <p:cNvSpPr txBox="1"/>
          <p:nvPr/>
        </p:nvSpPr>
        <p:spPr>
          <a:xfrm>
            <a:off x="5897880" y="2286000"/>
            <a:ext cx="45720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WHAT YOU NOW HAVE TO WATCH</a:t>
            </a:r>
            <a:endParaRPr lang="en-US" sz="1200" dirty="0"/>
          </a:p>
        </p:txBody>
      </p:sp>
      <p:sp>
        <p:nvSpPr>
          <p:cNvPr id="17" name="Text 13"/>
          <p:cNvSpPr txBox="1"/>
          <p:nvPr/>
        </p:nvSpPr>
        <p:spPr>
          <a:xfrm>
            <a:off x="5897880" y="2697480"/>
            <a:ext cx="1828800" cy="228600"/>
          </a:xfrm>
          <a:prstGeom prst="rect">
            <a:avLst/>
          </a:prstGeom>
          <a:noFill/>
          <a:ln/>
        </p:spPr>
        <p:txBody>
          <a:bodyPr wrap="square" lIns="0" tIns="0" rIns="0" bIns="0" rtlCol="0" anchor="t"/>
          <a:lstStyle/>
          <a:p>
            <a:pPr marL="0" indent="0">
              <a:buNone/>
            </a:pPr>
            <a:r>
              <a:rPr lang="en-US" sz="1100" b="1" kern="0" spc="200" dirty="0">
                <a:solidFill>
                  <a:schemeClr val="accent4"/>
                </a:solidFill>
              </a:rPr>
              <a:t>BEFORE: ONE AD</a:t>
            </a:r>
            <a:endParaRPr lang="en-US" sz="1100" dirty="0"/>
          </a:p>
        </p:txBody>
      </p:sp>
      <p:sp>
        <p:nvSpPr>
          <p:cNvPr id="18" name="Ad card"/>
          <p:cNvSpPr/>
          <p:nvPr/>
        </p:nvSpPr>
        <p:spPr>
          <a:xfrm>
            <a:off x="5897880" y="3017520"/>
            <a:ext cx="1234440" cy="1463040"/>
          </a:xfrm>
          <a:prstGeom prst="roundRect">
            <a:avLst>
              <a:gd name="adj" fmla="val 4444"/>
            </a:avLst>
          </a:prstGeom>
          <a:solidFill>
            <a:srgbClr val="F2EFE9"/>
          </a:solidFill>
          <a:ln/>
        </p:spPr>
      </p:sp>
      <p:sp>
        <p:nvSpPr>
          <p:cNvPr id="19" name="Ad picture"/>
          <p:cNvSpPr/>
          <p:nvPr/>
        </p:nvSpPr>
        <p:spPr>
          <a:xfrm>
            <a:off x="5971032" y="3090672"/>
            <a:ext cx="1088136" cy="672998"/>
          </a:xfrm>
          <a:prstGeom prst="roundRect">
            <a:avLst>
              <a:gd name="adj" fmla="val 5435"/>
            </a:avLst>
          </a:prstGeom>
          <a:solidFill>
            <a:srgbClr val="FDE8DC"/>
          </a:solidFill>
          <a:ln/>
        </p:spPr>
      </p:sp>
      <p:pic>
        <p:nvPicPr>
          <p:cNvPr id="20" name="Image 2" descr="Ad picture"/>
          <p:cNvPicPr>
            <a:picLocks noChangeAspect="1"/>
          </p:cNvPicPr>
          <p:nvPr/>
        </p:nvPicPr>
        <p:blipFill>
          <a:blip r:embed="rId5"/>
          <a:stretch>
            <a:fillRect/>
          </a:stretch>
        </p:blipFill>
        <p:spPr>
          <a:xfrm>
            <a:off x="6387084" y="3299155"/>
            <a:ext cx="256032" cy="256032"/>
          </a:xfrm>
          <a:prstGeom prst="rect">
            <a:avLst/>
          </a:prstGeom>
        </p:spPr>
      </p:pic>
      <p:pic>
        <p:nvPicPr>
          <p:cNvPr id="21" name="Image 3" descr="Signal"/>
          <p:cNvPicPr>
            <a:picLocks noChangeAspect="1"/>
          </p:cNvPicPr>
          <p:nvPr/>
        </p:nvPicPr>
        <p:blipFill>
          <a:blip r:embed="rId6"/>
          <a:stretch>
            <a:fillRect/>
          </a:stretch>
        </p:blipFill>
        <p:spPr>
          <a:xfrm>
            <a:off x="5971032" y="3873398"/>
            <a:ext cx="164592" cy="164592"/>
          </a:xfrm>
          <a:prstGeom prst="rect">
            <a:avLst/>
          </a:prstGeom>
        </p:spPr>
      </p:pic>
      <p:pic>
        <p:nvPicPr>
          <p:cNvPr id="22" name="Image 4" descr="Signal"/>
          <p:cNvPicPr>
            <a:picLocks noChangeAspect="1"/>
          </p:cNvPicPr>
          <p:nvPr/>
        </p:nvPicPr>
        <p:blipFill>
          <a:blip r:embed="rId7"/>
          <a:stretch>
            <a:fillRect/>
          </a:stretch>
        </p:blipFill>
        <p:spPr>
          <a:xfrm>
            <a:off x="6432804" y="3873398"/>
            <a:ext cx="164592" cy="164592"/>
          </a:xfrm>
          <a:prstGeom prst="rect">
            <a:avLst/>
          </a:prstGeom>
        </p:spPr>
      </p:pic>
      <p:pic>
        <p:nvPicPr>
          <p:cNvPr id="23" name="Image 5" descr="Signal"/>
          <p:cNvPicPr>
            <a:picLocks noChangeAspect="1"/>
          </p:cNvPicPr>
          <p:nvPr/>
        </p:nvPicPr>
        <p:blipFill>
          <a:blip r:embed="rId8"/>
          <a:stretch>
            <a:fillRect/>
          </a:stretch>
        </p:blipFill>
        <p:spPr>
          <a:xfrm>
            <a:off x="6894576" y="3873398"/>
            <a:ext cx="164592" cy="164592"/>
          </a:xfrm>
          <a:prstGeom prst="rect">
            <a:avLst/>
          </a:prstGeom>
        </p:spPr>
      </p:pic>
      <p:pic>
        <p:nvPicPr>
          <p:cNvPr id="24" name="Image 6" descr="Arrow"/>
          <p:cNvPicPr>
            <a:picLocks noChangeAspect="1"/>
          </p:cNvPicPr>
          <p:nvPr/>
        </p:nvPicPr>
        <p:blipFill>
          <a:blip r:embed="rId4"/>
          <a:stretch>
            <a:fillRect/>
          </a:stretch>
        </p:blipFill>
        <p:spPr>
          <a:xfrm>
            <a:off x="7315200" y="3611880"/>
            <a:ext cx="274320" cy="274320"/>
          </a:xfrm>
          <a:prstGeom prst="rect">
            <a:avLst/>
          </a:prstGeom>
        </p:spPr>
      </p:pic>
      <p:sp>
        <p:nvSpPr>
          <p:cNvPr id="25" name="Text 16"/>
          <p:cNvSpPr txBox="1"/>
          <p:nvPr/>
        </p:nvSpPr>
        <p:spPr>
          <a:xfrm>
            <a:off x="7818120" y="2697480"/>
            <a:ext cx="3291840" cy="228600"/>
          </a:xfrm>
          <a:prstGeom prst="rect">
            <a:avLst/>
          </a:prstGeom>
          <a:noFill/>
          <a:ln/>
        </p:spPr>
        <p:txBody>
          <a:bodyPr wrap="square" lIns="0" tIns="0" rIns="0" bIns="0" rtlCol="0" anchor="t"/>
          <a:lstStyle/>
          <a:p>
            <a:pPr marL="0" indent="0">
              <a:buNone/>
            </a:pPr>
            <a:r>
              <a:rPr lang="en-US" sz="1100" b="1" kern="0" spc="200" dirty="0">
                <a:solidFill>
                  <a:schemeClr val="accent4"/>
                </a:solidFill>
              </a:rPr>
              <a:t>NOW: ENDLESS VERSIONS</a:t>
            </a:r>
            <a:endParaRPr lang="en-US" sz="1100" dirty="0"/>
          </a:p>
        </p:txBody>
      </p:sp>
      <p:sp>
        <p:nvSpPr>
          <p:cNvPr id="26" name="Ad card"/>
          <p:cNvSpPr/>
          <p:nvPr/>
        </p:nvSpPr>
        <p:spPr>
          <a:xfrm>
            <a:off x="7818120" y="3017520"/>
            <a:ext cx="777240" cy="731520"/>
          </a:xfrm>
          <a:prstGeom prst="roundRect">
            <a:avLst>
              <a:gd name="adj" fmla="val 7500"/>
            </a:avLst>
          </a:prstGeom>
          <a:solidFill>
            <a:srgbClr val="F2EFE9"/>
          </a:solidFill>
          <a:ln/>
        </p:spPr>
      </p:sp>
      <p:sp>
        <p:nvSpPr>
          <p:cNvPr id="27" name="Ad picture"/>
          <p:cNvSpPr/>
          <p:nvPr/>
        </p:nvSpPr>
        <p:spPr>
          <a:xfrm>
            <a:off x="7891272" y="3090672"/>
            <a:ext cx="630936" cy="336499"/>
          </a:xfrm>
          <a:prstGeom prst="roundRect">
            <a:avLst>
              <a:gd name="adj" fmla="val 10870"/>
            </a:avLst>
          </a:prstGeom>
          <a:solidFill>
            <a:srgbClr val="FDE8DC"/>
          </a:solidFill>
          <a:ln/>
        </p:spPr>
      </p:sp>
      <p:pic>
        <p:nvPicPr>
          <p:cNvPr id="28" name="Image 7" descr="Ad picture"/>
          <p:cNvPicPr>
            <a:picLocks noChangeAspect="1"/>
          </p:cNvPicPr>
          <p:nvPr/>
        </p:nvPicPr>
        <p:blipFill>
          <a:blip r:embed="rId5"/>
          <a:stretch>
            <a:fillRect/>
          </a:stretch>
        </p:blipFill>
        <p:spPr>
          <a:xfrm>
            <a:off x="8078724" y="3130906"/>
            <a:ext cx="256032" cy="256032"/>
          </a:xfrm>
          <a:prstGeom prst="rect">
            <a:avLst/>
          </a:prstGeom>
        </p:spPr>
      </p:pic>
      <p:pic>
        <p:nvPicPr>
          <p:cNvPr id="29" name="Image 8" descr="Signal"/>
          <p:cNvPicPr>
            <a:picLocks noChangeAspect="1"/>
          </p:cNvPicPr>
          <p:nvPr/>
        </p:nvPicPr>
        <p:blipFill>
          <a:blip r:embed="rId6"/>
          <a:stretch>
            <a:fillRect/>
          </a:stretch>
        </p:blipFill>
        <p:spPr>
          <a:xfrm>
            <a:off x="7891272" y="3536899"/>
            <a:ext cx="164592" cy="164592"/>
          </a:xfrm>
          <a:prstGeom prst="rect">
            <a:avLst/>
          </a:prstGeom>
        </p:spPr>
      </p:pic>
      <p:pic>
        <p:nvPicPr>
          <p:cNvPr id="30" name="Image 9" descr="Signal"/>
          <p:cNvPicPr>
            <a:picLocks noChangeAspect="1"/>
          </p:cNvPicPr>
          <p:nvPr/>
        </p:nvPicPr>
        <p:blipFill>
          <a:blip r:embed="rId7"/>
          <a:stretch>
            <a:fillRect/>
          </a:stretch>
        </p:blipFill>
        <p:spPr>
          <a:xfrm>
            <a:off x="8124444" y="3536899"/>
            <a:ext cx="164592" cy="164592"/>
          </a:xfrm>
          <a:prstGeom prst="rect">
            <a:avLst/>
          </a:prstGeom>
        </p:spPr>
      </p:pic>
      <p:pic>
        <p:nvPicPr>
          <p:cNvPr id="31" name="Image 10" descr="Signal"/>
          <p:cNvPicPr>
            <a:picLocks noChangeAspect="1"/>
          </p:cNvPicPr>
          <p:nvPr/>
        </p:nvPicPr>
        <p:blipFill>
          <a:blip r:embed="rId8"/>
          <a:stretch>
            <a:fillRect/>
          </a:stretch>
        </p:blipFill>
        <p:spPr>
          <a:xfrm>
            <a:off x="8357616" y="3536899"/>
            <a:ext cx="164592" cy="164592"/>
          </a:xfrm>
          <a:prstGeom prst="rect">
            <a:avLst/>
          </a:prstGeom>
        </p:spPr>
      </p:pic>
      <p:sp>
        <p:nvSpPr>
          <p:cNvPr id="32" name="Ad card"/>
          <p:cNvSpPr/>
          <p:nvPr/>
        </p:nvSpPr>
        <p:spPr>
          <a:xfrm>
            <a:off x="8732520" y="3017520"/>
            <a:ext cx="777240" cy="731520"/>
          </a:xfrm>
          <a:prstGeom prst="roundRect">
            <a:avLst>
              <a:gd name="adj" fmla="val 7500"/>
            </a:avLst>
          </a:prstGeom>
          <a:solidFill>
            <a:srgbClr val="F2EFE9"/>
          </a:solidFill>
          <a:ln/>
        </p:spPr>
      </p:sp>
      <p:sp>
        <p:nvSpPr>
          <p:cNvPr id="33" name="Ad picture"/>
          <p:cNvSpPr/>
          <p:nvPr/>
        </p:nvSpPr>
        <p:spPr>
          <a:xfrm>
            <a:off x="8805672" y="3090672"/>
            <a:ext cx="630936" cy="336499"/>
          </a:xfrm>
          <a:prstGeom prst="roundRect">
            <a:avLst>
              <a:gd name="adj" fmla="val 10870"/>
            </a:avLst>
          </a:prstGeom>
          <a:solidFill>
            <a:srgbClr val="FDE8DC"/>
          </a:solidFill>
          <a:ln/>
        </p:spPr>
      </p:sp>
      <p:pic>
        <p:nvPicPr>
          <p:cNvPr id="34" name="Image 11" descr="Ad picture"/>
          <p:cNvPicPr>
            <a:picLocks noChangeAspect="1"/>
          </p:cNvPicPr>
          <p:nvPr/>
        </p:nvPicPr>
        <p:blipFill>
          <a:blip r:embed="rId5"/>
          <a:stretch>
            <a:fillRect/>
          </a:stretch>
        </p:blipFill>
        <p:spPr>
          <a:xfrm>
            <a:off x="8993124" y="3130906"/>
            <a:ext cx="256032" cy="256032"/>
          </a:xfrm>
          <a:prstGeom prst="rect">
            <a:avLst/>
          </a:prstGeom>
        </p:spPr>
      </p:pic>
      <p:pic>
        <p:nvPicPr>
          <p:cNvPr id="35" name="Image 12" descr="Signal"/>
          <p:cNvPicPr>
            <a:picLocks noChangeAspect="1"/>
          </p:cNvPicPr>
          <p:nvPr/>
        </p:nvPicPr>
        <p:blipFill>
          <a:blip r:embed="rId6"/>
          <a:stretch>
            <a:fillRect/>
          </a:stretch>
        </p:blipFill>
        <p:spPr>
          <a:xfrm>
            <a:off x="8805672" y="3536899"/>
            <a:ext cx="164592" cy="164592"/>
          </a:xfrm>
          <a:prstGeom prst="rect">
            <a:avLst/>
          </a:prstGeom>
        </p:spPr>
      </p:pic>
      <p:pic>
        <p:nvPicPr>
          <p:cNvPr id="36" name="Image 13" descr="Signal"/>
          <p:cNvPicPr>
            <a:picLocks noChangeAspect="1"/>
          </p:cNvPicPr>
          <p:nvPr/>
        </p:nvPicPr>
        <p:blipFill>
          <a:blip r:embed="rId7"/>
          <a:stretch>
            <a:fillRect/>
          </a:stretch>
        </p:blipFill>
        <p:spPr>
          <a:xfrm>
            <a:off x="9038844" y="3536899"/>
            <a:ext cx="164592" cy="164592"/>
          </a:xfrm>
          <a:prstGeom prst="rect">
            <a:avLst/>
          </a:prstGeom>
        </p:spPr>
      </p:pic>
      <p:pic>
        <p:nvPicPr>
          <p:cNvPr id="37" name="Image 14" descr="Signal"/>
          <p:cNvPicPr>
            <a:picLocks noChangeAspect="1"/>
          </p:cNvPicPr>
          <p:nvPr/>
        </p:nvPicPr>
        <p:blipFill>
          <a:blip r:embed="rId8"/>
          <a:stretch>
            <a:fillRect/>
          </a:stretch>
        </p:blipFill>
        <p:spPr>
          <a:xfrm>
            <a:off x="9272016" y="3536899"/>
            <a:ext cx="164592" cy="164592"/>
          </a:xfrm>
          <a:prstGeom prst="rect">
            <a:avLst/>
          </a:prstGeom>
        </p:spPr>
      </p:pic>
      <p:sp>
        <p:nvSpPr>
          <p:cNvPr id="38" name="Ad card"/>
          <p:cNvSpPr/>
          <p:nvPr/>
        </p:nvSpPr>
        <p:spPr>
          <a:xfrm>
            <a:off x="9646920" y="3017520"/>
            <a:ext cx="777240" cy="731520"/>
          </a:xfrm>
          <a:prstGeom prst="roundRect">
            <a:avLst>
              <a:gd name="adj" fmla="val 7500"/>
            </a:avLst>
          </a:prstGeom>
          <a:solidFill>
            <a:srgbClr val="F2EFE9"/>
          </a:solidFill>
          <a:ln/>
        </p:spPr>
      </p:sp>
      <p:sp>
        <p:nvSpPr>
          <p:cNvPr id="39" name="Ad picture"/>
          <p:cNvSpPr/>
          <p:nvPr/>
        </p:nvSpPr>
        <p:spPr>
          <a:xfrm>
            <a:off x="9720072" y="3090672"/>
            <a:ext cx="630936" cy="336499"/>
          </a:xfrm>
          <a:prstGeom prst="roundRect">
            <a:avLst>
              <a:gd name="adj" fmla="val 10870"/>
            </a:avLst>
          </a:prstGeom>
          <a:solidFill>
            <a:srgbClr val="FDE8DC"/>
          </a:solidFill>
          <a:ln/>
        </p:spPr>
      </p:sp>
      <p:pic>
        <p:nvPicPr>
          <p:cNvPr id="40" name="Image 15" descr="Ad picture"/>
          <p:cNvPicPr>
            <a:picLocks noChangeAspect="1"/>
          </p:cNvPicPr>
          <p:nvPr/>
        </p:nvPicPr>
        <p:blipFill>
          <a:blip r:embed="rId5"/>
          <a:stretch>
            <a:fillRect/>
          </a:stretch>
        </p:blipFill>
        <p:spPr>
          <a:xfrm>
            <a:off x="9907524" y="3130906"/>
            <a:ext cx="256032" cy="256032"/>
          </a:xfrm>
          <a:prstGeom prst="rect">
            <a:avLst/>
          </a:prstGeom>
        </p:spPr>
      </p:pic>
      <p:pic>
        <p:nvPicPr>
          <p:cNvPr id="41" name="Image 16" descr="Signal"/>
          <p:cNvPicPr>
            <a:picLocks noChangeAspect="1"/>
          </p:cNvPicPr>
          <p:nvPr/>
        </p:nvPicPr>
        <p:blipFill>
          <a:blip r:embed="rId6"/>
          <a:stretch>
            <a:fillRect/>
          </a:stretch>
        </p:blipFill>
        <p:spPr>
          <a:xfrm>
            <a:off x="9720072" y="3536899"/>
            <a:ext cx="164592" cy="164592"/>
          </a:xfrm>
          <a:prstGeom prst="rect">
            <a:avLst/>
          </a:prstGeom>
        </p:spPr>
      </p:pic>
      <p:pic>
        <p:nvPicPr>
          <p:cNvPr id="42" name="Image 17" descr="Signal"/>
          <p:cNvPicPr>
            <a:picLocks noChangeAspect="1"/>
          </p:cNvPicPr>
          <p:nvPr/>
        </p:nvPicPr>
        <p:blipFill>
          <a:blip r:embed="rId7"/>
          <a:stretch>
            <a:fillRect/>
          </a:stretch>
        </p:blipFill>
        <p:spPr>
          <a:xfrm>
            <a:off x="9953244" y="3536899"/>
            <a:ext cx="164592" cy="164592"/>
          </a:xfrm>
          <a:prstGeom prst="rect">
            <a:avLst/>
          </a:prstGeom>
        </p:spPr>
      </p:pic>
      <p:pic>
        <p:nvPicPr>
          <p:cNvPr id="43" name="Image 18" descr="Signal"/>
          <p:cNvPicPr>
            <a:picLocks noChangeAspect="1"/>
          </p:cNvPicPr>
          <p:nvPr/>
        </p:nvPicPr>
        <p:blipFill>
          <a:blip r:embed="rId8"/>
          <a:stretch>
            <a:fillRect/>
          </a:stretch>
        </p:blipFill>
        <p:spPr>
          <a:xfrm>
            <a:off x="10186416" y="3536899"/>
            <a:ext cx="164592" cy="164592"/>
          </a:xfrm>
          <a:prstGeom prst="rect">
            <a:avLst/>
          </a:prstGeom>
        </p:spPr>
      </p:pic>
      <p:sp>
        <p:nvSpPr>
          <p:cNvPr id="44" name="Ad card"/>
          <p:cNvSpPr/>
          <p:nvPr/>
        </p:nvSpPr>
        <p:spPr>
          <a:xfrm>
            <a:off x="10561320" y="3017520"/>
            <a:ext cx="777240" cy="731520"/>
          </a:xfrm>
          <a:prstGeom prst="roundRect">
            <a:avLst>
              <a:gd name="adj" fmla="val 7500"/>
            </a:avLst>
          </a:prstGeom>
          <a:solidFill>
            <a:srgbClr val="F2EFE9"/>
          </a:solidFill>
          <a:ln/>
        </p:spPr>
      </p:sp>
      <p:sp>
        <p:nvSpPr>
          <p:cNvPr id="45" name="Ad picture"/>
          <p:cNvSpPr/>
          <p:nvPr/>
        </p:nvSpPr>
        <p:spPr>
          <a:xfrm>
            <a:off x="10634472" y="3090672"/>
            <a:ext cx="630936" cy="336499"/>
          </a:xfrm>
          <a:prstGeom prst="roundRect">
            <a:avLst>
              <a:gd name="adj" fmla="val 10870"/>
            </a:avLst>
          </a:prstGeom>
          <a:solidFill>
            <a:srgbClr val="FDE8DC"/>
          </a:solidFill>
          <a:ln/>
        </p:spPr>
      </p:sp>
      <p:pic>
        <p:nvPicPr>
          <p:cNvPr id="46" name="Image 19" descr="Ad picture"/>
          <p:cNvPicPr>
            <a:picLocks noChangeAspect="1"/>
          </p:cNvPicPr>
          <p:nvPr/>
        </p:nvPicPr>
        <p:blipFill>
          <a:blip r:embed="rId5"/>
          <a:stretch>
            <a:fillRect/>
          </a:stretch>
        </p:blipFill>
        <p:spPr>
          <a:xfrm>
            <a:off x="10821924" y="3130906"/>
            <a:ext cx="256032" cy="256032"/>
          </a:xfrm>
          <a:prstGeom prst="rect">
            <a:avLst/>
          </a:prstGeom>
        </p:spPr>
      </p:pic>
      <p:pic>
        <p:nvPicPr>
          <p:cNvPr id="47" name="Image 20" descr="Signal"/>
          <p:cNvPicPr>
            <a:picLocks noChangeAspect="1"/>
          </p:cNvPicPr>
          <p:nvPr/>
        </p:nvPicPr>
        <p:blipFill>
          <a:blip r:embed="rId6"/>
          <a:stretch>
            <a:fillRect/>
          </a:stretch>
        </p:blipFill>
        <p:spPr>
          <a:xfrm>
            <a:off x="10634472" y="3536899"/>
            <a:ext cx="164592" cy="164592"/>
          </a:xfrm>
          <a:prstGeom prst="rect">
            <a:avLst/>
          </a:prstGeom>
        </p:spPr>
      </p:pic>
      <p:pic>
        <p:nvPicPr>
          <p:cNvPr id="48" name="Image 21" descr="Signal"/>
          <p:cNvPicPr>
            <a:picLocks noChangeAspect="1"/>
          </p:cNvPicPr>
          <p:nvPr/>
        </p:nvPicPr>
        <p:blipFill>
          <a:blip r:embed="rId7"/>
          <a:stretch>
            <a:fillRect/>
          </a:stretch>
        </p:blipFill>
        <p:spPr>
          <a:xfrm>
            <a:off x="10867644" y="3536899"/>
            <a:ext cx="164592" cy="164592"/>
          </a:xfrm>
          <a:prstGeom prst="rect">
            <a:avLst/>
          </a:prstGeom>
        </p:spPr>
      </p:pic>
      <p:pic>
        <p:nvPicPr>
          <p:cNvPr id="49" name="Image 22" descr="Signal"/>
          <p:cNvPicPr>
            <a:picLocks noChangeAspect="1"/>
          </p:cNvPicPr>
          <p:nvPr/>
        </p:nvPicPr>
        <p:blipFill>
          <a:blip r:embed="rId8"/>
          <a:stretch>
            <a:fillRect/>
          </a:stretch>
        </p:blipFill>
        <p:spPr>
          <a:xfrm>
            <a:off x="11100816" y="3536899"/>
            <a:ext cx="164592" cy="164592"/>
          </a:xfrm>
          <a:prstGeom prst="rect">
            <a:avLst/>
          </a:prstGeom>
        </p:spPr>
      </p:pic>
      <p:sp>
        <p:nvSpPr>
          <p:cNvPr id="50" name="Ad card"/>
          <p:cNvSpPr/>
          <p:nvPr/>
        </p:nvSpPr>
        <p:spPr>
          <a:xfrm>
            <a:off x="7818120" y="3840480"/>
            <a:ext cx="777240" cy="731520"/>
          </a:xfrm>
          <a:prstGeom prst="roundRect">
            <a:avLst>
              <a:gd name="adj" fmla="val 7500"/>
            </a:avLst>
          </a:prstGeom>
          <a:solidFill>
            <a:srgbClr val="F2EFE9"/>
          </a:solidFill>
          <a:ln/>
        </p:spPr>
      </p:sp>
      <p:sp>
        <p:nvSpPr>
          <p:cNvPr id="51" name="Ad picture"/>
          <p:cNvSpPr/>
          <p:nvPr/>
        </p:nvSpPr>
        <p:spPr>
          <a:xfrm>
            <a:off x="7891272" y="3913632"/>
            <a:ext cx="630936" cy="336499"/>
          </a:xfrm>
          <a:prstGeom prst="roundRect">
            <a:avLst>
              <a:gd name="adj" fmla="val 10870"/>
            </a:avLst>
          </a:prstGeom>
          <a:solidFill>
            <a:srgbClr val="FDE8DC"/>
          </a:solidFill>
          <a:ln/>
        </p:spPr>
      </p:sp>
      <p:pic>
        <p:nvPicPr>
          <p:cNvPr id="52" name="Image 23" descr="Ad picture"/>
          <p:cNvPicPr>
            <a:picLocks noChangeAspect="1"/>
          </p:cNvPicPr>
          <p:nvPr/>
        </p:nvPicPr>
        <p:blipFill>
          <a:blip r:embed="rId5"/>
          <a:stretch>
            <a:fillRect/>
          </a:stretch>
        </p:blipFill>
        <p:spPr>
          <a:xfrm>
            <a:off x="8078724" y="3953866"/>
            <a:ext cx="256032" cy="256032"/>
          </a:xfrm>
          <a:prstGeom prst="rect">
            <a:avLst/>
          </a:prstGeom>
        </p:spPr>
      </p:pic>
      <p:pic>
        <p:nvPicPr>
          <p:cNvPr id="53" name="Image 24" descr="Signal"/>
          <p:cNvPicPr>
            <a:picLocks noChangeAspect="1"/>
          </p:cNvPicPr>
          <p:nvPr/>
        </p:nvPicPr>
        <p:blipFill>
          <a:blip r:embed="rId6"/>
          <a:stretch>
            <a:fillRect/>
          </a:stretch>
        </p:blipFill>
        <p:spPr>
          <a:xfrm>
            <a:off x="7891272" y="4359859"/>
            <a:ext cx="164592" cy="164592"/>
          </a:xfrm>
          <a:prstGeom prst="rect">
            <a:avLst/>
          </a:prstGeom>
        </p:spPr>
      </p:pic>
      <p:pic>
        <p:nvPicPr>
          <p:cNvPr id="54" name="Image 25" descr="Signal"/>
          <p:cNvPicPr>
            <a:picLocks noChangeAspect="1"/>
          </p:cNvPicPr>
          <p:nvPr/>
        </p:nvPicPr>
        <p:blipFill>
          <a:blip r:embed="rId7"/>
          <a:stretch>
            <a:fillRect/>
          </a:stretch>
        </p:blipFill>
        <p:spPr>
          <a:xfrm>
            <a:off x="8124444" y="4359859"/>
            <a:ext cx="164592" cy="164592"/>
          </a:xfrm>
          <a:prstGeom prst="rect">
            <a:avLst/>
          </a:prstGeom>
        </p:spPr>
      </p:pic>
      <p:pic>
        <p:nvPicPr>
          <p:cNvPr id="55" name="Image 26" descr="Signal"/>
          <p:cNvPicPr>
            <a:picLocks noChangeAspect="1"/>
          </p:cNvPicPr>
          <p:nvPr/>
        </p:nvPicPr>
        <p:blipFill>
          <a:blip r:embed="rId8"/>
          <a:stretch>
            <a:fillRect/>
          </a:stretch>
        </p:blipFill>
        <p:spPr>
          <a:xfrm>
            <a:off x="8357616" y="4359859"/>
            <a:ext cx="164592" cy="164592"/>
          </a:xfrm>
          <a:prstGeom prst="rect">
            <a:avLst/>
          </a:prstGeom>
        </p:spPr>
      </p:pic>
      <p:sp>
        <p:nvSpPr>
          <p:cNvPr id="56" name="Ad card"/>
          <p:cNvSpPr/>
          <p:nvPr/>
        </p:nvSpPr>
        <p:spPr>
          <a:xfrm>
            <a:off x="8732520" y="3840480"/>
            <a:ext cx="777240" cy="731520"/>
          </a:xfrm>
          <a:prstGeom prst="roundRect">
            <a:avLst>
              <a:gd name="adj" fmla="val 7500"/>
            </a:avLst>
          </a:prstGeom>
          <a:solidFill>
            <a:srgbClr val="F2EFE9"/>
          </a:solidFill>
          <a:ln/>
        </p:spPr>
      </p:sp>
      <p:sp>
        <p:nvSpPr>
          <p:cNvPr id="57" name="Ad picture"/>
          <p:cNvSpPr/>
          <p:nvPr/>
        </p:nvSpPr>
        <p:spPr>
          <a:xfrm>
            <a:off x="8805672" y="3913632"/>
            <a:ext cx="630936" cy="336499"/>
          </a:xfrm>
          <a:prstGeom prst="roundRect">
            <a:avLst>
              <a:gd name="adj" fmla="val 10870"/>
            </a:avLst>
          </a:prstGeom>
          <a:solidFill>
            <a:srgbClr val="FDE8DC"/>
          </a:solidFill>
          <a:ln/>
        </p:spPr>
      </p:sp>
      <p:pic>
        <p:nvPicPr>
          <p:cNvPr id="58" name="Image 27" descr="Ad picture"/>
          <p:cNvPicPr>
            <a:picLocks noChangeAspect="1"/>
          </p:cNvPicPr>
          <p:nvPr/>
        </p:nvPicPr>
        <p:blipFill>
          <a:blip r:embed="rId5"/>
          <a:stretch>
            <a:fillRect/>
          </a:stretch>
        </p:blipFill>
        <p:spPr>
          <a:xfrm>
            <a:off x="8993124" y="3953866"/>
            <a:ext cx="256032" cy="256032"/>
          </a:xfrm>
          <a:prstGeom prst="rect">
            <a:avLst/>
          </a:prstGeom>
        </p:spPr>
      </p:pic>
      <p:pic>
        <p:nvPicPr>
          <p:cNvPr id="59" name="Image 28" descr="Signal"/>
          <p:cNvPicPr>
            <a:picLocks noChangeAspect="1"/>
          </p:cNvPicPr>
          <p:nvPr/>
        </p:nvPicPr>
        <p:blipFill>
          <a:blip r:embed="rId6"/>
          <a:stretch>
            <a:fillRect/>
          </a:stretch>
        </p:blipFill>
        <p:spPr>
          <a:xfrm>
            <a:off x="8805672" y="4359859"/>
            <a:ext cx="164592" cy="164592"/>
          </a:xfrm>
          <a:prstGeom prst="rect">
            <a:avLst/>
          </a:prstGeom>
        </p:spPr>
      </p:pic>
      <p:pic>
        <p:nvPicPr>
          <p:cNvPr id="60" name="Image 29" descr="Signal"/>
          <p:cNvPicPr>
            <a:picLocks noChangeAspect="1"/>
          </p:cNvPicPr>
          <p:nvPr/>
        </p:nvPicPr>
        <p:blipFill>
          <a:blip r:embed="rId7"/>
          <a:stretch>
            <a:fillRect/>
          </a:stretch>
        </p:blipFill>
        <p:spPr>
          <a:xfrm>
            <a:off x="9038844" y="4359859"/>
            <a:ext cx="164592" cy="164592"/>
          </a:xfrm>
          <a:prstGeom prst="rect">
            <a:avLst/>
          </a:prstGeom>
        </p:spPr>
      </p:pic>
      <p:pic>
        <p:nvPicPr>
          <p:cNvPr id="61" name="Image 30" descr="Signal"/>
          <p:cNvPicPr>
            <a:picLocks noChangeAspect="1"/>
          </p:cNvPicPr>
          <p:nvPr/>
        </p:nvPicPr>
        <p:blipFill>
          <a:blip r:embed="rId8"/>
          <a:stretch>
            <a:fillRect/>
          </a:stretch>
        </p:blipFill>
        <p:spPr>
          <a:xfrm>
            <a:off x="9272016" y="4359859"/>
            <a:ext cx="164592" cy="164592"/>
          </a:xfrm>
          <a:prstGeom prst="rect">
            <a:avLst/>
          </a:prstGeom>
        </p:spPr>
      </p:pic>
      <p:sp>
        <p:nvSpPr>
          <p:cNvPr id="62" name="Ad card"/>
          <p:cNvSpPr/>
          <p:nvPr/>
        </p:nvSpPr>
        <p:spPr>
          <a:xfrm>
            <a:off x="9646920" y="3840480"/>
            <a:ext cx="777240" cy="731520"/>
          </a:xfrm>
          <a:prstGeom prst="roundRect">
            <a:avLst>
              <a:gd name="adj" fmla="val 7500"/>
            </a:avLst>
          </a:prstGeom>
          <a:solidFill>
            <a:srgbClr val="F2EFE9"/>
          </a:solidFill>
          <a:ln/>
        </p:spPr>
      </p:sp>
      <p:sp>
        <p:nvSpPr>
          <p:cNvPr id="63" name="Ad picture"/>
          <p:cNvSpPr/>
          <p:nvPr/>
        </p:nvSpPr>
        <p:spPr>
          <a:xfrm>
            <a:off x="9720072" y="3913632"/>
            <a:ext cx="630936" cy="336499"/>
          </a:xfrm>
          <a:prstGeom prst="roundRect">
            <a:avLst>
              <a:gd name="adj" fmla="val 10870"/>
            </a:avLst>
          </a:prstGeom>
          <a:solidFill>
            <a:srgbClr val="FDE8DC"/>
          </a:solidFill>
          <a:ln/>
        </p:spPr>
      </p:sp>
      <p:pic>
        <p:nvPicPr>
          <p:cNvPr id="64" name="Image 31" descr="Ad picture"/>
          <p:cNvPicPr>
            <a:picLocks noChangeAspect="1"/>
          </p:cNvPicPr>
          <p:nvPr/>
        </p:nvPicPr>
        <p:blipFill>
          <a:blip r:embed="rId5"/>
          <a:stretch>
            <a:fillRect/>
          </a:stretch>
        </p:blipFill>
        <p:spPr>
          <a:xfrm>
            <a:off x="9907524" y="3953866"/>
            <a:ext cx="256032" cy="256032"/>
          </a:xfrm>
          <a:prstGeom prst="rect">
            <a:avLst/>
          </a:prstGeom>
        </p:spPr>
      </p:pic>
      <p:pic>
        <p:nvPicPr>
          <p:cNvPr id="65" name="Image 32" descr="Signal"/>
          <p:cNvPicPr>
            <a:picLocks noChangeAspect="1"/>
          </p:cNvPicPr>
          <p:nvPr/>
        </p:nvPicPr>
        <p:blipFill>
          <a:blip r:embed="rId6"/>
          <a:stretch>
            <a:fillRect/>
          </a:stretch>
        </p:blipFill>
        <p:spPr>
          <a:xfrm>
            <a:off x="9720072" y="4359859"/>
            <a:ext cx="164592" cy="164592"/>
          </a:xfrm>
          <a:prstGeom prst="rect">
            <a:avLst/>
          </a:prstGeom>
        </p:spPr>
      </p:pic>
      <p:pic>
        <p:nvPicPr>
          <p:cNvPr id="66" name="Image 33" descr="Signal"/>
          <p:cNvPicPr>
            <a:picLocks noChangeAspect="1"/>
          </p:cNvPicPr>
          <p:nvPr/>
        </p:nvPicPr>
        <p:blipFill>
          <a:blip r:embed="rId7"/>
          <a:stretch>
            <a:fillRect/>
          </a:stretch>
        </p:blipFill>
        <p:spPr>
          <a:xfrm>
            <a:off x="9953244" y="4359859"/>
            <a:ext cx="164592" cy="164592"/>
          </a:xfrm>
          <a:prstGeom prst="rect">
            <a:avLst/>
          </a:prstGeom>
        </p:spPr>
      </p:pic>
      <p:pic>
        <p:nvPicPr>
          <p:cNvPr id="67" name="Image 34" descr="Signal"/>
          <p:cNvPicPr>
            <a:picLocks noChangeAspect="1"/>
          </p:cNvPicPr>
          <p:nvPr/>
        </p:nvPicPr>
        <p:blipFill>
          <a:blip r:embed="rId8"/>
          <a:stretch>
            <a:fillRect/>
          </a:stretch>
        </p:blipFill>
        <p:spPr>
          <a:xfrm>
            <a:off x="10186416" y="4359859"/>
            <a:ext cx="164592" cy="164592"/>
          </a:xfrm>
          <a:prstGeom prst="rect">
            <a:avLst/>
          </a:prstGeom>
        </p:spPr>
      </p:pic>
      <p:sp>
        <p:nvSpPr>
          <p:cNvPr id="68" name="Text 31"/>
          <p:cNvSpPr txBox="1"/>
          <p:nvPr/>
        </p:nvSpPr>
        <p:spPr>
          <a:xfrm>
            <a:off x="10561320" y="3840480"/>
            <a:ext cx="777240" cy="731520"/>
          </a:xfrm>
          <a:prstGeom prst="rect">
            <a:avLst/>
          </a:prstGeom>
          <a:noFill/>
          <a:ln/>
        </p:spPr>
        <p:txBody>
          <a:bodyPr wrap="square" lIns="0" tIns="0" rIns="0" bIns="0" rtlCol="0" anchor="ctr"/>
          <a:lstStyle/>
          <a:p>
            <a:pPr marL="0" indent="0" algn="ctr">
              <a:buNone/>
            </a:pPr>
            <a:r>
              <a:rPr lang="en-US" sz="3200" b="1" dirty="0">
                <a:solidFill>
                  <a:schemeClr val="accent1"/>
                </a:solidFill>
              </a:rPr>
              <a:t>...</a:t>
            </a:r>
            <a:endParaRPr lang="en-US" sz="3200" dirty="0"/>
          </a:p>
        </p:txBody>
      </p:sp>
      <p:sp>
        <p:nvSpPr>
          <p:cNvPr id="69" name="Text 32"/>
          <p:cNvSpPr txBox="1"/>
          <p:nvPr/>
        </p:nvSpPr>
        <p:spPr>
          <a:xfrm>
            <a:off x="5897880" y="4663440"/>
            <a:ext cx="5486400" cy="274320"/>
          </a:xfrm>
          <a:prstGeom prst="rect">
            <a:avLst/>
          </a:prstGeom>
          <a:noFill/>
          <a:ln/>
        </p:spPr>
        <p:txBody>
          <a:bodyPr wrap="square" lIns="0" tIns="0" rIns="0" bIns="0" rtlCol="0" anchor="t"/>
          <a:lstStyle/>
          <a:p>
            <a:pPr marL="0" indent="0">
              <a:buNone/>
            </a:pPr>
            <a:r>
              <a:rPr lang="en-US" sz="1300" dirty="0">
                <a:solidFill>
                  <a:schemeClr val="tx2"/>
                </a:solidFill>
              </a:rPr>
              <a:t>Every version has its own views, clicks and sales to check.</a:t>
            </a:r>
            <a:endParaRPr lang="en-US" sz="1300" dirty="0"/>
          </a:p>
        </p:txBody>
      </p:sp>
      <p:sp>
        <p:nvSpPr>
          <p:cNvPr id="70" name="Takeaway"/>
          <p:cNvSpPr/>
          <p:nvPr/>
        </p:nvSpPr>
        <p:spPr>
          <a:xfrm>
            <a:off x="548640" y="5349240"/>
            <a:ext cx="11094415" cy="777240"/>
          </a:xfrm>
          <a:prstGeom prst="roundRect">
            <a:avLst>
              <a:gd name="adj" fmla="val 9412"/>
            </a:avLst>
          </a:prstGeom>
          <a:solidFill>
            <a:srgbClr val="FDE8DC"/>
          </a:solidFill>
          <a:ln/>
        </p:spPr>
      </p:sp>
      <p:sp>
        <p:nvSpPr>
          <p:cNvPr id="71" name="Text 34"/>
          <p:cNvSpPr txBox="1"/>
          <p:nvPr/>
        </p:nvSpPr>
        <p:spPr>
          <a:xfrm>
            <a:off x="822960" y="5349240"/>
            <a:ext cx="10545775" cy="777240"/>
          </a:xfrm>
          <a:prstGeom prst="rect">
            <a:avLst/>
          </a:prstGeom>
          <a:noFill/>
          <a:ln/>
        </p:spPr>
        <p:txBody>
          <a:bodyPr wrap="square" lIns="0" tIns="0" rIns="0" bIns="0" rtlCol="0" anchor="ctr"/>
          <a:lstStyle/>
          <a:p>
            <a:pPr marL="0" indent="0">
              <a:buNone/>
            </a:pPr>
            <a:r>
              <a:rPr lang="en-US" sz="1800" dirty="0">
                <a:solidFill>
                  <a:schemeClr val="tx1"/>
                </a:solidFill>
              </a:rPr>
              <a:t>Every ad, post or email AI makes also throws off signals: views, clicks, sales. </a:t>
            </a:r>
            <a:r>
              <a:rPr lang="en-US" sz="1800" b="1" dirty="0">
                <a:solidFill>
                  <a:schemeClr val="accent1"/>
                </a:solidFill>
              </a:rPr>
              <a:t>The more you generate, the more there is to watch.</a:t>
            </a:r>
            <a:endParaRPr lang="en-US" sz="1800" dirty="0"/>
          </a:p>
        </p:txBody>
      </p:sp>
      <p:sp>
        <p:nvSpPr>
          <p:cNvPr id="72"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THE GAP</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bg1"/>
                </a:solidFill>
              </a:rPr>
              <a:t>Infinite output. No cockpit</a:t>
            </a:r>
            <a:endParaRPr lang="en-US" sz="3200" dirty="0"/>
          </a:p>
        </p:txBody>
      </p:sp>
      <p:sp>
        <p:nvSpPr>
          <p:cNvPr id="4" name="Text 2"/>
          <p:cNvSpPr txBox="1"/>
          <p:nvPr/>
        </p:nvSpPr>
        <p:spPr>
          <a:xfrm>
            <a:off x="548640" y="1325880"/>
            <a:ext cx="9509760" cy="640080"/>
          </a:xfrm>
          <a:prstGeom prst="rect">
            <a:avLst/>
          </a:prstGeom>
          <a:noFill/>
          <a:ln/>
        </p:spPr>
        <p:txBody>
          <a:bodyPr wrap="square" lIns="0" tIns="0" rIns="0" bIns="0" rtlCol="0" anchor="t"/>
          <a:lstStyle/>
          <a:p>
            <a:pPr marL="0" indent="0">
              <a:buNone/>
            </a:pPr>
            <a:r>
              <a:rPr lang="en-US" sz="1700" dirty="0">
                <a:solidFill>
                  <a:schemeClr val="bg2"/>
                </a:solidFill>
              </a:rPr>
              <a:t>Teams need one place to go from signals to decisions: a cockpit to monitor, analyse and decide on all of it. We call it a control plane.</a:t>
            </a:r>
            <a:endParaRPr lang="en-US" sz="1700" dirty="0"/>
          </a:p>
        </p:txBody>
      </p:sp>
      <p:sp>
        <p:nvSpPr>
          <p:cNvPr id="5" name="Signals panel"/>
          <p:cNvSpPr/>
          <p:nvPr/>
        </p:nvSpPr>
        <p:spPr>
          <a:xfrm>
            <a:off x="548640" y="2331720"/>
            <a:ext cx="4023360" cy="1783080"/>
          </a:xfrm>
          <a:prstGeom prst="roundRect">
            <a:avLst>
              <a:gd name="adj" fmla="val 4103"/>
            </a:avLst>
          </a:prstGeom>
          <a:solidFill>
            <a:srgbClr val="2E2920"/>
          </a:solidFill>
          <a:ln w="12700">
            <a:solidFill>
              <a:srgbClr val="4A4336"/>
            </a:solidFill>
            <a:prstDash val="solid"/>
          </a:ln>
        </p:spPr>
      </p:sp>
      <p:sp>
        <p:nvSpPr>
          <p:cNvPr id="6" name="Text 4"/>
          <p:cNvSpPr txBox="1"/>
          <p:nvPr/>
        </p:nvSpPr>
        <p:spPr>
          <a:xfrm>
            <a:off x="777240" y="2468880"/>
            <a:ext cx="2743200" cy="228600"/>
          </a:xfrm>
          <a:prstGeom prst="rect">
            <a:avLst/>
          </a:prstGeom>
          <a:noFill/>
          <a:ln/>
        </p:spPr>
        <p:txBody>
          <a:bodyPr wrap="square" lIns="0" tIns="0" rIns="0" bIns="0" rtlCol="0" anchor="t"/>
          <a:lstStyle/>
          <a:p>
            <a:pPr marL="0" indent="0">
              <a:buNone/>
            </a:pPr>
            <a:r>
              <a:rPr lang="en-US" sz="1100" b="1" kern="0" spc="300" dirty="0">
                <a:solidFill>
                  <a:schemeClr val="accent4"/>
                </a:solidFill>
              </a:rPr>
              <a:t>SIGNALS</a:t>
            </a:r>
            <a:endParaRPr lang="en-US" sz="1100" dirty="0"/>
          </a:p>
        </p:txBody>
      </p:sp>
      <p:sp>
        <p:nvSpPr>
          <p:cNvPr id="7" name="Shape 5"/>
          <p:cNvSpPr/>
          <p:nvPr/>
        </p:nvSpPr>
        <p:spPr>
          <a:xfrm>
            <a:off x="777240" y="2788920"/>
            <a:ext cx="742493" cy="292608"/>
          </a:xfrm>
          <a:prstGeom prst="roundRect">
            <a:avLst>
              <a:gd name="adj" fmla="val 50000"/>
            </a:avLst>
          </a:prstGeom>
          <a:solidFill>
            <a:srgbClr val="3A342A"/>
          </a:solidFill>
          <a:ln w="12700">
            <a:solidFill>
              <a:srgbClr val="E8590C"/>
            </a:solidFill>
            <a:prstDash val="solid"/>
          </a:ln>
        </p:spPr>
      </p:sp>
      <p:sp>
        <p:nvSpPr>
          <p:cNvPr id="8" name="Text 6"/>
          <p:cNvSpPr txBox="1"/>
          <p:nvPr/>
        </p:nvSpPr>
        <p:spPr>
          <a:xfrm>
            <a:off x="777240" y="2788920"/>
            <a:ext cx="742493" cy="292608"/>
          </a:xfrm>
          <a:prstGeom prst="rect">
            <a:avLst/>
          </a:prstGeom>
          <a:noFill/>
          <a:ln/>
        </p:spPr>
        <p:txBody>
          <a:bodyPr wrap="square" lIns="0" tIns="0" rIns="0" bIns="0" rtlCol="0" anchor="ctr"/>
          <a:lstStyle/>
          <a:p>
            <a:pPr marL="0" indent="0" algn="ctr">
              <a:buNone/>
            </a:pPr>
            <a:r>
              <a:rPr lang="en-US" sz="1100" dirty="0">
                <a:solidFill>
                  <a:schemeClr val="bg1"/>
                </a:solidFill>
              </a:rPr>
              <a:t>Clicks</a:t>
            </a:r>
            <a:endParaRPr lang="en-US" sz="1100" dirty="0"/>
          </a:p>
        </p:txBody>
      </p:sp>
      <p:sp>
        <p:nvSpPr>
          <p:cNvPr id="9" name="Shape 7"/>
          <p:cNvSpPr/>
          <p:nvPr/>
        </p:nvSpPr>
        <p:spPr>
          <a:xfrm>
            <a:off x="1611173" y="2788920"/>
            <a:ext cx="667512" cy="292608"/>
          </a:xfrm>
          <a:prstGeom prst="roundRect">
            <a:avLst>
              <a:gd name="adj" fmla="val 50000"/>
            </a:avLst>
          </a:prstGeom>
          <a:solidFill>
            <a:srgbClr val="3A342A"/>
          </a:solidFill>
          <a:ln w="12700">
            <a:solidFill>
              <a:srgbClr val="E8590C"/>
            </a:solidFill>
            <a:prstDash val="solid"/>
          </a:ln>
        </p:spPr>
      </p:sp>
      <p:sp>
        <p:nvSpPr>
          <p:cNvPr id="10" name="Text 8"/>
          <p:cNvSpPr txBox="1"/>
          <p:nvPr/>
        </p:nvSpPr>
        <p:spPr>
          <a:xfrm>
            <a:off x="1611173" y="2788920"/>
            <a:ext cx="667512" cy="292608"/>
          </a:xfrm>
          <a:prstGeom prst="rect">
            <a:avLst/>
          </a:prstGeom>
          <a:noFill/>
          <a:ln/>
        </p:spPr>
        <p:txBody>
          <a:bodyPr wrap="square" lIns="0" tIns="0" rIns="0" bIns="0" rtlCol="0" anchor="ctr"/>
          <a:lstStyle/>
          <a:p>
            <a:pPr marL="0" indent="0" algn="ctr">
              <a:buNone/>
            </a:pPr>
            <a:r>
              <a:rPr lang="en-US" sz="1100" dirty="0">
                <a:solidFill>
                  <a:schemeClr val="bg1"/>
                </a:solidFill>
              </a:rPr>
              <a:t>Spend</a:t>
            </a:r>
            <a:endParaRPr lang="en-US" sz="1100" dirty="0"/>
          </a:p>
        </p:txBody>
      </p:sp>
      <p:sp>
        <p:nvSpPr>
          <p:cNvPr id="11" name="Shape 9"/>
          <p:cNvSpPr/>
          <p:nvPr/>
        </p:nvSpPr>
        <p:spPr>
          <a:xfrm>
            <a:off x="2370125" y="2788920"/>
            <a:ext cx="817474" cy="292608"/>
          </a:xfrm>
          <a:prstGeom prst="roundRect">
            <a:avLst>
              <a:gd name="adj" fmla="val 50000"/>
            </a:avLst>
          </a:prstGeom>
          <a:solidFill>
            <a:srgbClr val="3A342A"/>
          </a:solidFill>
          <a:ln w="12700">
            <a:solidFill>
              <a:srgbClr val="E8590C"/>
            </a:solidFill>
            <a:prstDash val="solid"/>
          </a:ln>
        </p:spPr>
      </p:sp>
      <p:sp>
        <p:nvSpPr>
          <p:cNvPr id="12" name="Text 10"/>
          <p:cNvSpPr txBox="1"/>
          <p:nvPr/>
        </p:nvSpPr>
        <p:spPr>
          <a:xfrm>
            <a:off x="2370125" y="2788920"/>
            <a:ext cx="817474" cy="292608"/>
          </a:xfrm>
          <a:prstGeom prst="rect">
            <a:avLst/>
          </a:prstGeom>
          <a:noFill/>
          <a:ln/>
        </p:spPr>
        <p:txBody>
          <a:bodyPr wrap="square" lIns="0" tIns="0" rIns="0" bIns="0" rtlCol="0" anchor="ctr"/>
          <a:lstStyle/>
          <a:p>
            <a:pPr marL="0" indent="0" algn="ctr">
              <a:buNone/>
            </a:pPr>
            <a:r>
              <a:rPr lang="en-US" sz="1100" dirty="0">
                <a:solidFill>
                  <a:schemeClr val="bg1"/>
                </a:solidFill>
              </a:rPr>
              <a:t>Reviews</a:t>
            </a:r>
            <a:endParaRPr lang="en-US" sz="1100" dirty="0"/>
          </a:p>
        </p:txBody>
      </p:sp>
      <p:sp>
        <p:nvSpPr>
          <p:cNvPr id="13" name="Shape 11"/>
          <p:cNvSpPr/>
          <p:nvPr/>
        </p:nvSpPr>
        <p:spPr>
          <a:xfrm>
            <a:off x="3279038" y="2788920"/>
            <a:ext cx="892454" cy="292608"/>
          </a:xfrm>
          <a:prstGeom prst="roundRect">
            <a:avLst>
              <a:gd name="adj" fmla="val 50000"/>
            </a:avLst>
          </a:prstGeom>
          <a:solidFill>
            <a:srgbClr val="3A342A"/>
          </a:solidFill>
          <a:ln w="12700">
            <a:solidFill>
              <a:srgbClr val="E8590C"/>
            </a:solidFill>
            <a:prstDash val="solid"/>
          </a:ln>
        </p:spPr>
      </p:sp>
      <p:sp>
        <p:nvSpPr>
          <p:cNvPr id="14" name="Text 12"/>
          <p:cNvSpPr txBox="1"/>
          <p:nvPr/>
        </p:nvSpPr>
        <p:spPr>
          <a:xfrm>
            <a:off x="3279038" y="2788920"/>
            <a:ext cx="892454" cy="292608"/>
          </a:xfrm>
          <a:prstGeom prst="rect">
            <a:avLst/>
          </a:prstGeom>
          <a:noFill/>
          <a:ln/>
        </p:spPr>
        <p:txBody>
          <a:bodyPr wrap="square" lIns="0" tIns="0" rIns="0" bIns="0" rtlCol="0" anchor="ctr"/>
          <a:lstStyle/>
          <a:p>
            <a:pPr marL="0" indent="0" algn="ctr">
              <a:buNone/>
            </a:pPr>
            <a:r>
              <a:rPr lang="en-US" sz="1100" dirty="0">
                <a:solidFill>
                  <a:schemeClr val="bg1"/>
                </a:solidFill>
              </a:rPr>
              <a:t>Footfall</a:t>
            </a:r>
            <a:endParaRPr lang="en-US" sz="1100" dirty="0"/>
          </a:p>
        </p:txBody>
      </p:sp>
      <p:sp>
        <p:nvSpPr>
          <p:cNvPr id="15" name="Shape 13"/>
          <p:cNvSpPr/>
          <p:nvPr/>
        </p:nvSpPr>
        <p:spPr>
          <a:xfrm>
            <a:off x="1097280" y="3172968"/>
            <a:ext cx="667512" cy="292608"/>
          </a:xfrm>
          <a:prstGeom prst="roundRect">
            <a:avLst>
              <a:gd name="adj" fmla="val 50000"/>
            </a:avLst>
          </a:prstGeom>
          <a:solidFill>
            <a:srgbClr val="3A342A"/>
          </a:solidFill>
          <a:ln w="12700">
            <a:solidFill>
              <a:srgbClr val="E8590C"/>
            </a:solidFill>
            <a:prstDash val="solid"/>
          </a:ln>
        </p:spPr>
      </p:sp>
      <p:sp>
        <p:nvSpPr>
          <p:cNvPr id="16" name="Text 14"/>
          <p:cNvSpPr txBox="1"/>
          <p:nvPr/>
        </p:nvSpPr>
        <p:spPr>
          <a:xfrm>
            <a:off x="1097280" y="3172968"/>
            <a:ext cx="667512" cy="292608"/>
          </a:xfrm>
          <a:prstGeom prst="rect">
            <a:avLst/>
          </a:prstGeom>
          <a:noFill/>
          <a:ln/>
        </p:spPr>
        <p:txBody>
          <a:bodyPr wrap="square" lIns="0" tIns="0" rIns="0" bIns="0" rtlCol="0" anchor="ctr"/>
          <a:lstStyle/>
          <a:p>
            <a:pPr marL="0" indent="0" algn="ctr">
              <a:buNone/>
            </a:pPr>
            <a:r>
              <a:rPr lang="en-US" sz="1100" dirty="0">
                <a:solidFill>
                  <a:schemeClr val="bg1"/>
                </a:solidFill>
              </a:rPr>
              <a:t>Sales</a:t>
            </a:r>
            <a:endParaRPr lang="en-US" sz="1100" dirty="0"/>
          </a:p>
        </p:txBody>
      </p:sp>
      <p:sp>
        <p:nvSpPr>
          <p:cNvPr id="17" name="Shape 15"/>
          <p:cNvSpPr/>
          <p:nvPr/>
        </p:nvSpPr>
        <p:spPr>
          <a:xfrm>
            <a:off x="1856232" y="3172968"/>
            <a:ext cx="1117397" cy="292608"/>
          </a:xfrm>
          <a:prstGeom prst="roundRect">
            <a:avLst>
              <a:gd name="adj" fmla="val 50000"/>
            </a:avLst>
          </a:prstGeom>
          <a:solidFill>
            <a:srgbClr val="3A342A"/>
          </a:solidFill>
          <a:ln w="12700">
            <a:solidFill>
              <a:srgbClr val="E8590C"/>
            </a:solidFill>
            <a:prstDash val="solid"/>
          </a:ln>
        </p:spPr>
      </p:sp>
      <p:sp>
        <p:nvSpPr>
          <p:cNvPr id="18" name="Text 16"/>
          <p:cNvSpPr txBox="1"/>
          <p:nvPr/>
        </p:nvSpPr>
        <p:spPr>
          <a:xfrm>
            <a:off x="1856232" y="3172968"/>
            <a:ext cx="1117397" cy="292608"/>
          </a:xfrm>
          <a:prstGeom prst="rect">
            <a:avLst/>
          </a:prstGeom>
          <a:noFill/>
          <a:ln/>
        </p:spPr>
        <p:txBody>
          <a:bodyPr wrap="square" lIns="0" tIns="0" rIns="0" bIns="0" rtlCol="0" anchor="ctr"/>
          <a:lstStyle/>
          <a:p>
            <a:pPr marL="0" indent="0" algn="ctr">
              <a:buNone/>
            </a:pPr>
            <a:r>
              <a:rPr lang="en-US" sz="1100" dirty="0">
                <a:solidFill>
                  <a:schemeClr val="bg1"/>
                </a:solidFill>
              </a:rPr>
              <a:t>Email opens</a:t>
            </a:r>
            <a:endParaRPr lang="en-US" sz="1100" dirty="0"/>
          </a:p>
        </p:txBody>
      </p:sp>
      <p:sp>
        <p:nvSpPr>
          <p:cNvPr id="19" name="Shape 17"/>
          <p:cNvSpPr/>
          <p:nvPr/>
        </p:nvSpPr>
        <p:spPr>
          <a:xfrm>
            <a:off x="777240" y="3557016"/>
            <a:ext cx="1492301" cy="292608"/>
          </a:xfrm>
          <a:prstGeom prst="roundRect">
            <a:avLst>
              <a:gd name="adj" fmla="val 50000"/>
            </a:avLst>
          </a:prstGeom>
          <a:solidFill>
            <a:srgbClr val="3A342A"/>
          </a:solidFill>
          <a:ln w="12700">
            <a:solidFill>
              <a:srgbClr val="E8590C"/>
            </a:solidFill>
            <a:prstDash val="solid"/>
          </a:ln>
        </p:spPr>
      </p:sp>
      <p:sp>
        <p:nvSpPr>
          <p:cNvPr id="20" name="Text 18"/>
          <p:cNvSpPr txBox="1"/>
          <p:nvPr/>
        </p:nvSpPr>
        <p:spPr>
          <a:xfrm>
            <a:off x="777240" y="3557016"/>
            <a:ext cx="1492301" cy="292608"/>
          </a:xfrm>
          <a:prstGeom prst="rect">
            <a:avLst/>
          </a:prstGeom>
          <a:noFill/>
          <a:ln/>
        </p:spPr>
        <p:txBody>
          <a:bodyPr wrap="square" lIns="0" tIns="0" rIns="0" bIns="0" rtlCol="0" anchor="ctr"/>
          <a:lstStyle/>
          <a:p>
            <a:pPr marL="0" indent="0" algn="ctr">
              <a:buNone/>
            </a:pPr>
            <a:r>
              <a:rPr lang="en-US" sz="1100" dirty="0">
                <a:solidFill>
                  <a:schemeClr val="bg1"/>
                </a:solidFill>
              </a:rPr>
              <a:t>WhatsApp replies</a:t>
            </a:r>
            <a:endParaRPr lang="en-US" sz="1100" dirty="0"/>
          </a:p>
        </p:txBody>
      </p:sp>
      <p:sp>
        <p:nvSpPr>
          <p:cNvPr id="21" name="Shape 19"/>
          <p:cNvSpPr/>
          <p:nvPr/>
        </p:nvSpPr>
        <p:spPr>
          <a:xfrm>
            <a:off x="2360981" y="3557016"/>
            <a:ext cx="667512" cy="292608"/>
          </a:xfrm>
          <a:prstGeom prst="roundRect">
            <a:avLst>
              <a:gd name="adj" fmla="val 50000"/>
            </a:avLst>
          </a:prstGeom>
          <a:solidFill>
            <a:srgbClr val="3A342A"/>
          </a:solidFill>
          <a:ln w="12700">
            <a:solidFill>
              <a:srgbClr val="E8590C"/>
            </a:solidFill>
            <a:prstDash val="solid"/>
          </a:ln>
        </p:spPr>
      </p:sp>
      <p:sp>
        <p:nvSpPr>
          <p:cNvPr id="22" name="Text 20"/>
          <p:cNvSpPr txBox="1"/>
          <p:nvPr/>
        </p:nvSpPr>
        <p:spPr>
          <a:xfrm>
            <a:off x="2360981" y="3557016"/>
            <a:ext cx="667512" cy="292608"/>
          </a:xfrm>
          <a:prstGeom prst="rect">
            <a:avLst/>
          </a:prstGeom>
          <a:noFill/>
          <a:ln/>
        </p:spPr>
        <p:txBody>
          <a:bodyPr wrap="square" lIns="0" tIns="0" rIns="0" bIns="0" rtlCol="0" anchor="ctr"/>
          <a:lstStyle/>
          <a:p>
            <a:pPr marL="0" indent="0" algn="ctr">
              <a:buNone/>
            </a:pPr>
            <a:r>
              <a:rPr lang="en-US" sz="1100" dirty="0">
                <a:solidFill>
                  <a:schemeClr val="bg1"/>
                </a:solidFill>
              </a:rPr>
              <a:t>Saves</a:t>
            </a:r>
            <a:endParaRPr lang="en-US" sz="1100" dirty="0"/>
          </a:p>
        </p:txBody>
      </p:sp>
      <p:sp>
        <p:nvSpPr>
          <p:cNvPr id="23" name="Shape 21"/>
          <p:cNvSpPr/>
          <p:nvPr/>
        </p:nvSpPr>
        <p:spPr>
          <a:xfrm>
            <a:off x="3119933" y="3557016"/>
            <a:ext cx="667512" cy="292608"/>
          </a:xfrm>
          <a:prstGeom prst="roundRect">
            <a:avLst>
              <a:gd name="adj" fmla="val 50000"/>
            </a:avLst>
          </a:prstGeom>
          <a:solidFill>
            <a:srgbClr val="3A342A"/>
          </a:solidFill>
          <a:ln w="12700">
            <a:solidFill>
              <a:srgbClr val="E8590C"/>
            </a:solidFill>
            <a:prstDash val="solid"/>
          </a:ln>
        </p:spPr>
      </p:sp>
      <p:sp>
        <p:nvSpPr>
          <p:cNvPr id="24" name="Text 22"/>
          <p:cNvSpPr txBox="1"/>
          <p:nvPr/>
        </p:nvSpPr>
        <p:spPr>
          <a:xfrm>
            <a:off x="3119933" y="3557016"/>
            <a:ext cx="667512" cy="292608"/>
          </a:xfrm>
          <a:prstGeom prst="rect">
            <a:avLst/>
          </a:prstGeom>
          <a:noFill/>
          <a:ln/>
        </p:spPr>
        <p:txBody>
          <a:bodyPr wrap="square" lIns="0" tIns="0" rIns="0" bIns="0" rtlCol="0" anchor="ctr"/>
          <a:lstStyle/>
          <a:p>
            <a:pPr marL="0" indent="0" algn="ctr">
              <a:buNone/>
            </a:pPr>
            <a:r>
              <a:rPr lang="en-US" sz="1100" dirty="0">
                <a:solidFill>
                  <a:schemeClr val="bg1"/>
                </a:solidFill>
              </a:rPr>
              <a:t>Reach</a:t>
            </a:r>
            <a:endParaRPr lang="en-US" sz="1100" dirty="0"/>
          </a:p>
        </p:txBody>
      </p:sp>
      <p:sp>
        <p:nvSpPr>
          <p:cNvPr id="25" name="Shape 23"/>
          <p:cNvSpPr/>
          <p:nvPr/>
        </p:nvSpPr>
        <p:spPr>
          <a:xfrm>
            <a:off x="4754880" y="3223260"/>
            <a:ext cx="2697480" cy="0"/>
          </a:xfrm>
          <a:prstGeom prst="line">
            <a:avLst/>
          </a:prstGeom>
          <a:noFill/>
          <a:ln w="25400">
            <a:solidFill>
              <a:srgbClr val="E8590C"/>
            </a:solidFill>
            <a:prstDash val="dash"/>
          </a:ln>
        </p:spPr>
      </p:sp>
      <p:sp>
        <p:nvSpPr>
          <p:cNvPr id="26" name="No control plane label bg"/>
          <p:cNvSpPr/>
          <p:nvPr/>
        </p:nvSpPr>
        <p:spPr>
          <a:xfrm>
            <a:off x="5166360" y="3022092"/>
            <a:ext cx="1874520" cy="402336"/>
          </a:xfrm>
          <a:prstGeom prst="roundRect">
            <a:avLst>
              <a:gd name="adj" fmla="val 11364"/>
            </a:avLst>
          </a:prstGeom>
          <a:solidFill>
            <a:srgbClr val="1F1A12"/>
          </a:solidFill>
          <a:ln/>
        </p:spPr>
      </p:sp>
      <p:sp>
        <p:nvSpPr>
          <p:cNvPr id="27" name="Text 25"/>
          <p:cNvSpPr txBox="1"/>
          <p:nvPr/>
        </p:nvSpPr>
        <p:spPr>
          <a:xfrm>
            <a:off x="5166360" y="3022092"/>
            <a:ext cx="1874520" cy="402336"/>
          </a:xfrm>
          <a:prstGeom prst="rect">
            <a:avLst/>
          </a:prstGeom>
          <a:noFill/>
          <a:ln/>
        </p:spPr>
        <p:txBody>
          <a:bodyPr wrap="square" lIns="0" tIns="0" rIns="0" bIns="0" rtlCol="0" anchor="ctr"/>
          <a:lstStyle/>
          <a:p>
            <a:pPr marL="0" indent="0" algn="ctr">
              <a:buNone/>
            </a:pPr>
            <a:r>
              <a:rPr lang="en-US" sz="1200" b="1" kern="0" spc="200" dirty="0">
                <a:solidFill>
                  <a:schemeClr val="accent1"/>
                </a:solidFill>
              </a:rPr>
              <a:t>NO CONTROL PLANE</a:t>
            </a:r>
            <a:endParaRPr lang="en-US" sz="1200" dirty="0"/>
          </a:p>
        </p:txBody>
      </p:sp>
      <p:sp>
        <p:nvSpPr>
          <p:cNvPr id="28" name="Decisions panel"/>
          <p:cNvSpPr/>
          <p:nvPr/>
        </p:nvSpPr>
        <p:spPr>
          <a:xfrm>
            <a:off x="7616952" y="2331720"/>
            <a:ext cx="4023360" cy="1783080"/>
          </a:xfrm>
          <a:prstGeom prst="roundRect">
            <a:avLst>
              <a:gd name="adj" fmla="val 4103"/>
            </a:avLst>
          </a:prstGeom>
          <a:solidFill>
            <a:srgbClr val="2E2920"/>
          </a:solidFill>
          <a:ln w="12700">
            <a:solidFill>
              <a:srgbClr val="4A4336"/>
            </a:solidFill>
            <a:prstDash val="solid"/>
          </a:ln>
        </p:spPr>
      </p:sp>
      <p:sp>
        <p:nvSpPr>
          <p:cNvPr id="29" name="Text 27"/>
          <p:cNvSpPr txBox="1"/>
          <p:nvPr/>
        </p:nvSpPr>
        <p:spPr>
          <a:xfrm>
            <a:off x="7845552" y="2468880"/>
            <a:ext cx="2743200" cy="228600"/>
          </a:xfrm>
          <a:prstGeom prst="rect">
            <a:avLst/>
          </a:prstGeom>
          <a:noFill/>
          <a:ln/>
        </p:spPr>
        <p:txBody>
          <a:bodyPr wrap="square" lIns="0" tIns="0" rIns="0" bIns="0" rtlCol="0" anchor="t"/>
          <a:lstStyle/>
          <a:p>
            <a:pPr marL="0" indent="0">
              <a:buNone/>
            </a:pPr>
            <a:r>
              <a:rPr lang="en-US" sz="1100" b="1" kern="0" spc="300" dirty="0">
                <a:solidFill>
                  <a:schemeClr val="accent4"/>
                </a:solidFill>
              </a:rPr>
              <a:t>DECISIONS</a:t>
            </a:r>
            <a:endParaRPr lang="en-US" sz="1100" dirty="0"/>
          </a:p>
        </p:txBody>
      </p:sp>
      <p:sp>
        <p:nvSpPr>
          <p:cNvPr id="30" name="Shape 28"/>
          <p:cNvSpPr/>
          <p:nvPr/>
        </p:nvSpPr>
        <p:spPr>
          <a:xfrm>
            <a:off x="7845552" y="2880360"/>
            <a:ext cx="1371600" cy="365760"/>
          </a:xfrm>
          <a:prstGeom prst="roundRect">
            <a:avLst>
              <a:gd name="adj" fmla="val 50000"/>
            </a:avLst>
          </a:prstGeom>
          <a:solidFill>
            <a:srgbClr val="E8590C"/>
          </a:solidFill>
          <a:ln/>
        </p:spPr>
      </p:sp>
      <p:sp>
        <p:nvSpPr>
          <p:cNvPr id="31" name="Text 29"/>
          <p:cNvSpPr txBox="1"/>
          <p:nvPr/>
        </p:nvSpPr>
        <p:spPr>
          <a:xfrm>
            <a:off x="7845552" y="2880360"/>
            <a:ext cx="1371600" cy="365760"/>
          </a:xfrm>
          <a:prstGeom prst="rect">
            <a:avLst/>
          </a:prstGeom>
          <a:noFill/>
          <a:ln/>
        </p:spPr>
        <p:txBody>
          <a:bodyPr wrap="square" lIns="0" tIns="0" rIns="0" bIns="0" rtlCol="0" anchor="ctr"/>
          <a:lstStyle/>
          <a:p>
            <a:pPr marL="0" indent="0" algn="ctr">
              <a:buNone/>
            </a:pPr>
            <a:r>
              <a:rPr lang="en-US" sz="1300" b="1" dirty="0">
                <a:solidFill>
                  <a:schemeClr val="bg1"/>
                </a:solidFill>
              </a:rPr>
              <a:t>Pause an ad</a:t>
            </a:r>
            <a:endParaRPr lang="en-US" sz="1300" dirty="0"/>
          </a:p>
        </p:txBody>
      </p:sp>
      <p:sp>
        <p:nvSpPr>
          <p:cNvPr id="32" name="Shape 30"/>
          <p:cNvSpPr/>
          <p:nvPr/>
        </p:nvSpPr>
        <p:spPr>
          <a:xfrm>
            <a:off x="9326880" y="2880360"/>
            <a:ext cx="1417320" cy="365760"/>
          </a:xfrm>
          <a:prstGeom prst="roundRect">
            <a:avLst>
              <a:gd name="adj" fmla="val 50000"/>
            </a:avLst>
          </a:prstGeom>
          <a:solidFill>
            <a:srgbClr val="E8590C"/>
          </a:solidFill>
          <a:ln/>
        </p:spPr>
      </p:sp>
      <p:sp>
        <p:nvSpPr>
          <p:cNvPr id="33" name="Text 31"/>
          <p:cNvSpPr txBox="1"/>
          <p:nvPr/>
        </p:nvSpPr>
        <p:spPr>
          <a:xfrm>
            <a:off x="9326880" y="2880360"/>
            <a:ext cx="1417320" cy="365760"/>
          </a:xfrm>
          <a:prstGeom prst="rect">
            <a:avLst/>
          </a:prstGeom>
          <a:noFill/>
          <a:ln/>
        </p:spPr>
        <p:txBody>
          <a:bodyPr wrap="square" lIns="0" tIns="0" rIns="0" bIns="0" rtlCol="0" anchor="ctr"/>
          <a:lstStyle/>
          <a:p>
            <a:pPr marL="0" indent="0" algn="ctr">
              <a:buNone/>
            </a:pPr>
            <a:r>
              <a:rPr lang="en-US" sz="1300" b="1" dirty="0">
                <a:solidFill>
                  <a:schemeClr val="bg1"/>
                </a:solidFill>
              </a:rPr>
              <a:t>Move budget</a:t>
            </a:r>
            <a:endParaRPr lang="en-US" sz="1300" dirty="0"/>
          </a:p>
        </p:txBody>
      </p:sp>
      <p:sp>
        <p:nvSpPr>
          <p:cNvPr id="34" name="Text 32"/>
          <p:cNvSpPr txBox="1"/>
          <p:nvPr/>
        </p:nvSpPr>
        <p:spPr>
          <a:xfrm>
            <a:off x="7845552" y="3429000"/>
            <a:ext cx="3566160" cy="320040"/>
          </a:xfrm>
          <a:prstGeom prst="rect">
            <a:avLst/>
          </a:prstGeom>
          <a:noFill/>
          <a:ln/>
        </p:spPr>
        <p:txBody>
          <a:bodyPr wrap="square" lIns="0" tIns="0" rIns="0" bIns="0" rtlCol="0" anchor="t"/>
          <a:lstStyle/>
          <a:p>
            <a:pPr marL="0" indent="0">
              <a:buNone/>
            </a:pPr>
            <a:r>
              <a:rPr lang="en-US" sz="1500" i="1" dirty="0">
                <a:solidFill>
                  <a:schemeClr val="bg2"/>
                </a:solidFill>
              </a:rPr>
              <a:t>A few decisions, made late.</a:t>
            </a:r>
            <a:endParaRPr lang="en-US" sz="1500" dirty="0"/>
          </a:p>
        </p:txBody>
      </p:sp>
      <p:sp>
        <p:nvSpPr>
          <p:cNvPr id="35" name="Text 33"/>
          <p:cNvSpPr txBox="1"/>
          <p:nvPr/>
        </p:nvSpPr>
        <p:spPr>
          <a:xfrm>
            <a:off x="548640" y="4389120"/>
            <a:ext cx="45720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WHAT SLIPS THROUGH</a:t>
            </a:r>
            <a:endParaRPr lang="en-US" sz="1200" dirty="0"/>
          </a:p>
        </p:txBody>
      </p:sp>
      <p:sp>
        <p:nvSpPr>
          <p:cNvPr id="36" name="Slip card 1"/>
          <p:cNvSpPr/>
          <p:nvPr/>
        </p:nvSpPr>
        <p:spPr>
          <a:xfrm>
            <a:off x="548640" y="4754880"/>
            <a:ext cx="2633472" cy="1417320"/>
          </a:xfrm>
          <a:prstGeom prst="roundRect">
            <a:avLst>
              <a:gd name="adj" fmla="val 5161"/>
            </a:avLst>
          </a:prstGeom>
          <a:solidFill>
            <a:srgbClr val="2E2920"/>
          </a:solidFill>
          <a:ln w="12700">
            <a:solidFill>
              <a:srgbClr val="4A4336"/>
            </a:solidFill>
            <a:prstDash val="solid"/>
          </a:ln>
        </p:spPr>
      </p:sp>
      <p:pic>
        <p:nvPicPr>
          <p:cNvPr id="37" name="Image 0" descr="Bell icon"/>
          <p:cNvPicPr>
            <a:picLocks noChangeAspect="1"/>
          </p:cNvPicPr>
          <p:nvPr/>
        </p:nvPicPr>
        <p:blipFill>
          <a:blip r:embed="rId3"/>
          <a:stretch>
            <a:fillRect/>
          </a:stretch>
        </p:blipFill>
        <p:spPr>
          <a:xfrm>
            <a:off x="749808" y="4864608"/>
            <a:ext cx="310896" cy="310896"/>
          </a:xfrm>
          <a:prstGeom prst="rect">
            <a:avLst/>
          </a:prstGeom>
        </p:spPr>
      </p:pic>
      <p:sp>
        <p:nvSpPr>
          <p:cNvPr id="38" name="Text 35"/>
          <p:cNvSpPr txBox="1"/>
          <p:nvPr/>
        </p:nvSpPr>
        <p:spPr>
          <a:xfrm>
            <a:off x="749808" y="5248656"/>
            <a:ext cx="2231136" cy="274320"/>
          </a:xfrm>
          <a:prstGeom prst="rect">
            <a:avLst/>
          </a:prstGeom>
          <a:noFill/>
          <a:ln/>
        </p:spPr>
        <p:txBody>
          <a:bodyPr wrap="square" lIns="0" tIns="0" rIns="0" bIns="0" rtlCol="0" anchor="t"/>
          <a:lstStyle/>
          <a:p>
            <a:pPr marL="0" indent="0">
              <a:buNone/>
            </a:pPr>
            <a:r>
              <a:rPr lang="en-US" sz="1500" b="1" dirty="0">
                <a:solidFill>
                  <a:schemeClr val="bg1"/>
                </a:solidFill>
              </a:rPr>
              <a:t>Tired ads keep running</a:t>
            </a:r>
            <a:endParaRPr lang="en-US" sz="1500" dirty="0"/>
          </a:p>
        </p:txBody>
      </p:sp>
      <p:sp>
        <p:nvSpPr>
          <p:cNvPr id="39" name="Text 36"/>
          <p:cNvSpPr txBox="1"/>
          <p:nvPr/>
        </p:nvSpPr>
        <p:spPr>
          <a:xfrm>
            <a:off x="749808" y="5559552"/>
            <a:ext cx="2231136" cy="548640"/>
          </a:xfrm>
          <a:prstGeom prst="rect">
            <a:avLst/>
          </a:prstGeom>
          <a:noFill/>
          <a:ln/>
        </p:spPr>
        <p:txBody>
          <a:bodyPr wrap="square" lIns="0" tIns="0" rIns="0" bIns="0" rtlCol="0" anchor="t"/>
          <a:lstStyle/>
          <a:p>
            <a:pPr marL="0" indent="0">
              <a:buNone/>
            </a:pPr>
            <a:r>
              <a:rPr lang="en-US" sz="1400" dirty="0">
                <a:solidFill>
                  <a:schemeClr val="bg2"/>
                </a:solidFill>
              </a:rPr>
              <a:t>People have seen them too many times and stop clicking.</a:t>
            </a:r>
            <a:endParaRPr lang="en-US" sz="1400" dirty="0"/>
          </a:p>
        </p:txBody>
      </p:sp>
      <p:sp>
        <p:nvSpPr>
          <p:cNvPr id="40" name="Slip card 2"/>
          <p:cNvSpPr/>
          <p:nvPr/>
        </p:nvSpPr>
        <p:spPr>
          <a:xfrm>
            <a:off x="3368954" y="4754880"/>
            <a:ext cx="2633472" cy="1417320"/>
          </a:xfrm>
          <a:prstGeom prst="roundRect">
            <a:avLst>
              <a:gd name="adj" fmla="val 5161"/>
            </a:avLst>
          </a:prstGeom>
          <a:solidFill>
            <a:srgbClr val="2E2920"/>
          </a:solidFill>
          <a:ln w="12700">
            <a:solidFill>
              <a:srgbClr val="4A4336"/>
            </a:solidFill>
            <a:prstDash val="solid"/>
          </a:ln>
        </p:spPr>
      </p:sp>
      <p:pic>
        <p:nvPicPr>
          <p:cNvPr id="41" name="Image 1" descr="Wallet icon"/>
          <p:cNvPicPr>
            <a:picLocks noChangeAspect="1"/>
          </p:cNvPicPr>
          <p:nvPr/>
        </p:nvPicPr>
        <p:blipFill>
          <a:blip r:embed="rId4"/>
          <a:stretch>
            <a:fillRect/>
          </a:stretch>
        </p:blipFill>
        <p:spPr>
          <a:xfrm>
            <a:off x="3570122" y="4864608"/>
            <a:ext cx="310896" cy="310896"/>
          </a:xfrm>
          <a:prstGeom prst="rect">
            <a:avLst/>
          </a:prstGeom>
        </p:spPr>
      </p:pic>
      <p:sp>
        <p:nvSpPr>
          <p:cNvPr id="42" name="Text 38"/>
          <p:cNvSpPr txBox="1"/>
          <p:nvPr/>
        </p:nvSpPr>
        <p:spPr>
          <a:xfrm>
            <a:off x="3570122" y="5248656"/>
            <a:ext cx="2231136" cy="274320"/>
          </a:xfrm>
          <a:prstGeom prst="rect">
            <a:avLst/>
          </a:prstGeom>
          <a:noFill/>
          <a:ln/>
        </p:spPr>
        <p:txBody>
          <a:bodyPr wrap="square" lIns="0" tIns="0" rIns="0" bIns="0" rtlCol="0" anchor="t"/>
          <a:lstStyle/>
          <a:p>
            <a:pPr marL="0" indent="0">
              <a:buNone/>
            </a:pPr>
            <a:r>
              <a:rPr lang="en-US" sz="1500" b="1" dirty="0">
                <a:solidFill>
                  <a:schemeClr val="bg1"/>
                </a:solidFill>
              </a:rPr>
              <a:t>Budget leaks</a:t>
            </a:r>
            <a:endParaRPr lang="en-US" sz="1500" dirty="0"/>
          </a:p>
        </p:txBody>
      </p:sp>
      <p:sp>
        <p:nvSpPr>
          <p:cNvPr id="43" name="Text 39"/>
          <p:cNvSpPr txBox="1"/>
          <p:nvPr/>
        </p:nvSpPr>
        <p:spPr>
          <a:xfrm>
            <a:off x="3570122" y="5559552"/>
            <a:ext cx="2231136" cy="548640"/>
          </a:xfrm>
          <a:prstGeom prst="rect">
            <a:avLst/>
          </a:prstGeom>
          <a:noFill/>
          <a:ln/>
        </p:spPr>
        <p:txBody>
          <a:bodyPr wrap="square" lIns="0" tIns="0" rIns="0" bIns="0" rtlCol="0" anchor="t"/>
          <a:lstStyle/>
          <a:p>
            <a:pPr marL="0" indent="0">
              <a:buNone/>
            </a:pPr>
            <a:r>
              <a:rPr lang="en-US" sz="1400" dirty="0">
                <a:solidFill>
                  <a:schemeClr val="bg2"/>
                </a:solidFill>
              </a:rPr>
              <a:t>Money keeps flowing to what is not working.</a:t>
            </a:r>
            <a:endParaRPr lang="en-US" sz="1400" dirty="0"/>
          </a:p>
        </p:txBody>
      </p:sp>
      <p:sp>
        <p:nvSpPr>
          <p:cNvPr id="44" name="Slip card 3"/>
          <p:cNvSpPr/>
          <p:nvPr/>
        </p:nvSpPr>
        <p:spPr>
          <a:xfrm>
            <a:off x="6189269" y="4754880"/>
            <a:ext cx="2633472" cy="1417320"/>
          </a:xfrm>
          <a:prstGeom prst="roundRect">
            <a:avLst>
              <a:gd name="adj" fmla="val 5161"/>
            </a:avLst>
          </a:prstGeom>
          <a:solidFill>
            <a:srgbClr val="2E2920"/>
          </a:solidFill>
          <a:ln w="12700">
            <a:solidFill>
              <a:srgbClr val="4A4336"/>
            </a:solidFill>
            <a:prstDash val="solid"/>
          </a:ln>
        </p:spPr>
      </p:sp>
      <p:pic>
        <p:nvPicPr>
          <p:cNvPr id="45" name="Image 2" descr="UserMinus icon"/>
          <p:cNvPicPr>
            <a:picLocks noChangeAspect="1"/>
          </p:cNvPicPr>
          <p:nvPr/>
        </p:nvPicPr>
        <p:blipFill>
          <a:blip r:embed="rId5"/>
          <a:stretch>
            <a:fillRect/>
          </a:stretch>
        </p:blipFill>
        <p:spPr>
          <a:xfrm>
            <a:off x="6390437" y="4864608"/>
            <a:ext cx="310896" cy="310896"/>
          </a:xfrm>
          <a:prstGeom prst="rect">
            <a:avLst/>
          </a:prstGeom>
        </p:spPr>
      </p:pic>
      <p:sp>
        <p:nvSpPr>
          <p:cNvPr id="46" name="Text 41"/>
          <p:cNvSpPr txBox="1"/>
          <p:nvPr/>
        </p:nvSpPr>
        <p:spPr>
          <a:xfrm>
            <a:off x="6390437" y="5248656"/>
            <a:ext cx="2231136" cy="274320"/>
          </a:xfrm>
          <a:prstGeom prst="rect">
            <a:avLst/>
          </a:prstGeom>
          <a:noFill/>
          <a:ln/>
        </p:spPr>
        <p:txBody>
          <a:bodyPr wrap="square" lIns="0" tIns="0" rIns="0" bIns="0" rtlCol="0" anchor="t"/>
          <a:lstStyle/>
          <a:p>
            <a:pPr marL="0" indent="0">
              <a:buNone/>
            </a:pPr>
            <a:r>
              <a:rPr lang="en-US" sz="1500" b="1" dirty="0">
                <a:solidFill>
                  <a:schemeClr val="bg1"/>
                </a:solidFill>
              </a:rPr>
              <a:t>Buyers slip away</a:t>
            </a:r>
            <a:endParaRPr lang="en-US" sz="1500" dirty="0"/>
          </a:p>
        </p:txBody>
      </p:sp>
      <p:sp>
        <p:nvSpPr>
          <p:cNvPr id="47" name="Text 42"/>
          <p:cNvSpPr txBox="1"/>
          <p:nvPr/>
        </p:nvSpPr>
        <p:spPr>
          <a:xfrm>
            <a:off x="6390437" y="5559552"/>
            <a:ext cx="2231136" cy="548640"/>
          </a:xfrm>
          <a:prstGeom prst="rect">
            <a:avLst/>
          </a:prstGeom>
          <a:noFill/>
          <a:ln/>
        </p:spPr>
        <p:txBody>
          <a:bodyPr wrap="square" lIns="0" tIns="0" rIns="0" bIns="0" rtlCol="0" anchor="t"/>
          <a:lstStyle/>
          <a:p>
            <a:pPr marL="0" indent="0">
              <a:buNone/>
            </a:pPr>
            <a:r>
              <a:rPr lang="en-US" sz="1400" dirty="0">
                <a:solidFill>
                  <a:schemeClr val="bg2"/>
                </a:solidFill>
              </a:rPr>
              <a:t>Customers about to leave go unnoticed.</a:t>
            </a:r>
            <a:endParaRPr lang="en-US" sz="1400" dirty="0"/>
          </a:p>
        </p:txBody>
      </p:sp>
      <p:sp>
        <p:nvSpPr>
          <p:cNvPr id="48" name="Slip card 4"/>
          <p:cNvSpPr/>
          <p:nvPr/>
        </p:nvSpPr>
        <p:spPr>
          <a:xfrm>
            <a:off x="9009583" y="4754880"/>
            <a:ext cx="2633472" cy="1417320"/>
          </a:xfrm>
          <a:prstGeom prst="roundRect">
            <a:avLst>
              <a:gd name="adj" fmla="val 5161"/>
            </a:avLst>
          </a:prstGeom>
          <a:solidFill>
            <a:srgbClr val="2E2920"/>
          </a:solidFill>
          <a:ln w="12700">
            <a:solidFill>
              <a:srgbClr val="4A4336"/>
            </a:solidFill>
            <a:prstDash val="solid"/>
          </a:ln>
        </p:spPr>
      </p:sp>
      <p:pic>
        <p:nvPicPr>
          <p:cNvPr id="49" name="Image 3" descr="TrendingUp icon"/>
          <p:cNvPicPr>
            <a:picLocks noChangeAspect="1"/>
          </p:cNvPicPr>
          <p:nvPr/>
        </p:nvPicPr>
        <p:blipFill>
          <a:blip r:embed="rId6"/>
          <a:stretch>
            <a:fillRect/>
          </a:stretch>
        </p:blipFill>
        <p:spPr>
          <a:xfrm>
            <a:off x="9210751" y="4864608"/>
            <a:ext cx="310896" cy="310896"/>
          </a:xfrm>
          <a:prstGeom prst="rect">
            <a:avLst/>
          </a:prstGeom>
        </p:spPr>
      </p:pic>
      <p:sp>
        <p:nvSpPr>
          <p:cNvPr id="50" name="Text 44"/>
          <p:cNvSpPr txBox="1"/>
          <p:nvPr/>
        </p:nvSpPr>
        <p:spPr>
          <a:xfrm>
            <a:off x="9210751" y="5248656"/>
            <a:ext cx="2231136" cy="274320"/>
          </a:xfrm>
          <a:prstGeom prst="rect">
            <a:avLst/>
          </a:prstGeom>
          <a:noFill/>
          <a:ln/>
        </p:spPr>
        <p:txBody>
          <a:bodyPr wrap="square" lIns="0" tIns="0" rIns="0" bIns="0" rtlCol="0" anchor="t"/>
          <a:lstStyle/>
          <a:p>
            <a:pPr marL="0" indent="0">
              <a:buNone/>
            </a:pPr>
            <a:r>
              <a:rPr lang="en-US" sz="1500" b="1" dirty="0">
                <a:solidFill>
                  <a:schemeClr val="bg1"/>
                </a:solidFill>
              </a:rPr>
              <a:t>Winners scale too late</a:t>
            </a:r>
            <a:endParaRPr lang="en-US" sz="1500" dirty="0"/>
          </a:p>
        </p:txBody>
      </p:sp>
      <p:sp>
        <p:nvSpPr>
          <p:cNvPr id="51" name="Text 45"/>
          <p:cNvSpPr txBox="1"/>
          <p:nvPr/>
        </p:nvSpPr>
        <p:spPr>
          <a:xfrm>
            <a:off x="9210751" y="5559552"/>
            <a:ext cx="2231136" cy="548640"/>
          </a:xfrm>
          <a:prstGeom prst="rect">
            <a:avLst/>
          </a:prstGeom>
          <a:noFill/>
          <a:ln/>
        </p:spPr>
        <p:txBody>
          <a:bodyPr wrap="square" lIns="0" tIns="0" rIns="0" bIns="0" rtlCol="0" anchor="t"/>
          <a:lstStyle/>
          <a:p>
            <a:pPr marL="0" indent="0">
              <a:buNone/>
            </a:pPr>
            <a:r>
              <a:rPr lang="en-US" sz="1400" dirty="0">
                <a:solidFill>
                  <a:schemeClr val="bg2"/>
                </a:solidFill>
              </a:rPr>
              <a:t>Ads that work do not get more budget in time.</a:t>
            </a:r>
            <a:endParaRPr lang="en-US" sz="1400" dirty="0"/>
          </a:p>
        </p:txBody>
      </p:sp>
      <p:sp>
        <p:nvSpPr>
          <p:cNvPr id="52"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THE CONTROL PLANE</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tx1"/>
                </a:solidFill>
              </a:rPr>
              <a:t>So we built the cockpit: every signal in, every decision out</a:t>
            </a:r>
            <a:endParaRPr lang="en-US" sz="3200" dirty="0"/>
          </a:p>
        </p:txBody>
      </p:sp>
      <p:sp>
        <p:nvSpPr>
          <p:cNvPr id="4" name="Text 2"/>
          <p:cNvSpPr txBox="1"/>
          <p:nvPr/>
        </p:nvSpPr>
        <p:spPr>
          <a:xfrm>
            <a:off x="548640" y="2103120"/>
            <a:ext cx="27432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SIGNALS IN</a:t>
            </a:r>
            <a:endParaRPr lang="en-US" sz="1200" dirty="0"/>
          </a:p>
        </p:txBody>
      </p:sp>
      <p:sp>
        <p:nvSpPr>
          <p:cNvPr id="5" name="Signal Ads"/>
          <p:cNvSpPr/>
          <p:nvPr/>
        </p:nvSpPr>
        <p:spPr>
          <a:xfrm>
            <a:off x="548640" y="2468880"/>
            <a:ext cx="3017520" cy="786384"/>
          </a:xfrm>
          <a:prstGeom prst="roundRect">
            <a:avLst>
              <a:gd name="adj" fmla="val 9302"/>
            </a:avLst>
          </a:prstGeom>
          <a:solidFill>
            <a:srgbClr val="F2EFE9"/>
          </a:solidFill>
          <a:ln/>
        </p:spPr>
      </p:sp>
      <p:pic>
        <p:nvPicPr>
          <p:cNvPr id="6" name="Image 0" descr="Megaphone icon"/>
          <p:cNvPicPr>
            <a:picLocks noChangeAspect="1"/>
          </p:cNvPicPr>
          <p:nvPr/>
        </p:nvPicPr>
        <p:blipFill>
          <a:blip r:embed="rId3"/>
          <a:stretch>
            <a:fillRect/>
          </a:stretch>
        </p:blipFill>
        <p:spPr>
          <a:xfrm>
            <a:off x="749808" y="2679192"/>
            <a:ext cx="365760" cy="365760"/>
          </a:xfrm>
          <a:prstGeom prst="rect">
            <a:avLst/>
          </a:prstGeom>
        </p:spPr>
      </p:pic>
      <p:sp>
        <p:nvSpPr>
          <p:cNvPr id="7" name="Text 4"/>
          <p:cNvSpPr txBox="1"/>
          <p:nvPr/>
        </p:nvSpPr>
        <p:spPr>
          <a:xfrm>
            <a:off x="1325880" y="2578608"/>
            <a:ext cx="2103120" cy="274320"/>
          </a:xfrm>
          <a:prstGeom prst="rect">
            <a:avLst/>
          </a:prstGeom>
          <a:noFill/>
          <a:ln/>
        </p:spPr>
        <p:txBody>
          <a:bodyPr wrap="square" lIns="0" tIns="0" rIns="0" bIns="0" rtlCol="0" anchor="t"/>
          <a:lstStyle/>
          <a:p>
            <a:pPr marL="0" indent="0">
              <a:buNone/>
            </a:pPr>
            <a:r>
              <a:rPr lang="en-US" sz="1600" b="1" dirty="0">
                <a:solidFill>
                  <a:schemeClr val="tx1"/>
                </a:solidFill>
              </a:rPr>
              <a:t>Ads</a:t>
            </a:r>
            <a:endParaRPr lang="en-US" sz="1600" dirty="0"/>
          </a:p>
        </p:txBody>
      </p:sp>
      <p:sp>
        <p:nvSpPr>
          <p:cNvPr id="8" name="Text 5"/>
          <p:cNvSpPr txBox="1"/>
          <p:nvPr/>
        </p:nvSpPr>
        <p:spPr>
          <a:xfrm>
            <a:off x="1325880" y="2880360"/>
            <a:ext cx="2103120" cy="274320"/>
          </a:xfrm>
          <a:prstGeom prst="rect">
            <a:avLst/>
          </a:prstGeom>
          <a:noFill/>
          <a:ln/>
        </p:spPr>
        <p:txBody>
          <a:bodyPr wrap="square" lIns="0" tIns="0" rIns="0" bIns="0" rtlCol="0" anchor="t"/>
          <a:lstStyle/>
          <a:p>
            <a:pPr marL="0" indent="0">
              <a:buNone/>
            </a:pPr>
            <a:r>
              <a:rPr lang="en-US" sz="1400" dirty="0">
                <a:solidFill>
                  <a:schemeClr val="tx2"/>
                </a:solidFill>
              </a:rPr>
              <a:t>every platform</a:t>
            </a:r>
            <a:endParaRPr lang="en-US" sz="1400" dirty="0"/>
          </a:p>
        </p:txBody>
      </p:sp>
      <p:sp>
        <p:nvSpPr>
          <p:cNvPr id="9" name="Signal Website"/>
          <p:cNvSpPr/>
          <p:nvPr/>
        </p:nvSpPr>
        <p:spPr>
          <a:xfrm>
            <a:off x="548640" y="3374136"/>
            <a:ext cx="3017520" cy="786384"/>
          </a:xfrm>
          <a:prstGeom prst="roundRect">
            <a:avLst>
              <a:gd name="adj" fmla="val 9302"/>
            </a:avLst>
          </a:prstGeom>
          <a:solidFill>
            <a:srgbClr val="F2EFE9"/>
          </a:solidFill>
          <a:ln/>
        </p:spPr>
      </p:sp>
      <p:pic>
        <p:nvPicPr>
          <p:cNvPr id="10" name="Image 1" descr="Globe icon"/>
          <p:cNvPicPr>
            <a:picLocks noChangeAspect="1"/>
          </p:cNvPicPr>
          <p:nvPr/>
        </p:nvPicPr>
        <p:blipFill>
          <a:blip r:embed="rId4"/>
          <a:stretch>
            <a:fillRect/>
          </a:stretch>
        </p:blipFill>
        <p:spPr>
          <a:xfrm>
            <a:off x="749808" y="3584448"/>
            <a:ext cx="365760" cy="365760"/>
          </a:xfrm>
          <a:prstGeom prst="rect">
            <a:avLst/>
          </a:prstGeom>
        </p:spPr>
      </p:pic>
      <p:sp>
        <p:nvSpPr>
          <p:cNvPr id="11" name="Text 7"/>
          <p:cNvSpPr txBox="1"/>
          <p:nvPr/>
        </p:nvSpPr>
        <p:spPr>
          <a:xfrm>
            <a:off x="1325880" y="3483864"/>
            <a:ext cx="2103120" cy="274320"/>
          </a:xfrm>
          <a:prstGeom prst="rect">
            <a:avLst/>
          </a:prstGeom>
          <a:noFill/>
          <a:ln/>
        </p:spPr>
        <p:txBody>
          <a:bodyPr wrap="square" lIns="0" tIns="0" rIns="0" bIns="0" rtlCol="0" anchor="t"/>
          <a:lstStyle/>
          <a:p>
            <a:pPr marL="0" indent="0">
              <a:buNone/>
            </a:pPr>
            <a:r>
              <a:rPr lang="en-US" sz="1600" b="1" dirty="0">
                <a:solidFill>
                  <a:schemeClr val="tx1"/>
                </a:solidFill>
              </a:rPr>
              <a:t>Website</a:t>
            </a:r>
            <a:endParaRPr lang="en-US" sz="1600" dirty="0"/>
          </a:p>
        </p:txBody>
      </p:sp>
      <p:sp>
        <p:nvSpPr>
          <p:cNvPr id="12" name="Text 8"/>
          <p:cNvSpPr txBox="1"/>
          <p:nvPr/>
        </p:nvSpPr>
        <p:spPr>
          <a:xfrm>
            <a:off x="1325880" y="3785616"/>
            <a:ext cx="2103120" cy="274320"/>
          </a:xfrm>
          <a:prstGeom prst="rect">
            <a:avLst/>
          </a:prstGeom>
          <a:noFill/>
          <a:ln/>
        </p:spPr>
        <p:txBody>
          <a:bodyPr wrap="square" lIns="0" tIns="0" rIns="0" bIns="0" rtlCol="0" anchor="t"/>
          <a:lstStyle/>
          <a:p>
            <a:pPr marL="0" indent="0">
              <a:buNone/>
            </a:pPr>
            <a:r>
              <a:rPr lang="en-US" sz="1400" dirty="0">
                <a:solidFill>
                  <a:schemeClr val="tx2"/>
                </a:solidFill>
              </a:rPr>
              <a:t>funnel and analytics</a:t>
            </a:r>
            <a:endParaRPr lang="en-US" sz="1400" dirty="0"/>
          </a:p>
        </p:txBody>
      </p:sp>
      <p:sp>
        <p:nvSpPr>
          <p:cNvPr id="13" name="Signal Stores"/>
          <p:cNvSpPr/>
          <p:nvPr/>
        </p:nvSpPr>
        <p:spPr>
          <a:xfrm>
            <a:off x="548640" y="4279392"/>
            <a:ext cx="3017520" cy="786384"/>
          </a:xfrm>
          <a:prstGeom prst="roundRect">
            <a:avLst>
              <a:gd name="adj" fmla="val 9302"/>
            </a:avLst>
          </a:prstGeom>
          <a:solidFill>
            <a:srgbClr val="F2EFE9"/>
          </a:solidFill>
          <a:ln/>
        </p:spPr>
      </p:sp>
      <p:pic>
        <p:nvPicPr>
          <p:cNvPr id="14" name="Image 2" descr="Store icon"/>
          <p:cNvPicPr>
            <a:picLocks noChangeAspect="1"/>
          </p:cNvPicPr>
          <p:nvPr/>
        </p:nvPicPr>
        <p:blipFill>
          <a:blip r:embed="rId5"/>
          <a:stretch>
            <a:fillRect/>
          </a:stretch>
        </p:blipFill>
        <p:spPr>
          <a:xfrm>
            <a:off x="749808" y="4489704"/>
            <a:ext cx="365760" cy="365760"/>
          </a:xfrm>
          <a:prstGeom prst="rect">
            <a:avLst/>
          </a:prstGeom>
        </p:spPr>
      </p:pic>
      <p:sp>
        <p:nvSpPr>
          <p:cNvPr id="15" name="Text 10"/>
          <p:cNvSpPr txBox="1"/>
          <p:nvPr/>
        </p:nvSpPr>
        <p:spPr>
          <a:xfrm>
            <a:off x="1325880" y="4389120"/>
            <a:ext cx="2103120" cy="274320"/>
          </a:xfrm>
          <a:prstGeom prst="rect">
            <a:avLst/>
          </a:prstGeom>
          <a:noFill/>
          <a:ln/>
        </p:spPr>
        <p:txBody>
          <a:bodyPr wrap="square" lIns="0" tIns="0" rIns="0" bIns="0" rtlCol="0" anchor="t"/>
          <a:lstStyle/>
          <a:p>
            <a:pPr marL="0" indent="0">
              <a:buNone/>
            </a:pPr>
            <a:r>
              <a:rPr lang="en-US" sz="1600" b="1" dirty="0">
                <a:solidFill>
                  <a:schemeClr val="tx1"/>
                </a:solidFill>
              </a:rPr>
              <a:t>Stores</a:t>
            </a:r>
            <a:endParaRPr lang="en-US" sz="1600" dirty="0"/>
          </a:p>
        </p:txBody>
      </p:sp>
      <p:sp>
        <p:nvSpPr>
          <p:cNvPr id="16" name="Text 11"/>
          <p:cNvSpPr txBox="1"/>
          <p:nvPr/>
        </p:nvSpPr>
        <p:spPr>
          <a:xfrm>
            <a:off x="1325880" y="4690872"/>
            <a:ext cx="2103120" cy="274320"/>
          </a:xfrm>
          <a:prstGeom prst="rect">
            <a:avLst/>
          </a:prstGeom>
          <a:noFill/>
          <a:ln/>
        </p:spPr>
        <p:txBody>
          <a:bodyPr wrap="square" lIns="0" tIns="0" rIns="0" bIns="0" rtlCol="0" anchor="t"/>
          <a:lstStyle/>
          <a:p>
            <a:pPr marL="0" indent="0">
              <a:buNone/>
            </a:pPr>
            <a:r>
              <a:rPr lang="en-US" sz="1400" dirty="0">
                <a:solidFill>
                  <a:schemeClr val="tx2"/>
                </a:solidFill>
              </a:rPr>
              <a:t>footfall and reviews</a:t>
            </a:r>
            <a:endParaRPr lang="en-US" sz="1400" dirty="0"/>
          </a:p>
        </p:txBody>
      </p:sp>
      <p:sp>
        <p:nvSpPr>
          <p:cNvPr id="17" name="Signal Buyers"/>
          <p:cNvSpPr/>
          <p:nvPr/>
        </p:nvSpPr>
        <p:spPr>
          <a:xfrm>
            <a:off x="548640" y="5184648"/>
            <a:ext cx="3017520" cy="786384"/>
          </a:xfrm>
          <a:prstGeom prst="roundRect">
            <a:avLst>
              <a:gd name="adj" fmla="val 9302"/>
            </a:avLst>
          </a:prstGeom>
          <a:solidFill>
            <a:srgbClr val="F2EFE9"/>
          </a:solidFill>
          <a:ln/>
        </p:spPr>
      </p:sp>
      <p:pic>
        <p:nvPicPr>
          <p:cNvPr id="18" name="Image 3" descr="Users icon"/>
          <p:cNvPicPr>
            <a:picLocks noChangeAspect="1"/>
          </p:cNvPicPr>
          <p:nvPr/>
        </p:nvPicPr>
        <p:blipFill>
          <a:blip r:embed="rId6"/>
          <a:stretch>
            <a:fillRect/>
          </a:stretch>
        </p:blipFill>
        <p:spPr>
          <a:xfrm>
            <a:off x="749808" y="5394960"/>
            <a:ext cx="365760" cy="365760"/>
          </a:xfrm>
          <a:prstGeom prst="rect">
            <a:avLst/>
          </a:prstGeom>
        </p:spPr>
      </p:pic>
      <p:sp>
        <p:nvSpPr>
          <p:cNvPr id="19" name="Text 13"/>
          <p:cNvSpPr txBox="1"/>
          <p:nvPr/>
        </p:nvSpPr>
        <p:spPr>
          <a:xfrm>
            <a:off x="1325880" y="5294376"/>
            <a:ext cx="2103120" cy="274320"/>
          </a:xfrm>
          <a:prstGeom prst="rect">
            <a:avLst/>
          </a:prstGeom>
          <a:noFill/>
          <a:ln/>
        </p:spPr>
        <p:txBody>
          <a:bodyPr wrap="square" lIns="0" tIns="0" rIns="0" bIns="0" rtlCol="0" anchor="t"/>
          <a:lstStyle/>
          <a:p>
            <a:pPr marL="0" indent="0">
              <a:buNone/>
            </a:pPr>
            <a:r>
              <a:rPr lang="en-US" sz="1600" b="1" dirty="0">
                <a:solidFill>
                  <a:schemeClr val="tx1"/>
                </a:solidFill>
              </a:rPr>
              <a:t>Buyers</a:t>
            </a:r>
            <a:endParaRPr lang="en-US" sz="1600" dirty="0"/>
          </a:p>
        </p:txBody>
      </p:sp>
      <p:sp>
        <p:nvSpPr>
          <p:cNvPr id="20" name="Text 14"/>
          <p:cNvSpPr txBox="1"/>
          <p:nvPr/>
        </p:nvSpPr>
        <p:spPr>
          <a:xfrm>
            <a:off x="1325880" y="5596128"/>
            <a:ext cx="2103120" cy="274320"/>
          </a:xfrm>
          <a:prstGeom prst="rect">
            <a:avLst/>
          </a:prstGeom>
          <a:noFill/>
          <a:ln/>
        </p:spPr>
        <p:txBody>
          <a:bodyPr wrap="square" lIns="0" tIns="0" rIns="0" bIns="0" rtlCol="0" anchor="t"/>
          <a:lstStyle/>
          <a:p>
            <a:pPr marL="0" indent="0">
              <a:buNone/>
            </a:pPr>
            <a:r>
              <a:rPr lang="en-US" sz="1400" dirty="0">
                <a:solidFill>
                  <a:schemeClr val="tx2"/>
                </a:solidFill>
              </a:rPr>
              <a:t>CRM and support</a:t>
            </a:r>
            <a:endParaRPr lang="en-US" sz="1400" dirty="0"/>
          </a:p>
        </p:txBody>
      </p:sp>
      <p:pic>
        <p:nvPicPr>
          <p:cNvPr id="21" name="Image 4" descr="Arrow"/>
          <p:cNvPicPr>
            <a:picLocks noChangeAspect="1"/>
          </p:cNvPicPr>
          <p:nvPr/>
        </p:nvPicPr>
        <p:blipFill>
          <a:blip r:embed="rId7"/>
          <a:stretch>
            <a:fillRect/>
          </a:stretch>
        </p:blipFill>
        <p:spPr>
          <a:xfrm>
            <a:off x="3675888" y="4114800"/>
            <a:ext cx="329184" cy="329184"/>
          </a:xfrm>
          <a:prstGeom prst="rect">
            <a:avLst/>
          </a:prstGeom>
        </p:spPr>
      </p:pic>
      <p:sp>
        <p:nvSpPr>
          <p:cNvPr id="22" name="Text 15"/>
          <p:cNvSpPr txBox="1"/>
          <p:nvPr/>
        </p:nvSpPr>
        <p:spPr>
          <a:xfrm>
            <a:off x="4114800" y="2103120"/>
            <a:ext cx="27432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THE AGENTS</a:t>
            </a:r>
            <a:endParaRPr lang="en-US" sz="1200" dirty="0"/>
          </a:p>
        </p:txBody>
      </p:sp>
      <p:sp>
        <p:nvSpPr>
          <p:cNvPr id="23" name="Agents panel"/>
          <p:cNvSpPr/>
          <p:nvPr/>
        </p:nvSpPr>
        <p:spPr>
          <a:xfrm>
            <a:off x="4114800" y="2468880"/>
            <a:ext cx="3931920" cy="3502152"/>
          </a:xfrm>
          <a:prstGeom prst="roundRect">
            <a:avLst>
              <a:gd name="adj" fmla="val 2089"/>
            </a:avLst>
          </a:prstGeom>
          <a:solidFill>
            <a:srgbClr val="FFFFFF"/>
          </a:solidFill>
          <a:ln w="22225">
            <a:solidFill>
              <a:srgbClr val="E8590C"/>
            </a:solidFill>
            <a:prstDash val="solid"/>
          </a:ln>
        </p:spPr>
      </p:sp>
      <p:sp>
        <p:nvSpPr>
          <p:cNvPr id="24" name="Icon disc"/>
          <p:cNvSpPr/>
          <p:nvPr/>
        </p:nvSpPr>
        <p:spPr>
          <a:xfrm>
            <a:off x="4389120" y="2697480"/>
            <a:ext cx="621792" cy="621792"/>
          </a:xfrm>
          <a:prstGeom prst="ellipse">
            <a:avLst/>
          </a:prstGeom>
          <a:solidFill>
            <a:schemeClr val="accent1"/>
          </a:solidFill>
          <a:ln/>
        </p:spPr>
      </p:sp>
      <p:pic>
        <p:nvPicPr>
          <p:cNvPr id="25" name="Image 5" descr="Radar icon"/>
          <p:cNvPicPr>
            <a:picLocks noChangeAspect="1"/>
          </p:cNvPicPr>
          <p:nvPr/>
        </p:nvPicPr>
        <p:blipFill>
          <a:blip r:embed="rId8"/>
          <a:stretch>
            <a:fillRect/>
          </a:stretch>
        </p:blipFill>
        <p:spPr>
          <a:xfrm>
            <a:off x="4538350" y="2846710"/>
            <a:ext cx="323332" cy="323332"/>
          </a:xfrm>
          <a:prstGeom prst="rect">
            <a:avLst/>
          </a:prstGeom>
        </p:spPr>
      </p:pic>
      <p:sp>
        <p:nvSpPr>
          <p:cNvPr id="26" name="Text 18"/>
          <p:cNvSpPr txBox="1"/>
          <p:nvPr/>
        </p:nvSpPr>
        <p:spPr>
          <a:xfrm>
            <a:off x="5212080" y="2715768"/>
            <a:ext cx="2651760" cy="347472"/>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Monitor</a:t>
            </a:r>
            <a:endParaRPr lang="en-US" sz="2200" dirty="0"/>
          </a:p>
        </p:txBody>
      </p:sp>
      <p:sp>
        <p:nvSpPr>
          <p:cNvPr id="27" name="Text 19"/>
          <p:cNvSpPr txBox="1"/>
          <p:nvPr/>
        </p:nvSpPr>
        <p:spPr>
          <a:xfrm>
            <a:off x="5212080" y="3081528"/>
            <a:ext cx="2651760" cy="274320"/>
          </a:xfrm>
          <a:prstGeom prst="rect">
            <a:avLst/>
          </a:prstGeom>
          <a:noFill/>
          <a:ln/>
        </p:spPr>
        <p:txBody>
          <a:bodyPr wrap="square" lIns="0" tIns="0" rIns="0" bIns="0" rtlCol="0" anchor="t"/>
          <a:lstStyle/>
          <a:p>
            <a:pPr marL="0" indent="0">
              <a:buNone/>
            </a:pPr>
            <a:r>
              <a:rPr lang="en-US" sz="1400" dirty="0">
                <a:solidFill>
                  <a:schemeClr val="tx2"/>
                </a:solidFill>
              </a:rPr>
              <a:t>always on, across every signal</a:t>
            </a:r>
            <a:endParaRPr lang="en-US" sz="1400" dirty="0"/>
          </a:p>
        </p:txBody>
      </p:sp>
      <p:sp>
        <p:nvSpPr>
          <p:cNvPr id="28" name="Icon disc"/>
          <p:cNvSpPr/>
          <p:nvPr/>
        </p:nvSpPr>
        <p:spPr>
          <a:xfrm>
            <a:off x="4389120" y="3776472"/>
            <a:ext cx="621792" cy="621792"/>
          </a:xfrm>
          <a:prstGeom prst="ellipse">
            <a:avLst/>
          </a:prstGeom>
          <a:solidFill>
            <a:schemeClr val="accent1"/>
          </a:solidFill>
          <a:ln/>
        </p:spPr>
      </p:sp>
      <p:pic>
        <p:nvPicPr>
          <p:cNvPr id="29" name="Image 6" descr="ScanSearch icon"/>
          <p:cNvPicPr>
            <a:picLocks noChangeAspect="1"/>
          </p:cNvPicPr>
          <p:nvPr/>
        </p:nvPicPr>
        <p:blipFill>
          <a:blip r:embed="rId9"/>
          <a:stretch>
            <a:fillRect/>
          </a:stretch>
        </p:blipFill>
        <p:spPr>
          <a:xfrm>
            <a:off x="4538350" y="3925702"/>
            <a:ext cx="323332" cy="323332"/>
          </a:xfrm>
          <a:prstGeom prst="rect">
            <a:avLst/>
          </a:prstGeom>
        </p:spPr>
      </p:pic>
      <p:sp>
        <p:nvSpPr>
          <p:cNvPr id="30" name="Text 21"/>
          <p:cNvSpPr txBox="1"/>
          <p:nvPr/>
        </p:nvSpPr>
        <p:spPr>
          <a:xfrm>
            <a:off x="5212080" y="3794760"/>
            <a:ext cx="2651760" cy="347472"/>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Analyse</a:t>
            </a:r>
            <a:endParaRPr lang="en-US" sz="2200" dirty="0"/>
          </a:p>
        </p:txBody>
      </p:sp>
      <p:sp>
        <p:nvSpPr>
          <p:cNvPr id="31" name="Text 22"/>
          <p:cNvSpPr txBox="1"/>
          <p:nvPr/>
        </p:nvSpPr>
        <p:spPr>
          <a:xfrm>
            <a:off x="5212080" y="4160520"/>
            <a:ext cx="2651760" cy="274320"/>
          </a:xfrm>
          <a:prstGeom prst="rect">
            <a:avLst/>
          </a:prstGeom>
          <a:noFill/>
          <a:ln/>
        </p:spPr>
        <p:txBody>
          <a:bodyPr wrap="square" lIns="0" tIns="0" rIns="0" bIns="0" rtlCol="0" anchor="t"/>
          <a:lstStyle/>
          <a:p>
            <a:pPr marL="0" indent="0">
              <a:buNone/>
            </a:pPr>
            <a:r>
              <a:rPr lang="en-US" sz="1400" dirty="0">
                <a:solidFill>
                  <a:schemeClr val="tx2"/>
                </a:solidFill>
              </a:rPr>
              <a:t>in the moment, as signals land</a:t>
            </a:r>
            <a:endParaRPr lang="en-US" sz="1400" dirty="0"/>
          </a:p>
        </p:txBody>
      </p:sp>
      <p:sp>
        <p:nvSpPr>
          <p:cNvPr id="32" name="Icon disc"/>
          <p:cNvSpPr/>
          <p:nvPr/>
        </p:nvSpPr>
        <p:spPr>
          <a:xfrm>
            <a:off x="4389120" y="4855464"/>
            <a:ext cx="621792" cy="621792"/>
          </a:xfrm>
          <a:prstGeom prst="ellipse">
            <a:avLst/>
          </a:prstGeom>
          <a:solidFill>
            <a:schemeClr val="accent1"/>
          </a:solidFill>
          <a:ln/>
        </p:spPr>
      </p:sp>
      <p:pic>
        <p:nvPicPr>
          <p:cNvPr id="33" name="Image 7" descr="SlidersHorizontal icon"/>
          <p:cNvPicPr>
            <a:picLocks noChangeAspect="1"/>
          </p:cNvPicPr>
          <p:nvPr/>
        </p:nvPicPr>
        <p:blipFill>
          <a:blip r:embed="rId10"/>
          <a:stretch>
            <a:fillRect/>
          </a:stretch>
        </p:blipFill>
        <p:spPr>
          <a:xfrm>
            <a:off x="4538350" y="5004694"/>
            <a:ext cx="323332" cy="323332"/>
          </a:xfrm>
          <a:prstGeom prst="rect">
            <a:avLst/>
          </a:prstGeom>
        </p:spPr>
      </p:pic>
      <p:sp>
        <p:nvSpPr>
          <p:cNvPr id="34" name="Text 24"/>
          <p:cNvSpPr txBox="1"/>
          <p:nvPr/>
        </p:nvSpPr>
        <p:spPr>
          <a:xfrm>
            <a:off x="5212080" y="4873752"/>
            <a:ext cx="2651760" cy="347472"/>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Decide</a:t>
            </a:r>
            <a:endParaRPr lang="en-US" sz="2200" dirty="0"/>
          </a:p>
        </p:txBody>
      </p:sp>
      <p:sp>
        <p:nvSpPr>
          <p:cNvPr id="35" name="Text 25"/>
          <p:cNvSpPr txBox="1"/>
          <p:nvPr/>
        </p:nvSpPr>
        <p:spPr>
          <a:xfrm>
            <a:off x="5212080" y="5239512"/>
            <a:ext cx="2651760" cy="274320"/>
          </a:xfrm>
          <a:prstGeom prst="rect">
            <a:avLst/>
          </a:prstGeom>
          <a:noFill/>
          <a:ln/>
        </p:spPr>
        <p:txBody>
          <a:bodyPr wrap="square" lIns="0" tIns="0" rIns="0" bIns="0" rtlCol="0" anchor="t"/>
          <a:lstStyle/>
          <a:p>
            <a:pPr marL="0" indent="0">
              <a:buNone/>
            </a:pPr>
            <a:r>
              <a:rPr lang="en-US" sz="1400" dirty="0">
                <a:solidFill>
                  <a:schemeClr val="tx2"/>
                </a:solidFill>
              </a:rPr>
              <a:t>within the rules you set</a:t>
            </a:r>
            <a:endParaRPr lang="en-US" sz="1400" dirty="0"/>
          </a:p>
        </p:txBody>
      </p:sp>
      <p:sp>
        <p:nvSpPr>
          <p:cNvPr id="36" name="Approve node"/>
          <p:cNvSpPr/>
          <p:nvPr/>
        </p:nvSpPr>
        <p:spPr>
          <a:xfrm>
            <a:off x="8183880" y="3749040"/>
            <a:ext cx="566928" cy="566928"/>
          </a:xfrm>
          <a:prstGeom prst="ellipse">
            <a:avLst/>
          </a:prstGeom>
          <a:solidFill>
            <a:srgbClr val="FFFFFF"/>
          </a:solidFill>
          <a:ln w="22225">
            <a:solidFill>
              <a:srgbClr val="E8590C"/>
            </a:solidFill>
            <a:prstDash val="solid"/>
          </a:ln>
        </p:spPr>
      </p:sp>
      <p:pic>
        <p:nvPicPr>
          <p:cNvPr id="37" name="Image 8" descr="UserCheck icon"/>
          <p:cNvPicPr>
            <a:picLocks noChangeAspect="1"/>
          </p:cNvPicPr>
          <p:nvPr/>
        </p:nvPicPr>
        <p:blipFill>
          <a:blip r:embed="rId11"/>
          <a:stretch>
            <a:fillRect/>
          </a:stretch>
        </p:blipFill>
        <p:spPr>
          <a:xfrm>
            <a:off x="8321040" y="3886200"/>
            <a:ext cx="292608" cy="292608"/>
          </a:xfrm>
          <a:prstGeom prst="rect">
            <a:avLst/>
          </a:prstGeom>
        </p:spPr>
      </p:pic>
      <p:sp>
        <p:nvSpPr>
          <p:cNvPr id="38" name="Text 27"/>
          <p:cNvSpPr txBox="1"/>
          <p:nvPr/>
        </p:nvSpPr>
        <p:spPr>
          <a:xfrm>
            <a:off x="7964424" y="4389120"/>
            <a:ext cx="1005840" cy="182880"/>
          </a:xfrm>
          <a:prstGeom prst="rect">
            <a:avLst/>
          </a:prstGeom>
          <a:noFill/>
          <a:ln/>
        </p:spPr>
        <p:txBody>
          <a:bodyPr wrap="square" lIns="0" tIns="0" rIns="0" bIns="0" rtlCol="0" anchor="t"/>
          <a:lstStyle/>
          <a:p>
            <a:pPr marL="0" indent="0" algn="ctr">
              <a:buNone/>
            </a:pPr>
            <a:r>
              <a:rPr lang="en-US" sz="1000" b="1" dirty="0">
                <a:solidFill>
                  <a:schemeClr val="accent1"/>
                </a:solidFill>
              </a:rPr>
              <a:t>YOU APPROVE</a:t>
            </a:r>
            <a:endParaRPr lang="en-US" sz="1000" dirty="0"/>
          </a:p>
        </p:txBody>
      </p:sp>
      <p:sp>
        <p:nvSpPr>
          <p:cNvPr id="39" name="Shape 28"/>
          <p:cNvSpPr/>
          <p:nvPr/>
        </p:nvSpPr>
        <p:spPr>
          <a:xfrm>
            <a:off x="8750808" y="4032504"/>
            <a:ext cx="274320" cy="0"/>
          </a:xfrm>
          <a:prstGeom prst="line">
            <a:avLst/>
          </a:prstGeom>
          <a:noFill/>
          <a:ln w="19050">
            <a:solidFill>
              <a:srgbClr val="E8590C"/>
            </a:solidFill>
            <a:prstDash val="solid"/>
            <a:tailEnd type="triangle"/>
          </a:ln>
        </p:spPr>
      </p:sp>
      <p:sp>
        <p:nvSpPr>
          <p:cNvPr id="40" name="Text 29"/>
          <p:cNvSpPr txBox="1"/>
          <p:nvPr/>
        </p:nvSpPr>
        <p:spPr>
          <a:xfrm>
            <a:off x="9052560" y="2103120"/>
            <a:ext cx="27432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DECISIONS OUT</a:t>
            </a:r>
            <a:endParaRPr lang="en-US" sz="1200" dirty="0"/>
          </a:p>
        </p:txBody>
      </p:sp>
      <p:sp>
        <p:nvSpPr>
          <p:cNvPr id="41" name="Decision Pause"/>
          <p:cNvSpPr/>
          <p:nvPr/>
        </p:nvSpPr>
        <p:spPr>
          <a:xfrm>
            <a:off x="9052560" y="2468880"/>
            <a:ext cx="2587752" cy="786384"/>
          </a:xfrm>
          <a:prstGeom prst="roundRect">
            <a:avLst>
              <a:gd name="adj" fmla="val 9302"/>
            </a:avLst>
          </a:prstGeom>
          <a:solidFill>
            <a:srgbClr val="F2EFE9"/>
          </a:solidFill>
          <a:ln/>
        </p:spPr>
      </p:sp>
      <p:pic>
        <p:nvPicPr>
          <p:cNvPr id="42" name="Image 9" descr="Pause icon"/>
          <p:cNvPicPr>
            <a:picLocks noChangeAspect="1"/>
          </p:cNvPicPr>
          <p:nvPr/>
        </p:nvPicPr>
        <p:blipFill>
          <a:blip r:embed="rId12"/>
          <a:stretch>
            <a:fillRect/>
          </a:stretch>
        </p:blipFill>
        <p:spPr>
          <a:xfrm>
            <a:off x="9253728" y="2679192"/>
            <a:ext cx="365760" cy="365760"/>
          </a:xfrm>
          <a:prstGeom prst="rect">
            <a:avLst/>
          </a:prstGeom>
        </p:spPr>
      </p:pic>
      <p:sp>
        <p:nvSpPr>
          <p:cNvPr id="43" name="Text 31"/>
          <p:cNvSpPr txBox="1"/>
          <p:nvPr/>
        </p:nvSpPr>
        <p:spPr>
          <a:xfrm>
            <a:off x="9802368" y="2578608"/>
            <a:ext cx="1737360" cy="274320"/>
          </a:xfrm>
          <a:prstGeom prst="rect">
            <a:avLst/>
          </a:prstGeom>
          <a:noFill/>
          <a:ln/>
        </p:spPr>
        <p:txBody>
          <a:bodyPr wrap="square" lIns="0" tIns="0" rIns="0" bIns="0" rtlCol="0" anchor="t"/>
          <a:lstStyle/>
          <a:p>
            <a:pPr marL="0" indent="0">
              <a:buNone/>
            </a:pPr>
            <a:r>
              <a:rPr lang="en-US" sz="1600" b="1" dirty="0">
                <a:solidFill>
                  <a:schemeClr val="tx1"/>
                </a:solidFill>
              </a:rPr>
              <a:t>Pause</a:t>
            </a:r>
            <a:endParaRPr lang="en-US" sz="1600" dirty="0"/>
          </a:p>
        </p:txBody>
      </p:sp>
      <p:sp>
        <p:nvSpPr>
          <p:cNvPr id="44" name="Text 32"/>
          <p:cNvSpPr txBox="1"/>
          <p:nvPr/>
        </p:nvSpPr>
        <p:spPr>
          <a:xfrm>
            <a:off x="9802368" y="2880360"/>
            <a:ext cx="1783080" cy="274320"/>
          </a:xfrm>
          <a:prstGeom prst="rect">
            <a:avLst/>
          </a:prstGeom>
          <a:noFill/>
          <a:ln/>
        </p:spPr>
        <p:txBody>
          <a:bodyPr wrap="square" lIns="0" tIns="0" rIns="0" bIns="0" rtlCol="0" anchor="t"/>
          <a:lstStyle/>
          <a:p>
            <a:pPr marL="0" indent="0">
              <a:buNone/>
            </a:pPr>
            <a:r>
              <a:rPr lang="en-US" sz="1400" dirty="0">
                <a:solidFill>
                  <a:schemeClr val="tx2"/>
                </a:solidFill>
              </a:rPr>
              <a:t>what is dying</a:t>
            </a:r>
            <a:endParaRPr lang="en-US" sz="1400" dirty="0"/>
          </a:p>
        </p:txBody>
      </p:sp>
      <p:sp>
        <p:nvSpPr>
          <p:cNvPr id="45" name="Decision Scale"/>
          <p:cNvSpPr/>
          <p:nvPr/>
        </p:nvSpPr>
        <p:spPr>
          <a:xfrm>
            <a:off x="9052560" y="3374136"/>
            <a:ext cx="2587752" cy="786384"/>
          </a:xfrm>
          <a:prstGeom prst="roundRect">
            <a:avLst>
              <a:gd name="adj" fmla="val 9302"/>
            </a:avLst>
          </a:prstGeom>
          <a:solidFill>
            <a:srgbClr val="F2EFE9"/>
          </a:solidFill>
          <a:ln/>
        </p:spPr>
      </p:sp>
      <p:pic>
        <p:nvPicPr>
          <p:cNvPr id="46" name="Image 10" descr="TrendingUp icon"/>
          <p:cNvPicPr>
            <a:picLocks noChangeAspect="1"/>
          </p:cNvPicPr>
          <p:nvPr/>
        </p:nvPicPr>
        <p:blipFill>
          <a:blip r:embed="rId13"/>
          <a:stretch>
            <a:fillRect/>
          </a:stretch>
        </p:blipFill>
        <p:spPr>
          <a:xfrm>
            <a:off x="9253728" y="3584448"/>
            <a:ext cx="365760" cy="365760"/>
          </a:xfrm>
          <a:prstGeom prst="rect">
            <a:avLst/>
          </a:prstGeom>
        </p:spPr>
      </p:pic>
      <p:sp>
        <p:nvSpPr>
          <p:cNvPr id="47" name="Text 34"/>
          <p:cNvSpPr txBox="1"/>
          <p:nvPr/>
        </p:nvSpPr>
        <p:spPr>
          <a:xfrm>
            <a:off x="9802368" y="3483864"/>
            <a:ext cx="1737360" cy="274320"/>
          </a:xfrm>
          <a:prstGeom prst="rect">
            <a:avLst/>
          </a:prstGeom>
          <a:noFill/>
          <a:ln/>
        </p:spPr>
        <p:txBody>
          <a:bodyPr wrap="square" lIns="0" tIns="0" rIns="0" bIns="0" rtlCol="0" anchor="t"/>
          <a:lstStyle/>
          <a:p>
            <a:pPr marL="0" indent="0">
              <a:buNone/>
            </a:pPr>
            <a:r>
              <a:rPr lang="en-US" sz="1600" b="1" dirty="0">
                <a:solidFill>
                  <a:schemeClr val="tx1"/>
                </a:solidFill>
              </a:rPr>
              <a:t>Scale</a:t>
            </a:r>
            <a:endParaRPr lang="en-US" sz="1600" dirty="0"/>
          </a:p>
        </p:txBody>
      </p:sp>
      <p:sp>
        <p:nvSpPr>
          <p:cNvPr id="48" name="Text 35"/>
          <p:cNvSpPr txBox="1"/>
          <p:nvPr/>
        </p:nvSpPr>
        <p:spPr>
          <a:xfrm>
            <a:off x="9802368" y="3785616"/>
            <a:ext cx="1783080" cy="274320"/>
          </a:xfrm>
          <a:prstGeom prst="rect">
            <a:avLst/>
          </a:prstGeom>
          <a:noFill/>
          <a:ln/>
        </p:spPr>
        <p:txBody>
          <a:bodyPr wrap="square" lIns="0" tIns="0" rIns="0" bIns="0" rtlCol="0" anchor="t"/>
          <a:lstStyle/>
          <a:p>
            <a:pPr marL="0" indent="0">
              <a:buNone/>
            </a:pPr>
            <a:r>
              <a:rPr lang="en-US" sz="1400" dirty="0">
                <a:solidFill>
                  <a:schemeClr val="tx2"/>
                </a:solidFill>
              </a:rPr>
              <a:t>what is winning</a:t>
            </a:r>
            <a:endParaRPr lang="en-US" sz="1400" dirty="0"/>
          </a:p>
        </p:txBody>
      </p:sp>
      <p:sp>
        <p:nvSpPr>
          <p:cNvPr id="49" name="Decision Create"/>
          <p:cNvSpPr/>
          <p:nvPr/>
        </p:nvSpPr>
        <p:spPr>
          <a:xfrm>
            <a:off x="9052560" y="4279392"/>
            <a:ext cx="2587752" cy="786384"/>
          </a:xfrm>
          <a:prstGeom prst="roundRect">
            <a:avLst>
              <a:gd name="adj" fmla="val 9302"/>
            </a:avLst>
          </a:prstGeom>
          <a:solidFill>
            <a:srgbClr val="F2EFE9"/>
          </a:solidFill>
          <a:ln/>
        </p:spPr>
      </p:sp>
      <p:pic>
        <p:nvPicPr>
          <p:cNvPr id="50" name="Image 11" descr="WandSparkles icon"/>
          <p:cNvPicPr>
            <a:picLocks noChangeAspect="1"/>
          </p:cNvPicPr>
          <p:nvPr/>
        </p:nvPicPr>
        <p:blipFill>
          <a:blip r:embed="rId14"/>
          <a:stretch>
            <a:fillRect/>
          </a:stretch>
        </p:blipFill>
        <p:spPr>
          <a:xfrm>
            <a:off x="9253728" y="4489704"/>
            <a:ext cx="365760" cy="365760"/>
          </a:xfrm>
          <a:prstGeom prst="rect">
            <a:avLst/>
          </a:prstGeom>
        </p:spPr>
      </p:pic>
      <p:sp>
        <p:nvSpPr>
          <p:cNvPr id="51" name="Text 37"/>
          <p:cNvSpPr txBox="1"/>
          <p:nvPr/>
        </p:nvSpPr>
        <p:spPr>
          <a:xfrm>
            <a:off x="9802368" y="4389120"/>
            <a:ext cx="1737360" cy="274320"/>
          </a:xfrm>
          <a:prstGeom prst="rect">
            <a:avLst/>
          </a:prstGeom>
          <a:noFill/>
          <a:ln/>
        </p:spPr>
        <p:txBody>
          <a:bodyPr wrap="square" lIns="0" tIns="0" rIns="0" bIns="0" rtlCol="0" anchor="t"/>
          <a:lstStyle/>
          <a:p>
            <a:pPr marL="0" indent="0">
              <a:buNone/>
            </a:pPr>
            <a:r>
              <a:rPr lang="en-US" sz="1600" b="1" dirty="0">
                <a:solidFill>
                  <a:schemeClr val="tx1"/>
                </a:solidFill>
              </a:rPr>
              <a:t>Create</a:t>
            </a:r>
            <a:endParaRPr lang="en-US" sz="1600" dirty="0"/>
          </a:p>
        </p:txBody>
      </p:sp>
      <p:sp>
        <p:nvSpPr>
          <p:cNvPr id="52" name="Text 38"/>
          <p:cNvSpPr txBox="1"/>
          <p:nvPr/>
        </p:nvSpPr>
        <p:spPr>
          <a:xfrm>
            <a:off x="9802368" y="4690872"/>
            <a:ext cx="1783080" cy="274320"/>
          </a:xfrm>
          <a:prstGeom prst="rect">
            <a:avLst/>
          </a:prstGeom>
          <a:noFill/>
          <a:ln/>
        </p:spPr>
        <p:txBody>
          <a:bodyPr wrap="square" lIns="0" tIns="0" rIns="0" bIns="0" rtlCol="0" anchor="t"/>
          <a:lstStyle/>
          <a:p>
            <a:pPr marL="0" indent="0">
              <a:buNone/>
            </a:pPr>
            <a:r>
              <a:rPr lang="en-US" sz="1400" dirty="0">
                <a:solidFill>
                  <a:schemeClr val="tx2"/>
                </a:solidFill>
              </a:rPr>
              <a:t>the next creative</a:t>
            </a:r>
            <a:endParaRPr lang="en-US" sz="1400" dirty="0"/>
          </a:p>
        </p:txBody>
      </p:sp>
      <p:sp>
        <p:nvSpPr>
          <p:cNvPr id="53" name="Decision Send"/>
          <p:cNvSpPr/>
          <p:nvPr/>
        </p:nvSpPr>
        <p:spPr>
          <a:xfrm>
            <a:off x="9052560" y="5184648"/>
            <a:ext cx="2587752" cy="786384"/>
          </a:xfrm>
          <a:prstGeom prst="roundRect">
            <a:avLst>
              <a:gd name="adj" fmla="val 9302"/>
            </a:avLst>
          </a:prstGeom>
          <a:solidFill>
            <a:srgbClr val="F2EFE9"/>
          </a:solidFill>
          <a:ln/>
        </p:spPr>
      </p:sp>
      <p:pic>
        <p:nvPicPr>
          <p:cNvPr id="54" name="Image 12" descr="Send icon"/>
          <p:cNvPicPr>
            <a:picLocks noChangeAspect="1"/>
          </p:cNvPicPr>
          <p:nvPr/>
        </p:nvPicPr>
        <p:blipFill>
          <a:blip r:embed="rId15"/>
          <a:stretch>
            <a:fillRect/>
          </a:stretch>
        </p:blipFill>
        <p:spPr>
          <a:xfrm>
            <a:off x="9253728" y="5394960"/>
            <a:ext cx="365760" cy="365760"/>
          </a:xfrm>
          <a:prstGeom prst="rect">
            <a:avLst/>
          </a:prstGeom>
        </p:spPr>
      </p:pic>
      <p:sp>
        <p:nvSpPr>
          <p:cNvPr id="55" name="Text 40"/>
          <p:cNvSpPr txBox="1"/>
          <p:nvPr/>
        </p:nvSpPr>
        <p:spPr>
          <a:xfrm>
            <a:off x="9802368" y="5294376"/>
            <a:ext cx="1737360" cy="274320"/>
          </a:xfrm>
          <a:prstGeom prst="rect">
            <a:avLst/>
          </a:prstGeom>
          <a:noFill/>
          <a:ln/>
        </p:spPr>
        <p:txBody>
          <a:bodyPr wrap="square" lIns="0" tIns="0" rIns="0" bIns="0" rtlCol="0" anchor="t"/>
          <a:lstStyle/>
          <a:p>
            <a:pPr marL="0" indent="0">
              <a:buNone/>
            </a:pPr>
            <a:r>
              <a:rPr lang="en-US" sz="1600" b="1" dirty="0">
                <a:solidFill>
                  <a:schemeClr val="tx1"/>
                </a:solidFill>
              </a:rPr>
              <a:t>Send</a:t>
            </a:r>
            <a:endParaRPr lang="en-US" sz="1600" dirty="0"/>
          </a:p>
        </p:txBody>
      </p:sp>
      <p:sp>
        <p:nvSpPr>
          <p:cNvPr id="56" name="Text 41"/>
          <p:cNvSpPr txBox="1"/>
          <p:nvPr/>
        </p:nvSpPr>
        <p:spPr>
          <a:xfrm>
            <a:off x="9802368" y="5596128"/>
            <a:ext cx="1783080" cy="274320"/>
          </a:xfrm>
          <a:prstGeom prst="rect">
            <a:avLst/>
          </a:prstGeom>
          <a:noFill/>
          <a:ln/>
        </p:spPr>
        <p:txBody>
          <a:bodyPr wrap="square" lIns="0" tIns="0" rIns="0" bIns="0" rtlCol="0" anchor="t"/>
          <a:lstStyle/>
          <a:p>
            <a:pPr marL="0" indent="0">
              <a:buNone/>
            </a:pPr>
            <a:r>
              <a:rPr lang="en-US" sz="1400" dirty="0">
                <a:solidFill>
                  <a:schemeClr val="tx2"/>
                </a:solidFill>
              </a:rPr>
              <a:t>to the right person</a:t>
            </a:r>
            <a:endParaRPr lang="en-US" sz="1400" dirty="0"/>
          </a:p>
        </p:txBody>
      </p:sp>
      <p:sp>
        <p:nvSpPr>
          <p:cNvPr id="57"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HOW IT RUNS</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tx1"/>
                </a:solidFill>
              </a:rPr>
              <a:t>One loop: Capture, Learn, Create, Deploy</a:t>
            </a:r>
            <a:endParaRPr lang="en-US" sz="3200" dirty="0"/>
          </a:p>
        </p:txBody>
      </p:sp>
      <p:sp>
        <p:nvSpPr>
          <p:cNvPr id="4" name="Stage Capture"/>
          <p:cNvSpPr/>
          <p:nvPr/>
        </p:nvSpPr>
        <p:spPr>
          <a:xfrm>
            <a:off x="548640" y="2011680"/>
            <a:ext cx="2514600" cy="3200400"/>
          </a:xfrm>
          <a:prstGeom prst="roundRect">
            <a:avLst>
              <a:gd name="adj" fmla="val 2909"/>
            </a:avLst>
          </a:prstGeom>
          <a:solidFill>
            <a:srgbClr val="F2EFE9"/>
          </a:solidFill>
          <a:ln/>
        </p:spPr>
      </p:sp>
      <p:sp>
        <p:nvSpPr>
          <p:cNvPr id="5" name="Text 3"/>
          <p:cNvSpPr txBox="1"/>
          <p:nvPr/>
        </p:nvSpPr>
        <p:spPr>
          <a:xfrm>
            <a:off x="777240" y="2212848"/>
            <a:ext cx="9144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01</a:t>
            </a:r>
            <a:endParaRPr lang="en-US" sz="1200" dirty="0"/>
          </a:p>
        </p:txBody>
      </p:sp>
      <p:sp>
        <p:nvSpPr>
          <p:cNvPr id="6" name="Icon disc"/>
          <p:cNvSpPr/>
          <p:nvPr/>
        </p:nvSpPr>
        <p:spPr>
          <a:xfrm>
            <a:off x="777240" y="2560320"/>
            <a:ext cx="658368" cy="658368"/>
          </a:xfrm>
          <a:prstGeom prst="ellipse">
            <a:avLst/>
          </a:prstGeom>
          <a:solidFill>
            <a:schemeClr val="accent1"/>
          </a:solidFill>
          <a:ln/>
        </p:spPr>
      </p:sp>
      <p:pic>
        <p:nvPicPr>
          <p:cNvPr id="7" name="Image 0" descr="Radar icon"/>
          <p:cNvPicPr>
            <a:picLocks noChangeAspect="1"/>
          </p:cNvPicPr>
          <p:nvPr/>
        </p:nvPicPr>
        <p:blipFill>
          <a:blip r:embed="rId3"/>
          <a:stretch>
            <a:fillRect/>
          </a:stretch>
        </p:blipFill>
        <p:spPr>
          <a:xfrm>
            <a:off x="935248" y="2718328"/>
            <a:ext cx="342351" cy="342351"/>
          </a:xfrm>
          <a:prstGeom prst="rect">
            <a:avLst/>
          </a:prstGeom>
        </p:spPr>
      </p:pic>
      <p:sp>
        <p:nvSpPr>
          <p:cNvPr id="8" name="Text 5"/>
          <p:cNvSpPr txBox="1"/>
          <p:nvPr/>
        </p:nvSpPr>
        <p:spPr>
          <a:xfrm>
            <a:off x="777240" y="3383280"/>
            <a:ext cx="2057400" cy="411480"/>
          </a:xfrm>
          <a:prstGeom prst="rect">
            <a:avLst/>
          </a:prstGeom>
          <a:noFill/>
          <a:ln/>
        </p:spPr>
        <p:txBody>
          <a:bodyPr wrap="square" lIns="0" tIns="0" rIns="0" bIns="0" rtlCol="0" anchor="t"/>
          <a:lstStyle/>
          <a:p>
            <a:pPr marL="0" indent="0">
              <a:buNone/>
            </a:pPr>
            <a:r>
              <a:rPr lang="en-US" sz="2400" dirty="0">
                <a:solidFill>
                  <a:schemeClr val="tx1"/>
                </a:solidFill>
                <a:latin typeface="+mj-lt" pitchFamily="34" charset="0"/>
                <a:ea typeface="+mj-lt" pitchFamily="34" charset="-122"/>
                <a:cs typeface="+mj-lt" pitchFamily="34" charset="-120"/>
              </a:rPr>
              <a:t>Capture</a:t>
            </a:r>
            <a:endParaRPr lang="en-US" sz="2400" dirty="0"/>
          </a:p>
        </p:txBody>
      </p:sp>
      <p:sp>
        <p:nvSpPr>
          <p:cNvPr id="9" name="Text 6"/>
          <p:cNvSpPr txBox="1"/>
          <p:nvPr/>
        </p:nvSpPr>
        <p:spPr>
          <a:xfrm>
            <a:off x="777240" y="3840480"/>
            <a:ext cx="2057400" cy="548640"/>
          </a:xfrm>
          <a:prstGeom prst="rect">
            <a:avLst/>
          </a:prstGeom>
          <a:noFill/>
          <a:ln/>
        </p:spPr>
        <p:txBody>
          <a:bodyPr wrap="square" lIns="0" tIns="0" rIns="0" bIns="0" rtlCol="0" anchor="t"/>
          <a:lstStyle/>
          <a:p>
            <a:pPr marL="0" indent="0">
              <a:buNone/>
            </a:pPr>
            <a:r>
              <a:rPr lang="en-US" sz="1600" b="1" i="1" dirty="0">
                <a:solidFill>
                  <a:schemeClr val="accent1"/>
                </a:solidFill>
              </a:rPr>
              <a:t>What is happening, everywhere?</a:t>
            </a:r>
            <a:endParaRPr lang="en-US" sz="1600" dirty="0"/>
          </a:p>
        </p:txBody>
      </p:sp>
      <p:sp>
        <p:nvSpPr>
          <p:cNvPr id="10" name="Text 7"/>
          <p:cNvSpPr txBox="1"/>
          <p:nvPr/>
        </p:nvSpPr>
        <p:spPr>
          <a:xfrm>
            <a:off x="777240" y="4480560"/>
            <a:ext cx="2057400" cy="640080"/>
          </a:xfrm>
          <a:prstGeom prst="rect">
            <a:avLst/>
          </a:prstGeom>
          <a:noFill/>
          <a:ln/>
        </p:spPr>
        <p:txBody>
          <a:bodyPr wrap="square" lIns="0" tIns="0" rIns="0" bIns="0" rtlCol="0" anchor="t"/>
          <a:lstStyle/>
          <a:p>
            <a:pPr marL="0" indent="0">
              <a:buNone/>
            </a:pPr>
            <a:r>
              <a:rPr lang="en-US" sz="1500" dirty="0">
                <a:solidFill>
                  <a:schemeClr val="tx2"/>
                </a:solidFill>
              </a:rPr>
              <a:t>Every signal, from every platform, in one field.</a:t>
            </a:r>
            <a:endParaRPr lang="en-US" sz="1500" dirty="0"/>
          </a:p>
        </p:txBody>
      </p:sp>
      <p:pic>
        <p:nvPicPr>
          <p:cNvPr id="11" name="Image 1" descr="ChevronRight icon"/>
          <p:cNvPicPr>
            <a:picLocks noChangeAspect="1"/>
          </p:cNvPicPr>
          <p:nvPr/>
        </p:nvPicPr>
        <p:blipFill>
          <a:blip r:embed="rId4"/>
          <a:stretch>
            <a:fillRect/>
          </a:stretch>
        </p:blipFill>
        <p:spPr>
          <a:xfrm>
            <a:off x="3098749" y="3108960"/>
            <a:ext cx="274320" cy="274320"/>
          </a:xfrm>
          <a:prstGeom prst="rect">
            <a:avLst/>
          </a:prstGeom>
        </p:spPr>
      </p:pic>
      <p:sp>
        <p:nvSpPr>
          <p:cNvPr id="12" name="Stage Learn"/>
          <p:cNvSpPr/>
          <p:nvPr/>
        </p:nvSpPr>
        <p:spPr>
          <a:xfrm>
            <a:off x="3408578" y="2011680"/>
            <a:ext cx="2514600" cy="3200400"/>
          </a:xfrm>
          <a:prstGeom prst="roundRect">
            <a:avLst>
              <a:gd name="adj" fmla="val 2909"/>
            </a:avLst>
          </a:prstGeom>
          <a:solidFill>
            <a:srgbClr val="F2EFE9"/>
          </a:solidFill>
          <a:ln/>
        </p:spPr>
      </p:sp>
      <p:sp>
        <p:nvSpPr>
          <p:cNvPr id="13" name="Text 9"/>
          <p:cNvSpPr txBox="1"/>
          <p:nvPr/>
        </p:nvSpPr>
        <p:spPr>
          <a:xfrm>
            <a:off x="3637178" y="2212848"/>
            <a:ext cx="9144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02</a:t>
            </a:r>
            <a:endParaRPr lang="en-US" sz="1200" dirty="0"/>
          </a:p>
        </p:txBody>
      </p:sp>
      <p:sp>
        <p:nvSpPr>
          <p:cNvPr id="14" name="Icon disc"/>
          <p:cNvSpPr/>
          <p:nvPr/>
        </p:nvSpPr>
        <p:spPr>
          <a:xfrm>
            <a:off x="3637178" y="2560320"/>
            <a:ext cx="658368" cy="658368"/>
          </a:xfrm>
          <a:prstGeom prst="ellipse">
            <a:avLst/>
          </a:prstGeom>
          <a:solidFill>
            <a:schemeClr val="accent1"/>
          </a:solidFill>
          <a:ln/>
        </p:spPr>
      </p:sp>
      <p:pic>
        <p:nvPicPr>
          <p:cNvPr id="15" name="Image 2" descr="Brain icon"/>
          <p:cNvPicPr>
            <a:picLocks noChangeAspect="1"/>
          </p:cNvPicPr>
          <p:nvPr/>
        </p:nvPicPr>
        <p:blipFill>
          <a:blip r:embed="rId5"/>
          <a:stretch>
            <a:fillRect/>
          </a:stretch>
        </p:blipFill>
        <p:spPr>
          <a:xfrm>
            <a:off x="3795187" y="2718328"/>
            <a:ext cx="342351" cy="342351"/>
          </a:xfrm>
          <a:prstGeom prst="rect">
            <a:avLst/>
          </a:prstGeom>
        </p:spPr>
      </p:pic>
      <p:sp>
        <p:nvSpPr>
          <p:cNvPr id="16" name="Text 11"/>
          <p:cNvSpPr txBox="1"/>
          <p:nvPr/>
        </p:nvSpPr>
        <p:spPr>
          <a:xfrm>
            <a:off x="3637178" y="3383280"/>
            <a:ext cx="2057400" cy="411480"/>
          </a:xfrm>
          <a:prstGeom prst="rect">
            <a:avLst/>
          </a:prstGeom>
          <a:noFill/>
          <a:ln/>
        </p:spPr>
        <p:txBody>
          <a:bodyPr wrap="square" lIns="0" tIns="0" rIns="0" bIns="0" rtlCol="0" anchor="t"/>
          <a:lstStyle/>
          <a:p>
            <a:pPr marL="0" indent="0">
              <a:buNone/>
            </a:pPr>
            <a:r>
              <a:rPr lang="en-US" sz="2400" dirty="0">
                <a:solidFill>
                  <a:schemeClr val="tx1"/>
                </a:solidFill>
                <a:latin typeface="+mj-lt" pitchFamily="34" charset="0"/>
                <a:ea typeface="+mj-lt" pitchFamily="34" charset="-122"/>
                <a:cs typeface="+mj-lt" pitchFamily="34" charset="-120"/>
              </a:rPr>
              <a:t>Learn</a:t>
            </a:r>
            <a:endParaRPr lang="en-US" sz="2400" dirty="0"/>
          </a:p>
        </p:txBody>
      </p:sp>
      <p:sp>
        <p:nvSpPr>
          <p:cNvPr id="17" name="Text 12"/>
          <p:cNvSpPr txBox="1"/>
          <p:nvPr/>
        </p:nvSpPr>
        <p:spPr>
          <a:xfrm>
            <a:off x="3637178" y="3840480"/>
            <a:ext cx="2057400" cy="548640"/>
          </a:xfrm>
          <a:prstGeom prst="rect">
            <a:avLst/>
          </a:prstGeom>
          <a:noFill/>
          <a:ln/>
        </p:spPr>
        <p:txBody>
          <a:bodyPr wrap="square" lIns="0" tIns="0" rIns="0" bIns="0" rtlCol="0" anchor="t"/>
          <a:lstStyle/>
          <a:p>
            <a:pPr marL="0" indent="0">
              <a:buNone/>
            </a:pPr>
            <a:r>
              <a:rPr lang="en-US" sz="1600" b="1" i="1" dirty="0">
                <a:solidFill>
                  <a:schemeClr val="accent1"/>
                </a:solidFill>
              </a:rPr>
              <a:t>What does it mean, right now?</a:t>
            </a:r>
            <a:endParaRPr lang="en-US" sz="1600" dirty="0"/>
          </a:p>
        </p:txBody>
      </p:sp>
      <p:sp>
        <p:nvSpPr>
          <p:cNvPr id="18" name="Text 13"/>
          <p:cNvSpPr txBox="1"/>
          <p:nvPr/>
        </p:nvSpPr>
        <p:spPr>
          <a:xfrm>
            <a:off x="3637178" y="4480560"/>
            <a:ext cx="2057400" cy="640080"/>
          </a:xfrm>
          <a:prstGeom prst="rect">
            <a:avLst/>
          </a:prstGeom>
          <a:noFill/>
          <a:ln/>
        </p:spPr>
        <p:txBody>
          <a:bodyPr wrap="square" lIns="0" tIns="0" rIns="0" bIns="0" rtlCol="0" anchor="t"/>
          <a:lstStyle/>
          <a:p>
            <a:pPr marL="0" indent="0">
              <a:buNone/>
            </a:pPr>
            <a:r>
              <a:rPr lang="en-US" sz="1500" dirty="0">
                <a:solidFill>
                  <a:schemeClr val="tx2"/>
                </a:solidFill>
              </a:rPr>
              <a:t>Agents read the signals as they land, not next week.</a:t>
            </a:r>
            <a:endParaRPr lang="en-US" sz="1500" dirty="0"/>
          </a:p>
        </p:txBody>
      </p:sp>
      <p:pic>
        <p:nvPicPr>
          <p:cNvPr id="19" name="Image 3" descr="ChevronRight icon"/>
          <p:cNvPicPr>
            <a:picLocks noChangeAspect="1"/>
          </p:cNvPicPr>
          <p:nvPr/>
        </p:nvPicPr>
        <p:blipFill>
          <a:blip r:embed="rId4"/>
          <a:stretch>
            <a:fillRect/>
          </a:stretch>
        </p:blipFill>
        <p:spPr>
          <a:xfrm>
            <a:off x="5958688" y="3108960"/>
            <a:ext cx="274320" cy="274320"/>
          </a:xfrm>
          <a:prstGeom prst="rect">
            <a:avLst/>
          </a:prstGeom>
        </p:spPr>
      </p:pic>
      <p:sp>
        <p:nvSpPr>
          <p:cNvPr id="20" name="Stage Create"/>
          <p:cNvSpPr/>
          <p:nvPr/>
        </p:nvSpPr>
        <p:spPr>
          <a:xfrm>
            <a:off x="6268517" y="2011680"/>
            <a:ext cx="2514600" cy="3200400"/>
          </a:xfrm>
          <a:prstGeom prst="roundRect">
            <a:avLst>
              <a:gd name="adj" fmla="val 2909"/>
            </a:avLst>
          </a:prstGeom>
          <a:solidFill>
            <a:srgbClr val="F2EFE9"/>
          </a:solidFill>
          <a:ln/>
        </p:spPr>
      </p:sp>
      <p:sp>
        <p:nvSpPr>
          <p:cNvPr id="21" name="Text 15"/>
          <p:cNvSpPr txBox="1"/>
          <p:nvPr/>
        </p:nvSpPr>
        <p:spPr>
          <a:xfrm>
            <a:off x="6497117" y="2212848"/>
            <a:ext cx="9144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03</a:t>
            </a:r>
            <a:endParaRPr lang="en-US" sz="1200" dirty="0"/>
          </a:p>
        </p:txBody>
      </p:sp>
      <p:sp>
        <p:nvSpPr>
          <p:cNvPr id="22" name="Icon disc"/>
          <p:cNvSpPr/>
          <p:nvPr/>
        </p:nvSpPr>
        <p:spPr>
          <a:xfrm>
            <a:off x="6497117" y="2560320"/>
            <a:ext cx="658368" cy="658368"/>
          </a:xfrm>
          <a:prstGeom prst="ellipse">
            <a:avLst/>
          </a:prstGeom>
          <a:solidFill>
            <a:schemeClr val="accent1"/>
          </a:solidFill>
          <a:ln/>
        </p:spPr>
      </p:sp>
      <p:pic>
        <p:nvPicPr>
          <p:cNvPr id="23" name="Image 4" descr="Palette icon"/>
          <p:cNvPicPr>
            <a:picLocks noChangeAspect="1"/>
          </p:cNvPicPr>
          <p:nvPr/>
        </p:nvPicPr>
        <p:blipFill>
          <a:blip r:embed="rId6"/>
          <a:stretch>
            <a:fillRect/>
          </a:stretch>
        </p:blipFill>
        <p:spPr>
          <a:xfrm>
            <a:off x="6655125" y="2718328"/>
            <a:ext cx="342351" cy="342351"/>
          </a:xfrm>
          <a:prstGeom prst="rect">
            <a:avLst/>
          </a:prstGeom>
        </p:spPr>
      </p:pic>
      <p:sp>
        <p:nvSpPr>
          <p:cNvPr id="24" name="Text 17"/>
          <p:cNvSpPr txBox="1"/>
          <p:nvPr/>
        </p:nvSpPr>
        <p:spPr>
          <a:xfrm>
            <a:off x="6497117" y="3383280"/>
            <a:ext cx="2057400" cy="411480"/>
          </a:xfrm>
          <a:prstGeom prst="rect">
            <a:avLst/>
          </a:prstGeom>
          <a:noFill/>
          <a:ln/>
        </p:spPr>
        <p:txBody>
          <a:bodyPr wrap="square" lIns="0" tIns="0" rIns="0" bIns="0" rtlCol="0" anchor="t"/>
          <a:lstStyle/>
          <a:p>
            <a:pPr marL="0" indent="0">
              <a:buNone/>
            </a:pPr>
            <a:r>
              <a:rPr lang="en-US" sz="2400" dirty="0">
                <a:solidFill>
                  <a:schemeClr val="tx1"/>
                </a:solidFill>
                <a:latin typeface="+mj-lt" pitchFamily="34" charset="0"/>
                <a:ea typeface="+mj-lt" pitchFamily="34" charset="-122"/>
                <a:cs typeface="+mj-lt" pitchFamily="34" charset="-120"/>
              </a:rPr>
              <a:t>Create</a:t>
            </a:r>
            <a:endParaRPr lang="en-US" sz="2400" dirty="0"/>
          </a:p>
        </p:txBody>
      </p:sp>
      <p:sp>
        <p:nvSpPr>
          <p:cNvPr id="25" name="Text 18"/>
          <p:cNvSpPr txBox="1"/>
          <p:nvPr/>
        </p:nvSpPr>
        <p:spPr>
          <a:xfrm>
            <a:off x="6497117" y="3840480"/>
            <a:ext cx="2057400" cy="548640"/>
          </a:xfrm>
          <a:prstGeom prst="rect">
            <a:avLst/>
          </a:prstGeom>
          <a:noFill/>
          <a:ln/>
        </p:spPr>
        <p:txBody>
          <a:bodyPr wrap="square" lIns="0" tIns="0" rIns="0" bIns="0" rtlCol="0" anchor="t"/>
          <a:lstStyle/>
          <a:p>
            <a:pPr marL="0" indent="0">
              <a:buNone/>
            </a:pPr>
            <a:r>
              <a:rPr lang="en-US" sz="1600" b="1" i="1" dirty="0">
                <a:solidFill>
                  <a:schemeClr val="accent1"/>
                </a:solidFill>
              </a:rPr>
              <a:t>What should we make next?</a:t>
            </a:r>
            <a:endParaRPr lang="en-US" sz="1600" dirty="0"/>
          </a:p>
        </p:txBody>
      </p:sp>
      <p:sp>
        <p:nvSpPr>
          <p:cNvPr id="26" name="Text 19"/>
          <p:cNvSpPr txBox="1"/>
          <p:nvPr/>
        </p:nvSpPr>
        <p:spPr>
          <a:xfrm>
            <a:off x="6497117" y="4480560"/>
            <a:ext cx="2057400" cy="640080"/>
          </a:xfrm>
          <a:prstGeom prst="rect">
            <a:avLst/>
          </a:prstGeom>
          <a:noFill/>
          <a:ln/>
        </p:spPr>
        <p:txBody>
          <a:bodyPr wrap="square" lIns="0" tIns="0" rIns="0" bIns="0" rtlCol="0" anchor="t"/>
          <a:lstStyle/>
          <a:p>
            <a:pPr marL="0" indent="0">
              <a:buNone/>
            </a:pPr>
            <a:r>
              <a:rPr lang="en-US" sz="1500" dirty="0">
                <a:solidFill>
                  <a:schemeClr val="tx2"/>
                </a:solidFill>
              </a:rPr>
              <a:t>The signal becomes the brief.</a:t>
            </a:r>
            <a:endParaRPr lang="en-US" sz="1500" dirty="0"/>
          </a:p>
        </p:txBody>
      </p:sp>
      <p:pic>
        <p:nvPicPr>
          <p:cNvPr id="27" name="Image 5" descr="ChevronRight icon"/>
          <p:cNvPicPr>
            <a:picLocks noChangeAspect="1"/>
          </p:cNvPicPr>
          <p:nvPr/>
        </p:nvPicPr>
        <p:blipFill>
          <a:blip r:embed="rId4"/>
          <a:stretch>
            <a:fillRect/>
          </a:stretch>
        </p:blipFill>
        <p:spPr>
          <a:xfrm>
            <a:off x="8818626" y="3108960"/>
            <a:ext cx="274320" cy="274320"/>
          </a:xfrm>
          <a:prstGeom prst="rect">
            <a:avLst/>
          </a:prstGeom>
        </p:spPr>
      </p:pic>
      <p:sp>
        <p:nvSpPr>
          <p:cNvPr id="28" name="Stage Deploy"/>
          <p:cNvSpPr/>
          <p:nvPr/>
        </p:nvSpPr>
        <p:spPr>
          <a:xfrm>
            <a:off x="9128455" y="2011680"/>
            <a:ext cx="2514600" cy="3200400"/>
          </a:xfrm>
          <a:prstGeom prst="roundRect">
            <a:avLst>
              <a:gd name="adj" fmla="val 2909"/>
            </a:avLst>
          </a:prstGeom>
          <a:solidFill>
            <a:srgbClr val="F2EFE9"/>
          </a:solidFill>
          <a:ln/>
        </p:spPr>
      </p:sp>
      <p:sp>
        <p:nvSpPr>
          <p:cNvPr id="29" name="Text 21"/>
          <p:cNvSpPr txBox="1"/>
          <p:nvPr/>
        </p:nvSpPr>
        <p:spPr>
          <a:xfrm>
            <a:off x="9357055" y="2212848"/>
            <a:ext cx="9144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04</a:t>
            </a:r>
            <a:endParaRPr lang="en-US" sz="1200" dirty="0"/>
          </a:p>
        </p:txBody>
      </p:sp>
      <p:sp>
        <p:nvSpPr>
          <p:cNvPr id="30" name="Icon disc"/>
          <p:cNvSpPr/>
          <p:nvPr/>
        </p:nvSpPr>
        <p:spPr>
          <a:xfrm>
            <a:off x="9357055" y="2560320"/>
            <a:ext cx="658368" cy="658368"/>
          </a:xfrm>
          <a:prstGeom prst="ellipse">
            <a:avLst/>
          </a:prstGeom>
          <a:solidFill>
            <a:schemeClr val="accent1"/>
          </a:solidFill>
          <a:ln/>
        </p:spPr>
      </p:sp>
      <p:pic>
        <p:nvPicPr>
          <p:cNvPr id="31" name="Image 6" descr="Rocket icon"/>
          <p:cNvPicPr>
            <a:picLocks noChangeAspect="1"/>
          </p:cNvPicPr>
          <p:nvPr/>
        </p:nvPicPr>
        <p:blipFill>
          <a:blip r:embed="rId7"/>
          <a:stretch>
            <a:fillRect/>
          </a:stretch>
        </p:blipFill>
        <p:spPr>
          <a:xfrm>
            <a:off x="9515064" y="2718328"/>
            <a:ext cx="342351" cy="342351"/>
          </a:xfrm>
          <a:prstGeom prst="rect">
            <a:avLst/>
          </a:prstGeom>
        </p:spPr>
      </p:pic>
      <p:sp>
        <p:nvSpPr>
          <p:cNvPr id="32" name="Text 23"/>
          <p:cNvSpPr txBox="1"/>
          <p:nvPr/>
        </p:nvSpPr>
        <p:spPr>
          <a:xfrm>
            <a:off x="9357055" y="3383280"/>
            <a:ext cx="2057400" cy="411480"/>
          </a:xfrm>
          <a:prstGeom prst="rect">
            <a:avLst/>
          </a:prstGeom>
          <a:noFill/>
          <a:ln/>
        </p:spPr>
        <p:txBody>
          <a:bodyPr wrap="square" lIns="0" tIns="0" rIns="0" bIns="0" rtlCol="0" anchor="t"/>
          <a:lstStyle/>
          <a:p>
            <a:pPr marL="0" indent="0">
              <a:buNone/>
            </a:pPr>
            <a:r>
              <a:rPr lang="en-US" sz="2400" dirty="0">
                <a:solidFill>
                  <a:schemeClr val="tx1"/>
                </a:solidFill>
                <a:latin typeface="+mj-lt" pitchFamily="34" charset="0"/>
                <a:ea typeface="+mj-lt" pitchFamily="34" charset="-122"/>
                <a:cs typeface="+mj-lt" pitchFamily="34" charset="-120"/>
              </a:rPr>
              <a:t>Deploy</a:t>
            </a:r>
            <a:endParaRPr lang="en-US" sz="2400" dirty="0"/>
          </a:p>
        </p:txBody>
      </p:sp>
      <p:sp>
        <p:nvSpPr>
          <p:cNvPr id="33" name="Text 24"/>
          <p:cNvSpPr txBox="1"/>
          <p:nvPr/>
        </p:nvSpPr>
        <p:spPr>
          <a:xfrm>
            <a:off x="9357055" y="3840480"/>
            <a:ext cx="2057400" cy="548640"/>
          </a:xfrm>
          <a:prstGeom prst="rect">
            <a:avLst/>
          </a:prstGeom>
          <a:noFill/>
          <a:ln/>
        </p:spPr>
        <p:txBody>
          <a:bodyPr wrap="square" lIns="0" tIns="0" rIns="0" bIns="0" rtlCol="0" anchor="t"/>
          <a:lstStyle/>
          <a:p>
            <a:pPr marL="0" indent="0">
              <a:buNone/>
            </a:pPr>
            <a:r>
              <a:rPr lang="en-US" sz="1600" b="1" i="1" dirty="0">
                <a:solidFill>
                  <a:schemeClr val="accent1"/>
                </a:solidFill>
              </a:rPr>
              <a:t>What do we do about it?</a:t>
            </a:r>
            <a:endParaRPr lang="en-US" sz="1600" dirty="0"/>
          </a:p>
        </p:txBody>
      </p:sp>
      <p:sp>
        <p:nvSpPr>
          <p:cNvPr id="34" name="Text 25"/>
          <p:cNvSpPr txBox="1"/>
          <p:nvPr/>
        </p:nvSpPr>
        <p:spPr>
          <a:xfrm>
            <a:off x="9357055" y="4480560"/>
            <a:ext cx="2057400" cy="640080"/>
          </a:xfrm>
          <a:prstGeom prst="rect">
            <a:avLst/>
          </a:prstGeom>
          <a:noFill/>
          <a:ln/>
        </p:spPr>
        <p:txBody>
          <a:bodyPr wrap="square" lIns="0" tIns="0" rIns="0" bIns="0" rtlCol="0" anchor="t"/>
          <a:lstStyle/>
          <a:p>
            <a:pPr marL="0" indent="0">
              <a:buNone/>
            </a:pPr>
            <a:r>
              <a:rPr lang="en-US" sz="1500" dirty="0">
                <a:solidFill>
                  <a:schemeClr val="tx2"/>
                </a:solidFill>
              </a:rPr>
              <a:t>The decision goes back out as a new signal.</a:t>
            </a:r>
            <a:endParaRPr lang="en-US" sz="1500" dirty="0"/>
          </a:p>
        </p:txBody>
      </p:sp>
      <p:sp>
        <p:nvSpPr>
          <p:cNvPr id="35" name="Shape 26"/>
          <p:cNvSpPr/>
          <p:nvPr/>
        </p:nvSpPr>
        <p:spPr>
          <a:xfrm>
            <a:off x="10385755" y="5212080"/>
            <a:ext cx="0" cy="594360"/>
          </a:xfrm>
          <a:prstGeom prst="line">
            <a:avLst/>
          </a:prstGeom>
          <a:noFill/>
          <a:ln w="25400">
            <a:solidFill>
              <a:srgbClr val="E8590C"/>
            </a:solidFill>
            <a:prstDash val="solid"/>
          </a:ln>
        </p:spPr>
      </p:sp>
      <p:sp>
        <p:nvSpPr>
          <p:cNvPr id="36" name="Shape 27"/>
          <p:cNvSpPr/>
          <p:nvPr/>
        </p:nvSpPr>
        <p:spPr>
          <a:xfrm>
            <a:off x="1805940" y="5806440"/>
            <a:ext cx="8579815" cy="0"/>
          </a:xfrm>
          <a:prstGeom prst="line">
            <a:avLst/>
          </a:prstGeom>
          <a:noFill/>
          <a:ln w="25400">
            <a:solidFill>
              <a:srgbClr val="E8590C"/>
            </a:solidFill>
            <a:prstDash val="solid"/>
          </a:ln>
        </p:spPr>
      </p:sp>
      <p:sp>
        <p:nvSpPr>
          <p:cNvPr id="37" name="Shape 28"/>
          <p:cNvSpPr/>
          <p:nvPr/>
        </p:nvSpPr>
        <p:spPr>
          <a:xfrm flipV="1">
            <a:off x="1805940" y="5212080"/>
            <a:ext cx="0" cy="594360"/>
          </a:xfrm>
          <a:prstGeom prst="line">
            <a:avLst/>
          </a:prstGeom>
          <a:noFill/>
          <a:ln w="25400">
            <a:solidFill>
              <a:srgbClr val="E8590C"/>
            </a:solidFill>
            <a:prstDash val="solid"/>
            <a:tailEnd type="triangle"/>
          </a:ln>
        </p:spPr>
      </p:sp>
      <p:sp>
        <p:nvSpPr>
          <p:cNvPr id="38" name="Loop label bg"/>
          <p:cNvSpPr/>
          <p:nvPr/>
        </p:nvSpPr>
        <p:spPr>
          <a:xfrm>
            <a:off x="4175608" y="5623560"/>
            <a:ext cx="3840480" cy="365760"/>
          </a:xfrm>
          <a:prstGeom prst="roundRect">
            <a:avLst>
              <a:gd name="adj" fmla="val 12500"/>
            </a:avLst>
          </a:prstGeom>
          <a:solidFill>
            <a:srgbClr val="FFFFFF"/>
          </a:solidFill>
          <a:ln/>
        </p:spPr>
      </p:sp>
      <p:sp>
        <p:nvSpPr>
          <p:cNvPr id="39" name="Text 30"/>
          <p:cNvSpPr txBox="1"/>
          <p:nvPr/>
        </p:nvSpPr>
        <p:spPr>
          <a:xfrm>
            <a:off x="4175608" y="5623560"/>
            <a:ext cx="3840480" cy="365760"/>
          </a:xfrm>
          <a:prstGeom prst="rect">
            <a:avLst/>
          </a:prstGeom>
          <a:noFill/>
          <a:ln/>
        </p:spPr>
        <p:txBody>
          <a:bodyPr wrap="square" lIns="0" tIns="0" rIns="0" bIns="0" rtlCol="0" anchor="ctr"/>
          <a:lstStyle/>
          <a:p>
            <a:pPr marL="0" indent="0" algn="ctr">
              <a:buNone/>
            </a:pPr>
            <a:r>
              <a:rPr lang="en-US" sz="1500" b="1" dirty="0">
                <a:solidFill>
                  <a:schemeClr val="accent1"/>
                </a:solidFill>
              </a:rPr>
              <a:t>Every action becomes the next signal</a:t>
            </a:r>
            <a:endParaRPr lang="en-US" sz="1500" dirty="0"/>
          </a:p>
        </p:txBody>
      </p:sp>
      <p:sp>
        <p:nvSpPr>
          <p:cNvPr id="40"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CAPTURE</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tx1"/>
                </a:solidFill>
              </a:rPr>
              <a:t>Every signal. Every platform. One field</a:t>
            </a:r>
            <a:endParaRPr lang="en-US" sz="3200" dirty="0"/>
          </a:p>
        </p:txBody>
      </p:sp>
      <p:sp>
        <p:nvSpPr>
          <p:cNvPr id="4" name="Text 2"/>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700" dirty="0">
                <a:solidFill>
                  <a:schemeClr val="tx2"/>
                </a:solidFill>
              </a:rPr>
              <a:t>Everything your marketing touches lands in one place, so the agents can read it together.</a:t>
            </a:r>
            <a:endParaRPr lang="en-US" sz="1700" dirty="0"/>
          </a:p>
        </p:txBody>
      </p:sp>
      <p:sp>
        <p:nvSpPr>
          <p:cNvPr id="5" name="Family Ads"/>
          <p:cNvSpPr/>
          <p:nvPr/>
        </p:nvSpPr>
        <p:spPr>
          <a:xfrm>
            <a:off x="548640" y="2011680"/>
            <a:ext cx="2072579" cy="3337560"/>
          </a:xfrm>
          <a:prstGeom prst="roundRect">
            <a:avLst>
              <a:gd name="adj" fmla="val 3530"/>
            </a:avLst>
          </a:prstGeom>
          <a:solidFill>
            <a:srgbClr val="F2EFE9"/>
          </a:solidFill>
          <a:ln/>
        </p:spPr>
      </p:sp>
      <p:sp>
        <p:nvSpPr>
          <p:cNvPr id="6" name="Icon disc"/>
          <p:cNvSpPr/>
          <p:nvPr/>
        </p:nvSpPr>
        <p:spPr>
          <a:xfrm>
            <a:off x="777240" y="2240280"/>
            <a:ext cx="548640" cy="548640"/>
          </a:xfrm>
          <a:prstGeom prst="ellipse">
            <a:avLst/>
          </a:prstGeom>
          <a:solidFill>
            <a:schemeClr val="accent1"/>
          </a:solidFill>
          <a:ln/>
        </p:spPr>
      </p:sp>
      <p:pic>
        <p:nvPicPr>
          <p:cNvPr id="7" name="Image 0" descr="Megaphone icon"/>
          <p:cNvPicPr>
            <a:picLocks noChangeAspect="1"/>
          </p:cNvPicPr>
          <p:nvPr/>
        </p:nvPicPr>
        <p:blipFill>
          <a:blip r:embed="rId3"/>
          <a:stretch>
            <a:fillRect/>
          </a:stretch>
        </p:blipFill>
        <p:spPr>
          <a:xfrm>
            <a:off x="908914" y="2371954"/>
            <a:ext cx="285293" cy="285293"/>
          </a:xfrm>
          <a:prstGeom prst="rect">
            <a:avLst/>
          </a:prstGeom>
        </p:spPr>
      </p:pic>
      <p:sp>
        <p:nvSpPr>
          <p:cNvPr id="8" name="Text 5"/>
          <p:cNvSpPr txBox="1"/>
          <p:nvPr/>
        </p:nvSpPr>
        <p:spPr>
          <a:xfrm>
            <a:off x="777240" y="2926080"/>
            <a:ext cx="1706819" cy="36576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Ads</a:t>
            </a:r>
            <a:endParaRPr lang="en-US" sz="2200" dirty="0"/>
          </a:p>
        </p:txBody>
      </p:sp>
      <p:sp>
        <p:nvSpPr>
          <p:cNvPr id="9" name="Text 6"/>
          <p:cNvSpPr txBox="1"/>
          <p:nvPr/>
        </p:nvSpPr>
        <p:spPr>
          <a:xfrm>
            <a:off x="777240" y="3429000"/>
            <a:ext cx="1706819" cy="274320"/>
          </a:xfrm>
          <a:prstGeom prst="rect">
            <a:avLst/>
          </a:prstGeom>
          <a:noFill/>
          <a:ln/>
        </p:spPr>
        <p:txBody>
          <a:bodyPr wrap="square" lIns="0" tIns="0" rIns="0" bIns="0" rtlCol="0" anchor="t"/>
          <a:lstStyle/>
          <a:p>
            <a:pPr marL="0" indent="0">
              <a:buNone/>
            </a:pPr>
            <a:r>
              <a:rPr lang="en-US" sz="1400" dirty="0">
                <a:solidFill>
                  <a:schemeClr val="tx1"/>
                </a:solidFill>
              </a:rPr>
              <a:t>Meta</a:t>
            </a:r>
            <a:endParaRPr lang="en-US" sz="1400" dirty="0"/>
          </a:p>
        </p:txBody>
      </p:sp>
      <p:sp>
        <p:nvSpPr>
          <p:cNvPr id="10" name="Text 7"/>
          <p:cNvSpPr txBox="1"/>
          <p:nvPr/>
        </p:nvSpPr>
        <p:spPr>
          <a:xfrm>
            <a:off x="777240" y="3739896"/>
            <a:ext cx="1706819" cy="274320"/>
          </a:xfrm>
          <a:prstGeom prst="rect">
            <a:avLst/>
          </a:prstGeom>
          <a:noFill/>
          <a:ln/>
        </p:spPr>
        <p:txBody>
          <a:bodyPr wrap="square" lIns="0" tIns="0" rIns="0" bIns="0" rtlCol="0" anchor="t"/>
          <a:lstStyle/>
          <a:p>
            <a:pPr marL="0" indent="0">
              <a:buNone/>
            </a:pPr>
            <a:r>
              <a:rPr lang="en-US" sz="1400" dirty="0">
                <a:solidFill>
                  <a:schemeClr val="tx1"/>
                </a:solidFill>
              </a:rPr>
              <a:t>Google</a:t>
            </a:r>
            <a:endParaRPr lang="en-US" sz="1400" dirty="0"/>
          </a:p>
        </p:txBody>
      </p:sp>
      <p:sp>
        <p:nvSpPr>
          <p:cNvPr id="11" name="Text 8"/>
          <p:cNvSpPr txBox="1"/>
          <p:nvPr/>
        </p:nvSpPr>
        <p:spPr>
          <a:xfrm>
            <a:off x="777240" y="4050792"/>
            <a:ext cx="1706819" cy="274320"/>
          </a:xfrm>
          <a:prstGeom prst="rect">
            <a:avLst/>
          </a:prstGeom>
          <a:noFill/>
          <a:ln/>
        </p:spPr>
        <p:txBody>
          <a:bodyPr wrap="square" lIns="0" tIns="0" rIns="0" bIns="0" rtlCol="0" anchor="t"/>
          <a:lstStyle/>
          <a:p>
            <a:pPr marL="0" indent="0">
              <a:buNone/>
            </a:pPr>
            <a:r>
              <a:rPr lang="en-US" sz="1400" dirty="0">
                <a:solidFill>
                  <a:schemeClr val="tx1"/>
                </a:solidFill>
              </a:rPr>
              <a:t>Amazon</a:t>
            </a:r>
            <a:endParaRPr lang="en-US" sz="1400" dirty="0"/>
          </a:p>
        </p:txBody>
      </p:sp>
      <p:sp>
        <p:nvSpPr>
          <p:cNvPr id="12" name="Text 9"/>
          <p:cNvSpPr txBox="1"/>
          <p:nvPr/>
        </p:nvSpPr>
        <p:spPr>
          <a:xfrm>
            <a:off x="777240" y="4361688"/>
            <a:ext cx="1706819" cy="274320"/>
          </a:xfrm>
          <a:prstGeom prst="rect">
            <a:avLst/>
          </a:prstGeom>
          <a:noFill/>
          <a:ln/>
        </p:spPr>
        <p:txBody>
          <a:bodyPr wrap="square" lIns="0" tIns="0" rIns="0" bIns="0" rtlCol="0" anchor="t"/>
          <a:lstStyle/>
          <a:p>
            <a:pPr marL="0" indent="0">
              <a:buNone/>
            </a:pPr>
            <a:r>
              <a:rPr lang="en-US" sz="1400" dirty="0">
                <a:solidFill>
                  <a:schemeClr val="tx1"/>
                </a:solidFill>
              </a:rPr>
              <a:t>Shopify</a:t>
            </a:r>
            <a:endParaRPr lang="en-US" sz="1400" dirty="0"/>
          </a:p>
        </p:txBody>
      </p:sp>
      <p:sp>
        <p:nvSpPr>
          <p:cNvPr id="13" name="Text 10"/>
          <p:cNvSpPr txBox="1"/>
          <p:nvPr/>
        </p:nvSpPr>
        <p:spPr>
          <a:xfrm>
            <a:off x="777240" y="4672584"/>
            <a:ext cx="1706819" cy="274320"/>
          </a:xfrm>
          <a:prstGeom prst="rect">
            <a:avLst/>
          </a:prstGeom>
          <a:noFill/>
          <a:ln/>
        </p:spPr>
        <p:txBody>
          <a:bodyPr wrap="square" lIns="0" tIns="0" rIns="0" bIns="0" rtlCol="0" anchor="t"/>
          <a:lstStyle/>
          <a:p>
            <a:pPr marL="0" indent="0">
              <a:buNone/>
            </a:pPr>
            <a:r>
              <a:rPr lang="en-US" sz="1400" dirty="0">
                <a:solidFill>
                  <a:schemeClr val="tx1"/>
                </a:solidFill>
              </a:rPr>
              <a:t>Retail media</a:t>
            </a:r>
            <a:endParaRPr lang="en-US" sz="1400" dirty="0"/>
          </a:p>
        </p:txBody>
      </p:sp>
      <p:sp>
        <p:nvSpPr>
          <p:cNvPr id="14" name="Text 11"/>
          <p:cNvSpPr txBox="1"/>
          <p:nvPr/>
        </p:nvSpPr>
        <p:spPr>
          <a:xfrm>
            <a:off x="777240" y="4983480"/>
            <a:ext cx="1706819" cy="274320"/>
          </a:xfrm>
          <a:prstGeom prst="rect">
            <a:avLst/>
          </a:prstGeom>
          <a:noFill/>
          <a:ln/>
        </p:spPr>
        <p:txBody>
          <a:bodyPr wrap="square" lIns="0" tIns="0" rIns="0" bIns="0" rtlCol="0" anchor="t"/>
          <a:lstStyle/>
          <a:p>
            <a:pPr marL="0" indent="0">
              <a:buNone/>
            </a:pPr>
            <a:r>
              <a:rPr lang="en-US" sz="1400" dirty="0">
                <a:solidFill>
                  <a:schemeClr val="tx1"/>
                </a:solidFill>
              </a:rPr>
              <a:t>Marketplaces</a:t>
            </a:r>
            <a:endParaRPr lang="en-US" sz="1400" dirty="0"/>
          </a:p>
        </p:txBody>
      </p:sp>
      <p:sp>
        <p:nvSpPr>
          <p:cNvPr id="15" name="Family Sites"/>
          <p:cNvSpPr/>
          <p:nvPr/>
        </p:nvSpPr>
        <p:spPr>
          <a:xfrm>
            <a:off x="2804099" y="2011680"/>
            <a:ext cx="2072579" cy="3337560"/>
          </a:xfrm>
          <a:prstGeom prst="roundRect">
            <a:avLst>
              <a:gd name="adj" fmla="val 3530"/>
            </a:avLst>
          </a:prstGeom>
          <a:solidFill>
            <a:srgbClr val="F2EFE9"/>
          </a:solidFill>
          <a:ln/>
        </p:spPr>
      </p:sp>
      <p:sp>
        <p:nvSpPr>
          <p:cNvPr id="16" name="Icon disc"/>
          <p:cNvSpPr/>
          <p:nvPr/>
        </p:nvSpPr>
        <p:spPr>
          <a:xfrm>
            <a:off x="3032699" y="2240280"/>
            <a:ext cx="548640" cy="548640"/>
          </a:xfrm>
          <a:prstGeom prst="ellipse">
            <a:avLst/>
          </a:prstGeom>
          <a:solidFill>
            <a:schemeClr val="accent1"/>
          </a:solidFill>
          <a:ln/>
        </p:spPr>
      </p:sp>
      <p:pic>
        <p:nvPicPr>
          <p:cNvPr id="17" name="Image 1" descr="Globe icon"/>
          <p:cNvPicPr>
            <a:picLocks noChangeAspect="1"/>
          </p:cNvPicPr>
          <p:nvPr/>
        </p:nvPicPr>
        <p:blipFill>
          <a:blip r:embed="rId4"/>
          <a:stretch>
            <a:fillRect/>
          </a:stretch>
        </p:blipFill>
        <p:spPr>
          <a:xfrm>
            <a:off x="3164373" y="2371954"/>
            <a:ext cx="285293" cy="285293"/>
          </a:xfrm>
          <a:prstGeom prst="rect">
            <a:avLst/>
          </a:prstGeom>
        </p:spPr>
      </p:pic>
      <p:sp>
        <p:nvSpPr>
          <p:cNvPr id="18" name="Text 14"/>
          <p:cNvSpPr txBox="1"/>
          <p:nvPr/>
        </p:nvSpPr>
        <p:spPr>
          <a:xfrm>
            <a:off x="3032699" y="2926080"/>
            <a:ext cx="1706819" cy="36576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Sites</a:t>
            </a:r>
            <a:endParaRPr lang="en-US" sz="2200" dirty="0"/>
          </a:p>
        </p:txBody>
      </p:sp>
      <p:sp>
        <p:nvSpPr>
          <p:cNvPr id="19" name="Text 15"/>
          <p:cNvSpPr txBox="1"/>
          <p:nvPr/>
        </p:nvSpPr>
        <p:spPr>
          <a:xfrm>
            <a:off x="3032699" y="3429000"/>
            <a:ext cx="1706819" cy="274320"/>
          </a:xfrm>
          <a:prstGeom prst="rect">
            <a:avLst/>
          </a:prstGeom>
          <a:noFill/>
          <a:ln/>
        </p:spPr>
        <p:txBody>
          <a:bodyPr wrap="square" lIns="0" tIns="0" rIns="0" bIns="0" rtlCol="0" anchor="t"/>
          <a:lstStyle/>
          <a:p>
            <a:pPr marL="0" indent="0">
              <a:buNone/>
            </a:pPr>
            <a:r>
              <a:rPr lang="en-US" sz="1400" dirty="0">
                <a:solidFill>
                  <a:schemeClr val="tx1"/>
                </a:solidFill>
              </a:rPr>
              <a:t>Your website</a:t>
            </a:r>
            <a:endParaRPr lang="en-US" sz="1400" dirty="0"/>
          </a:p>
        </p:txBody>
      </p:sp>
      <p:sp>
        <p:nvSpPr>
          <p:cNvPr id="20" name="Text 16"/>
          <p:cNvSpPr txBox="1"/>
          <p:nvPr/>
        </p:nvSpPr>
        <p:spPr>
          <a:xfrm>
            <a:off x="3032699" y="3739896"/>
            <a:ext cx="1706819" cy="274320"/>
          </a:xfrm>
          <a:prstGeom prst="rect">
            <a:avLst/>
          </a:prstGeom>
          <a:noFill/>
          <a:ln/>
        </p:spPr>
        <p:txBody>
          <a:bodyPr wrap="square" lIns="0" tIns="0" rIns="0" bIns="0" rtlCol="0" anchor="t"/>
          <a:lstStyle/>
          <a:p>
            <a:pPr marL="0" indent="0">
              <a:buNone/>
            </a:pPr>
            <a:r>
              <a:rPr lang="en-US" sz="1400" dirty="0">
                <a:solidFill>
                  <a:schemeClr val="tx1"/>
                </a:solidFill>
              </a:rPr>
              <a:t>Web analytics</a:t>
            </a:r>
            <a:endParaRPr lang="en-US" sz="1400" dirty="0"/>
          </a:p>
        </p:txBody>
      </p:sp>
      <p:sp>
        <p:nvSpPr>
          <p:cNvPr id="21" name="Text 17"/>
          <p:cNvSpPr txBox="1"/>
          <p:nvPr/>
        </p:nvSpPr>
        <p:spPr>
          <a:xfrm>
            <a:off x="3032699" y="4050792"/>
            <a:ext cx="1706819" cy="274320"/>
          </a:xfrm>
          <a:prstGeom prst="rect">
            <a:avLst/>
          </a:prstGeom>
          <a:noFill/>
          <a:ln/>
        </p:spPr>
        <p:txBody>
          <a:bodyPr wrap="square" lIns="0" tIns="0" rIns="0" bIns="0" rtlCol="0" anchor="t"/>
          <a:lstStyle/>
          <a:p>
            <a:pPr marL="0" indent="0">
              <a:buNone/>
            </a:pPr>
            <a:r>
              <a:rPr lang="en-US" sz="1400" dirty="0">
                <a:solidFill>
                  <a:schemeClr val="tx1"/>
                </a:solidFill>
              </a:rPr>
              <a:t>Search Console</a:t>
            </a:r>
            <a:endParaRPr lang="en-US" sz="1400" dirty="0"/>
          </a:p>
        </p:txBody>
      </p:sp>
      <p:sp>
        <p:nvSpPr>
          <p:cNvPr id="22" name="Text 18"/>
          <p:cNvSpPr txBox="1"/>
          <p:nvPr/>
        </p:nvSpPr>
        <p:spPr>
          <a:xfrm>
            <a:off x="3032699" y="4361688"/>
            <a:ext cx="1706819" cy="274320"/>
          </a:xfrm>
          <a:prstGeom prst="rect">
            <a:avLst/>
          </a:prstGeom>
          <a:noFill/>
          <a:ln/>
        </p:spPr>
        <p:txBody>
          <a:bodyPr wrap="square" lIns="0" tIns="0" rIns="0" bIns="0" rtlCol="0" anchor="t"/>
          <a:lstStyle/>
          <a:p>
            <a:pPr marL="0" indent="0">
              <a:buNone/>
            </a:pPr>
            <a:r>
              <a:rPr lang="en-US" sz="1400" dirty="0">
                <a:solidFill>
                  <a:schemeClr val="tx1"/>
                </a:solidFill>
              </a:rPr>
              <a:t>Landing pages</a:t>
            </a:r>
            <a:endParaRPr lang="en-US" sz="1400" dirty="0"/>
          </a:p>
        </p:txBody>
      </p:sp>
      <p:sp>
        <p:nvSpPr>
          <p:cNvPr id="23" name="Family Messaging"/>
          <p:cNvSpPr/>
          <p:nvPr/>
        </p:nvSpPr>
        <p:spPr>
          <a:xfrm>
            <a:off x="5059558" y="2011680"/>
            <a:ext cx="2072579" cy="3337560"/>
          </a:xfrm>
          <a:prstGeom prst="roundRect">
            <a:avLst>
              <a:gd name="adj" fmla="val 3530"/>
            </a:avLst>
          </a:prstGeom>
          <a:solidFill>
            <a:srgbClr val="F2EFE9"/>
          </a:solidFill>
          <a:ln/>
        </p:spPr>
      </p:sp>
      <p:sp>
        <p:nvSpPr>
          <p:cNvPr id="24" name="Icon disc"/>
          <p:cNvSpPr/>
          <p:nvPr/>
        </p:nvSpPr>
        <p:spPr>
          <a:xfrm>
            <a:off x="5288158" y="2240280"/>
            <a:ext cx="548640" cy="548640"/>
          </a:xfrm>
          <a:prstGeom prst="ellipse">
            <a:avLst/>
          </a:prstGeom>
          <a:solidFill>
            <a:schemeClr val="accent1"/>
          </a:solidFill>
          <a:ln/>
        </p:spPr>
      </p:sp>
      <p:pic>
        <p:nvPicPr>
          <p:cNvPr id="25" name="Image 2" descr="MessageCircle icon"/>
          <p:cNvPicPr>
            <a:picLocks noChangeAspect="1"/>
          </p:cNvPicPr>
          <p:nvPr/>
        </p:nvPicPr>
        <p:blipFill>
          <a:blip r:embed="rId5"/>
          <a:stretch>
            <a:fillRect/>
          </a:stretch>
        </p:blipFill>
        <p:spPr>
          <a:xfrm>
            <a:off x="5419832" y="2371954"/>
            <a:ext cx="285293" cy="285293"/>
          </a:xfrm>
          <a:prstGeom prst="rect">
            <a:avLst/>
          </a:prstGeom>
        </p:spPr>
      </p:pic>
      <p:sp>
        <p:nvSpPr>
          <p:cNvPr id="26" name="Text 21"/>
          <p:cNvSpPr txBox="1"/>
          <p:nvPr/>
        </p:nvSpPr>
        <p:spPr>
          <a:xfrm>
            <a:off x="5288158" y="2926080"/>
            <a:ext cx="1706819" cy="36576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Messaging</a:t>
            </a:r>
            <a:endParaRPr lang="en-US" sz="2200" dirty="0"/>
          </a:p>
        </p:txBody>
      </p:sp>
      <p:sp>
        <p:nvSpPr>
          <p:cNvPr id="27" name="Text 22"/>
          <p:cNvSpPr txBox="1"/>
          <p:nvPr/>
        </p:nvSpPr>
        <p:spPr>
          <a:xfrm>
            <a:off x="5288158" y="3429000"/>
            <a:ext cx="1706819" cy="274320"/>
          </a:xfrm>
          <a:prstGeom prst="rect">
            <a:avLst/>
          </a:prstGeom>
          <a:noFill/>
          <a:ln/>
        </p:spPr>
        <p:txBody>
          <a:bodyPr wrap="square" lIns="0" tIns="0" rIns="0" bIns="0" rtlCol="0" anchor="t"/>
          <a:lstStyle/>
          <a:p>
            <a:pPr marL="0" indent="0">
              <a:buNone/>
            </a:pPr>
            <a:r>
              <a:rPr lang="en-US" sz="1400" dirty="0">
                <a:solidFill>
                  <a:schemeClr val="tx1"/>
                </a:solidFill>
              </a:rPr>
              <a:t>WhatsApp</a:t>
            </a:r>
            <a:endParaRPr lang="en-US" sz="1400" dirty="0"/>
          </a:p>
        </p:txBody>
      </p:sp>
      <p:sp>
        <p:nvSpPr>
          <p:cNvPr id="28" name="Text 23"/>
          <p:cNvSpPr txBox="1"/>
          <p:nvPr/>
        </p:nvSpPr>
        <p:spPr>
          <a:xfrm>
            <a:off x="5288158" y="3739896"/>
            <a:ext cx="1706819" cy="274320"/>
          </a:xfrm>
          <a:prstGeom prst="rect">
            <a:avLst/>
          </a:prstGeom>
          <a:noFill/>
          <a:ln/>
        </p:spPr>
        <p:txBody>
          <a:bodyPr wrap="square" lIns="0" tIns="0" rIns="0" bIns="0" rtlCol="0" anchor="t"/>
          <a:lstStyle/>
          <a:p>
            <a:pPr marL="0" indent="0">
              <a:buNone/>
            </a:pPr>
            <a:r>
              <a:rPr lang="en-US" sz="1400" dirty="0">
                <a:solidFill>
                  <a:schemeClr val="tx1"/>
                </a:solidFill>
              </a:rPr>
              <a:t>SMS</a:t>
            </a:r>
            <a:endParaRPr lang="en-US" sz="1400" dirty="0"/>
          </a:p>
        </p:txBody>
      </p:sp>
      <p:sp>
        <p:nvSpPr>
          <p:cNvPr id="29" name="Text 24"/>
          <p:cNvSpPr txBox="1"/>
          <p:nvPr/>
        </p:nvSpPr>
        <p:spPr>
          <a:xfrm>
            <a:off x="5288158" y="4050792"/>
            <a:ext cx="1706819" cy="274320"/>
          </a:xfrm>
          <a:prstGeom prst="rect">
            <a:avLst/>
          </a:prstGeom>
          <a:noFill/>
          <a:ln/>
        </p:spPr>
        <p:txBody>
          <a:bodyPr wrap="square" lIns="0" tIns="0" rIns="0" bIns="0" rtlCol="0" anchor="t"/>
          <a:lstStyle/>
          <a:p>
            <a:pPr marL="0" indent="0">
              <a:buNone/>
            </a:pPr>
            <a:r>
              <a:rPr lang="en-US" sz="1400" dirty="0">
                <a:solidFill>
                  <a:schemeClr val="tx1"/>
                </a:solidFill>
              </a:rPr>
              <a:t>Email</a:t>
            </a:r>
            <a:endParaRPr lang="en-US" sz="1400" dirty="0"/>
          </a:p>
        </p:txBody>
      </p:sp>
      <p:sp>
        <p:nvSpPr>
          <p:cNvPr id="30" name="Family Customers"/>
          <p:cNvSpPr/>
          <p:nvPr/>
        </p:nvSpPr>
        <p:spPr>
          <a:xfrm>
            <a:off x="7315017" y="2011680"/>
            <a:ext cx="2072579" cy="3337560"/>
          </a:xfrm>
          <a:prstGeom prst="roundRect">
            <a:avLst>
              <a:gd name="adj" fmla="val 3530"/>
            </a:avLst>
          </a:prstGeom>
          <a:solidFill>
            <a:srgbClr val="F2EFE9"/>
          </a:solidFill>
          <a:ln/>
        </p:spPr>
      </p:sp>
      <p:sp>
        <p:nvSpPr>
          <p:cNvPr id="31" name="Icon disc"/>
          <p:cNvSpPr/>
          <p:nvPr/>
        </p:nvSpPr>
        <p:spPr>
          <a:xfrm>
            <a:off x="7543617" y="2240280"/>
            <a:ext cx="548640" cy="548640"/>
          </a:xfrm>
          <a:prstGeom prst="ellipse">
            <a:avLst/>
          </a:prstGeom>
          <a:solidFill>
            <a:schemeClr val="accent1"/>
          </a:solidFill>
          <a:ln/>
        </p:spPr>
      </p:sp>
      <p:pic>
        <p:nvPicPr>
          <p:cNvPr id="32" name="Image 3" descr="Users icon"/>
          <p:cNvPicPr>
            <a:picLocks noChangeAspect="1"/>
          </p:cNvPicPr>
          <p:nvPr/>
        </p:nvPicPr>
        <p:blipFill>
          <a:blip r:embed="rId6"/>
          <a:stretch>
            <a:fillRect/>
          </a:stretch>
        </p:blipFill>
        <p:spPr>
          <a:xfrm>
            <a:off x="7675291" y="2371954"/>
            <a:ext cx="285293" cy="285293"/>
          </a:xfrm>
          <a:prstGeom prst="rect">
            <a:avLst/>
          </a:prstGeom>
        </p:spPr>
      </p:pic>
      <p:sp>
        <p:nvSpPr>
          <p:cNvPr id="33" name="Text 27"/>
          <p:cNvSpPr txBox="1"/>
          <p:nvPr/>
        </p:nvSpPr>
        <p:spPr>
          <a:xfrm>
            <a:off x="7543617" y="2926080"/>
            <a:ext cx="1706819" cy="36576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Customers</a:t>
            </a:r>
            <a:endParaRPr lang="en-US" sz="2200" dirty="0"/>
          </a:p>
        </p:txBody>
      </p:sp>
      <p:sp>
        <p:nvSpPr>
          <p:cNvPr id="34" name="Text 28"/>
          <p:cNvSpPr txBox="1"/>
          <p:nvPr/>
        </p:nvSpPr>
        <p:spPr>
          <a:xfrm>
            <a:off x="7543617" y="3429000"/>
            <a:ext cx="1706819" cy="274320"/>
          </a:xfrm>
          <a:prstGeom prst="rect">
            <a:avLst/>
          </a:prstGeom>
          <a:noFill/>
          <a:ln/>
        </p:spPr>
        <p:txBody>
          <a:bodyPr wrap="square" lIns="0" tIns="0" rIns="0" bIns="0" rtlCol="0" anchor="t"/>
          <a:lstStyle/>
          <a:p>
            <a:pPr marL="0" indent="0">
              <a:buNone/>
            </a:pPr>
            <a:r>
              <a:rPr lang="en-US" sz="1400" dirty="0">
                <a:solidFill>
                  <a:schemeClr val="tx1"/>
                </a:solidFill>
              </a:rPr>
              <a:t>CRM</a:t>
            </a:r>
            <a:endParaRPr lang="en-US" sz="1400" dirty="0"/>
          </a:p>
        </p:txBody>
      </p:sp>
      <p:sp>
        <p:nvSpPr>
          <p:cNvPr id="35" name="Text 29"/>
          <p:cNvSpPr txBox="1"/>
          <p:nvPr/>
        </p:nvSpPr>
        <p:spPr>
          <a:xfrm>
            <a:off x="7543617" y="3739896"/>
            <a:ext cx="1706819" cy="274320"/>
          </a:xfrm>
          <a:prstGeom prst="rect">
            <a:avLst/>
          </a:prstGeom>
          <a:noFill/>
          <a:ln/>
        </p:spPr>
        <p:txBody>
          <a:bodyPr wrap="square" lIns="0" tIns="0" rIns="0" bIns="0" rtlCol="0" anchor="t"/>
          <a:lstStyle/>
          <a:p>
            <a:pPr marL="0" indent="0">
              <a:buNone/>
            </a:pPr>
            <a:r>
              <a:rPr lang="en-US" sz="1400" dirty="0">
                <a:solidFill>
                  <a:schemeClr val="tx1"/>
                </a:solidFill>
              </a:rPr>
              <a:t>Contact centre</a:t>
            </a:r>
            <a:endParaRPr lang="en-US" sz="1400" dirty="0"/>
          </a:p>
        </p:txBody>
      </p:sp>
      <p:sp>
        <p:nvSpPr>
          <p:cNvPr id="36" name="Text 30"/>
          <p:cNvSpPr txBox="1"/>
          <p:nvPr/>
        </p:nvSpPr>
        <p:spPr>
          <a:xfrm>
            <a:off x="7543617" y="4050792"/>
            <a:ext cx="1706819" cy="274320"/>
          </a:xfrm>
          <a:prstGeom prst="rect">
            <a:avLst/>
          </a:prstGeom>
          <a:noFill/>
          <a:ln/>
        </p:spPr>
        <p:txBody>
          <a:bodyPr wrap="square" lIns="0" tIns="0" rIns="0" bIns="0" rtlCol="0" anchor="t"/>
          <a:lstStyle/>
          <a:p>
            <a:pPr marL="0" indent="0">
              <a:buNone/>
            </a:pPr>
            <a:r>
              <a:rPr lang="en-US" sz="1400" dirty="0">
                <a:solidFill>
                  <a:schemeClr val="tx1"/>
                </a:solidFill>
              </a:rPr>
              <a:t>Support</a:t>
            </a:r>
            <a:endParaRPr lang="en-US" sz="1400" dirty="0"/>
          </a:p>
        </p:txBody>
      </p:sp>
      <p:sp>
        <p:nvSpPr>
          <p:cNvPr id="37" name="Text 31"/>
          <p:cNvSpPr txBox="1"/>
          <p:nvPr/>
        </p:nvSpPr>
        <p:spPr>
          <a:xfrm>
            <a:off x="7543617" y="4361688"/>
            <a:ext cx="1706819" cy="274320"/>
          </a:xfrm>
          <a:prstGeom prst="rect">
            <a:avLst/>
          </a:prstGeom>
          <a:noFill/>
          <a:ln/>
        </p:spPr>
        <p:txBody>
          <a:bodyPr wrap="square" lIns="0" tIns="0" rIns="0" bIns="0" rtlCol="0" anchor="t"/>
          <a:lstStyle/>
          <a:p>
            <a:pPr marL="0" indent="0">
              <a:buNone/>
            </a:pPr>
            <a:r>
              <a:rPr lang="en-US" sz="1400" dirty="0">
                <a:solidFill>
                  <a:schemeClr val="tx1"/>
                </a:solidFill>
              </a:rPr>
              <a:t>Reviews</a:t>
            </a:r>
            <a:endParaRPr lang="en-US" sz="1400" dirty="0"/>
          </a:p>
        </p:txBody>
      </p:sp>
      <p:sp>
        <p:nvSpPr>
          <p:cNvPr id="38" name="Text 32"/>
          <p:cNvSpPr txBox="1"/>
          <p:nvPr/>
        </p:nvSpPr>
        <p:spPr>
          <a:xfrm>
            <a:off x="7543617" y="4672584"/>
            <a:ext cx="1706819" cy="274320"/>
          </a:xfrm>
          <a:prstGeom prst="rect">
            <a:avLst/>
          </a:prstGeom>
          <a:noFill/>
          <a:ln/>
        </p:spPr>
        <p:txBody>
          <a:bodyPr wrap="square" lIns="0" tIns="0" rIns="0" bIns="0" rtlCol="0" anchor="t"/>
          <a:lstStyle/>
          <a:p>
            <a:pPr marL="0" indent="0">
              <a:buNone/>
            </a:pPr>
            <a:r>
              <a:rPr lang="en-US" sz="1400" dirty="0">
                <a:solidFill>
                  <a:schemeClr val="tx1"/>
                </a:solidFill>
              </a:rPr>
              <a:t>Google Business</a:t>
            </a:r>
            <a:endParaRPr lang="en-US" sz="1400" dirty="0"/>
          </a:p>
        </p:txBody>
      </p:sp>
      <p:sp>
        <p:nvSpPr>
          <p:cNvPr id="39" name="Family Physical"/>
          <p:cNvSpPr/>
          <p:nvPr/>
        </p:nvSpPr>
        <p:spPr>
          <a:xfrm>
            <a:off x="9570476" y="2011680"/>
            <a:ext cx="2072579" cy="3337560"/>
          </a:xfrm>
          <a:prstGeom prst="roundRect">
            <a:avLst>
              <a:gd name="adj" fmla="val 3530"/>
            </a:avLst>
          </a:prstGeom>
          <a:solidFill>
            <a:srgbClr val="F2EFE9"/>
          </a:solidFill>
          <a:ln/>
        </p:spPr>
      </p:sp>
      <p:sp>
        <p:nvSpPr>
          <p:cNvPr id="40" name="Icon disc"/>
          <p:cNvSpPr/>
          <p:nvPr/>
        </p:nvSpPr>
        <p:spPr>
          <a:xfrm>
            <a:off x="9799076" y="2240280"/>
            <a:ext cx="548640" cy="548640"/>
          </a:xfrm>
          <a:prstGeom prst="ellipse">
            <a:avLst/>
          </a:prstGeom>
          <a:solidFill>
            <a:schemeClr val="accent1"/>
          </a:solidFill>
          <a:ln/>
        </p:spPr>
      </p:sp>
      <p:pic>
        <p:nvPicPr>
          <p:cNvPr id="41" name="Image 4" descr="Store icon"/>
          <p:cNvPicPr>
            <a:picLocks noChangeAspect="1"/>
          </p:cNvPicPr>
          <p:nvPr/>
        </p:nvPicPr>
        <p:blipFill>
          <a:blip r:embed="rId7"/>
          <a:stretch>
            <a:fillRect/>
          </a:stretch>
        </p:blipFill>
        <p:spPr>
          <a:xfrm>
            <a:off x="9930750" y="2371954"/>
            <a:ext cx="285293" cy="285293"/>
          </a:xfrm>
          <a:prstGeom prst="rect">
            <a:avLst/>
          </a:prstGeom>
        </p:spPr>
      </p:pic>
      <p:sp>
        <p:nvSpPr>
          <p:cNvPr id="42" name="Text 35"/>
          <p:cNvSpPr txBox="1"/>
          <p:nvPr/>
        </p:nvSpPr>
        <p:spPr>
          <a:xfrm>
            <a:off x="9799076" y="2926080"/>
            <a:ext cx="1706819" cy="36576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Physical</a:t>
            </a:r>
            <a:endParaRPr lang="en-US" sz="2200" dirty="0"/>
          </a:p>
        </p:txBody>
      </p:sp>
      <p:sp>
        <p:nvSpPr>
          <p:cNvPr id="43" name="Text 36"/>
          <p:cNvSpPr txBox="1"/>
          <p:nvPr/>
        </p:nvSpPr>
        <p:spPr>
          <a:xfrm>
            <a:off x="9799076" y="3429000"/>
            <a:ext cx="1706819" cy="274320"/>
          </a:xfrm>
          <a:prstGeom prst="rect">
            <a:avLst/>
          </a:prstGeom>
          <a:noFill/>
          <a:ln/>
        </p:spPr>
        <p:txBody>
          <a:bodyPr wrap="square" lIns="0" tIns="0" rIns="0" bIns="0" rtlCol="0" anchor="t"/>
          <a:lstStyle/>
          <a:p>
            <a:pPr marL="0" indent="0">
              <a:buNone/>
            </a:pPr>
            <a:r>
              <a:rPr lang="en-US" sz="1400" dirty="0">
                <a:solidFill>
                  <a:schemeClr val="tx1"/>
                </a:solidFill>
              </a:rPr>
              <a:t>Store cameras</a:t>
            </a:r>
            <a:endParaRPr lang="en-US" sz="1400" dirty="0"/>
          </a:p>
        </p:txBody>
      </p:sp>
      <p:sp>
        <p:nvSpPr>
          <p:cNvPr id="44" name="Text 37"/>
          <p:cNvSpPr txBox="1"/>
          <p:nvPr/>
        </p:nvSpPr>
        <p:spPr>
          <a:xfrm>
            <a:off x="9799076" y="3739896"/>
            <a:ext cx="1706819" cy="274320"/>
          </a:xfrm>
          <a:prstGeom prst="rect">
            <a:avLst/>
          </a:prstGeom>
          <a:noFill/>
          <a:ln/>
        </p:spPr>
        <p:txBody>
          <a:bodyPr wrap="square" lIns="0" tIns="0" rIns="0" bIns="0" rtlCol="0" anchor="t"/>
          <a:lstStyle/>
          <a:p>
            <a:pPr marL="0" indent="0">
              <a:buNone/>
            </a:pPr>
            <a:r>
              <a:rPr lang="en-US" sz="1400" dirty="0">
                <a:solidFill>
                  <a:schemeClr val="tx1"/>
                </a:solidFill>
              </a:rPr>
              <a:t>POS</a:t>
            </a:r>
            <a:endParaRPr lang="en-US" sz="1400" dirty="0"/>
          </a:p>
        </p:txBody>
      </p:sp>
      <p:sp>
        <p:nvSpPr>
          <p:cNvPr id="45" name="Text 38"/>
          <p:cNvSpPr txBox="1"/>
          <p:nvPr/>
        </p:nvSpPr>
        <p:spPr>
          <a:xfrm>
            <a:off x="9799076" y="4050792"/>
            <a:ext cx="1706819" cy="274320"/>
          </a:xfrm>
          <a:prstGeom prst="rect">
            <a:avLst/>
          </a:prstGeom>
          <a:noFill/>
          <a:ln/>
        </p:spPr>
        <p:txBody>
          <a:bodyPr wrap="square" lIns="0" tIns="0" rIns="0" bIns="0" rtlCol="0" anchor="t"/>
          <a:lstStyle/>
          <a:p>
            <a:pPr marL="0" indent="0">
              <a:buNone/>
            </a:pPr>
            <a:r>
              <a:rPr lang="en-US" sz="1400" dirty="0">
                <a:solidFill>
                  <a:schemeClr val="tx1"/>
                </a:solidFill>
              </a:rPr>
              <a:t>Footfall</a:t>
            </a:r>
            <a:endParaRPr lang="en-US" sz="1400" dirty="0"/>
          </a:p>
        </p:txBody>
      </p:sp>
      <p:sp>
        <p:nvSpPr>
          <p:cNvPr id="46" name="Text 39"/>
          <p:cNvSpPr txBox="1"/>
          <p:nvPr/>
        </p:nvSpPr>
        <p:spPr>
          <a:xfrm>
            <a:off x="548640" y="5641848"/>
            <a:ext cx="1463040" cy="329184"/>
          </a:xfrm>
          <a:prstGeom prst="rect">
            <a:avLst/>
          </a:prstGeom>
          <a:noFill/>
          <a:ln/>
        </p:spPr>
        <p:txBody>
          <a:bodyPr wrap="square" lIns="0" tIns="0" rIns="0" bIns="0" rtlCol="0" anchor="ctr"/>
          <a:lstStyle/>
          <a:p>
            <a:pPr marL="0" indent="0">
              <a:buNone/>
            </a:pPr>
            <a:r>
              <a:rPr lang="en-US" sz="1200" b="1" kern="0" spc="300" dirty="0">
                <a:solidFill>
                  <a:schemeClr val="accent4"/>
                </a:solidFill>
              </a:rPr>
              <a:t>CAPTURED BY</a:t>
            </a:r>
            <a:endParaRPr lang="en-US" sz="1200" dirty="0"/>
          </a:p>
        </p:txBody>
      </p:sp>
      <p:sp>
        <p:nvSpPr>
          <p:cNvPr id="47" name="Shape 40"/>
          <p:cNvSpPr/>
          <p:nvPr/>
        </p:nvSpPr>
        <p:spPr>
          <a:xfrm>
            <a:off x="2148840" y="5641848"/>
            <a:ext cx="1554480" cy="329184"/>
          </a:xfrm>
          <a:prstGeom prst="roundRect">
            <a:avLst>
              <a:gd name="adj" fmla="val 50000"/>
            </a:avLst>
          </a:prstGeom>
          <a:solidFill>
            <a:srgbClr val="FFFFFF"/>
          </a:solidFill>
          <a:ln w="15875">
            <a:solidFill>
              <a:srgbClr val="E8590C"/>
            </a:solidFill>
            <a:prstDash val="solid"/>
          </a:ln>
        </p:spPr>
      </p:sp>
      <p:sp>
        <p:nvSpPr>
          <p:cNvPr id="48" name="Text 41"/>
          <p:cNvSpPr txBox="1"/>
          <p:nvPr/>
        </p:nvSpPr>
        <p:spPr>
          <a:xfrm>
            <a:off x="2148840" y="5641848"/>
            <a:ext cx="1554480" cy="329184"/>
          </a:xfrm>
          <a:prstGeom prst="rect">
            <a:avLst/>
          </a:prstGeom>
          <a:noFill/>
          <a:ln/>
        </p:spPr>
        <p:txBody>
          <a:bodyPr wrap="square" lIns="0" tIns="0" rIns="0" bIns="0" rtlCol="0" anchor="ctr"/>
          <a:lstStyle/>
          <a:p>
            <a:pPr marL="0" indent="0" algn="ctr">
              <a:buNone/>
            </a:pPr>
            <a:r>
              <a:rPr lang="en-US" sz="1300" b="1" dirty="0">
                <a:solidFill>
                  <a:schemeClr val="accent1"/>
                </a:solidFill>
              </a:rPr>
              <a:t>Commerce OS</a:t>
            </a:r>
            <a:endParaRPr lang="en-US" sz="1300" dirty="0"/>
          </a:p>
        </p:txBody>
      </p:sp>
      <p:sp>
        <p:nvSpPr>
          <p:cNvPr id="49" name="Shape 42"/>
          <p:cNvSpPr/>
          <p:nvPr/>
        </p:nvSpPr>
        <p:spPr>
          <a:xfrm>
            <a:off x="3867912" y="5641848"/>
            <a:ext cx="1143000" cy="329184"/>
          </a:xfrm>
          <a:prstGeom prst="roundRect">
            <a:avLst>
              <a:gd name="adj" fmla="val 50000"/>
            </a:avLst>
          </a:prstGeom>
          <a:solidFill>
            <a:srgbClr val="FFFFFF"/>
          </a:solidFill>
          <a:ln w="15875">
            <a:solidFill>
              <a:srgbClr val="E8590C"/>
            </a:solidFill>
            <a:prstDash val="solid"/>
          </a:ln>
        </p:spPr>
      </p:sp>
      <p:sp>
        <p:nvSpPr>
          <p:cNvPr id="50" name="Text 43"/>
          <p:cNvSpPr txBox="1"/>
          <p:nvPr/>
        </p:nvSpPr>
        <p:spPr>
          <a:xfrm>
            <a:off x="3867912" y="5641848"/>
            <a:ext cx="1143000" cy="329184"/>
          </a:xfrm>
          <a:prstGeom prst="rect">
            <a:avLst/>
          </a:prstGeom>
          <a:noFill/>
          <a:ln/>
        </p:spPr>
        <p:txBody>
          <a:bodyPr wrap="square" lIns="0" tIns="0" rIns="0" bIns="0" rtlCol="0" anchor="ctr"/>
          <a:lstStyle/>
          <a:p>
            <a:pPr marL="0" indent="0" algn="ctr">
              <a:buNone/>
            </a:pPr>
            <a:r>
              <a:rPr lang="en-US" sz="1300" b="1" dirty="0">
                <a:solidFill>
                  <a:schemeClr val="accent1"/>
                </a:solidFill>
              </a:rPr>
              <a:t>Matomo</a:t>
            </a:r>
            <a:endParaRPr lang="en-US" sz="1300" dirty="0"/>
          </a:p>
        </p:txBody>
      </p:sp>
      <p:sp>
        <p:nvSpPr>
          <p:cNvPr id="51" name="Shape 44"/>
          <p:cNvSpPr/>
          <p:nvPr/>
        </p:nvSpPr>
        <p:spPr>
          <a:xfrm>
            <a:off x="5175504" y="5641848"/>
            <a:ext cx="1371600" cy="329184"/>
          </a:xfrm>
          <a:prstGeom prst="roundRect">
            <a:avLst>
              <a:gd name="adj" fmla="val 50000"/>
            </a:avLst>
          </a:prstGeom>
          <a:solidFill>
            <a:srgbClr val="FFFFFF"/>
          </a:solidFill>
          <a:ln w="15875">
            <a:solidFill>
              <a:srgbClr val="E8590C"/>
            </a:solidFill>
            <a:prstDash val="solid"/>
          </a:ln>
        </p:spPr>
      </p:sp>
      <p:sp>
        <p:nvSpPr>
          <p:cNvPr id="52" name="Text 45"/>
          <p:cNvSpPr txBox="1"/>
          <p:nvPr/>
        </p:nvSpPr>
        <p:spPr>
          <a:xfrm>
            <a:off x="5175504" y="5641848"/>
            <a:ext cx="1371600" cy="329184"/>
          </a:xfrm>
          <a:prstGeom prst="rect">
            <a:avLst/>
          </a:prstGeom>
          <a:noFill/>
          <a:ln/>
        </p:spPr>
        <p:txBody>
          <a:bodyPr wrap="square" lIns="0" tIns="0" rIns="0" bIns="0" rtlCol="0" anchor="ctr"/>
          <a:lstStyle/>
          <a:p>
            <a:pPr marL="0" indent="0" algn="ctr">
              <a:buNone/>
            </a:pPr>
            <a:r>
              <a:rPr lang="en-US" sz="1300" b="1" dirty="0">
                <a:solidFill>
                  <a:schemeClr val="accent1"/>
                </a:solidFill>
              </a:rPr>
              <a:t>Hyperlocal</a:t>
            </a:r>
            <a:endParaRPr lang="en-US" sz="1300" dirty="0"/>
          </a:p>
        </p:txBody>
      </p:sp>
      <p:sp>
        <p:nvSpPr>
          <p:cNvPr id="53" name="Shape 46"/>
          <p:cNvSpPr/>
          <p:nvPr/>
        </p:nvSpPr>
        <p:spPr>
          <a:xfrm>
            <a:off x="6711696" y="5641848"/>
            <a:ext cx="1691640" cy="329184"/>
          </a:xfrm>
          <a:prstGeom prst="roundRect">
            <a:avLst>
              <a:gd name="adj" fmla="val 50000"/>
            </a:avLst>
          </a:prstGeom>
          <a:solidFill>
            <a:srgbClr val="FFFFFF"/>
          </a:solidFill>
          <a:ln w="15875">
            <a:solidFill>
              <a:srgbClr val="E8590C"/>
            </a:solidFill>
            <a:prstDash val="solid"/>
          </a:ln>
        </p:spPr>
      </p:sp>
      <p:sp>
        <p:nvSpPr>
          <p:cNvPr id="54" name="Text 47"/>
          <p:cNvSpPr txBox="1"/>
          <p:nvPr/>
        </p:nvSpPr>
        <p:spPr>
          <a:xfrm>
            <a:off x="6711696" y="5641848"/>
            <a:ext cx="1691640" cy="329184"/>
          </a:xfrm>
          <a:prstGeom prst="rect">
            <a:avLst/>
          </a:prstGeom>
          <a:noFill/>
          <a:ln/>
        </p:spPr>
        <p:txBody>
          <a:bodyPr wrap="square" lIns="0" tIns="0" rIns="0" bIns="0" rtlCol="0" anchor="ctr"/>
          <a:lstStyle/>
          <a:p>
            <a:pPr marL="0" indent="0" algn="ctr">
              <a:buNone/>
            </a:pPr>
            <a:r>
              <a:rPr lang="en-US" sz="1300" b="1" dirty="0">
                <a:solidFill>
                  <a:schemeClr val="accent1"/>
                </a:solidFill>
              </a:rPr>
              <a:t>CRM &amp; Support</a:t>
            </a:r>
            <a:endParaRPr lang="en-US" sz="1300" dirty="0"/>
          </a:p>
        </p:txBody>
      </p:sp>
      <p:sp>
        <p:nvSpPr>
          <p:cNvPr id="5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LEARN  ·  CREATE</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tx1"/>
                </a:solidFill>
              </a:rPr>
              <a:t>The signal becomes the brief</a:t>
            </a:r>
            <a:endParaRPr lang="en-US" sz="3200" dirty="0"/>
          </a:p>
        </p:txBody>
      </p:sp>
      <p:sp>
        <p:nvSpPr>
          <p:cNvPr id="4" name="Text 2"/>
          <p:cNvSpPr txBox="1"/>
          <p:nvPr/>
        </p:nvSpPr>
        <p:spPr>
          <a:xfrm>
            <a:off x="548640" y="1325880"/>
            <a:ext cx="10515600" cy="365760"/>
          </a:xfrm>
          <a:prstGeom prst="rect">
            <a:avLst/>
          </a:prstGeom>
          <a:noFill/>
          <a:ln/>
        </p:spPr>
        <p:txBody>
          <a:bodyPr wrap="square" lIns="0" tIns="0" rIns="0" bIns="0" rtlCol="0" anchor="t"/>
          <a:lstStyle/>
          <a:p>
            <a:pPr marL="0" indent="0">
              <a:buNone/>
            </a:pPr>
            <a:r>
              <a:rPr lang="en-US" sz="1700" dirty="0">
                <a:solidFill>
                  <a:schemeClr val="tx2"/>
                </a:solidFill>
              </a:rPr>
              <a:t>Performance, behaviour and customer signals become one read, in the moment, not in a Monday report.</a:t>
            </a:r>
            <a:endParaRPr lang="en-US" sz="1700" dirty="0"/>
          </a:p>
        </p:txBody>
      </p:sp>
      <p:sp>
        <p:nvSpPr>
          <p:cNvPr id="5" name="Learn card"/>
          <p:cNvSpPr/>
          <p:nvPr/>
        </p:nvSpPr>
        <p:spPr>
          <a:xfrm>
            <a:off x="548640" y="2011680"/>
            <a:ext cx="5029200" cy="4114800"/>
          </a:xfrm>
          <a:prstGeom prst="roundRect">
            <a:avLst>
              <a:gd name="adj" fmla="val 1778"/>
            </a:avLst>
          </a:prstGeom>
          <a:solidFill>
            <a:srgbClr val="F2EFE9"/>
          </a:solidFill>
          <a:ln/>
        </p:spPr>
      </p:sp>
      <p:sp>
        <p:nvSpPr>
          <p:cNvPr id="6" name="Text 4"/>
          <p:cNvSpPr txBox="1"/>
          <p:nvPr/>
        </p:nvSpPr>
        <p:spPr>
          <a:xfrm>
            <a:off x="822960" y="2212848"/>
            <a:ext cx="27432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LEARN</a:t>
            </a:r>
            <a:endParaRPr lang="en-US" sz="1200" dirty="0"/>
          </a:p>
        </p:txBody>
      </p:sp>
      <p:sp>
        <p:nvSpPr>
          <p:cNvPr id="7" name="Text 5"/>
          <p:cNvSpPr txBox="1"/>
          <p:nvPr/>
        </p:nvSpPr>
        <p:spPr>
          <a:xfrm>
            <a:off x="822960" y="2514600"/>
            <a:ext cx="4480560" cy="365760"/>
          </a:xfrm>
          <a:prstGeom prst="rect">
            <a:avLst/>
          </a:prstGeom>
          <a:noFill/>
          <a:ln/>
        </p:spPr>
        <p:txBody>
          <a:bodyPr wrap="square" lIns="0" tIns="0" rIns="0" bIns="0" rtlCol="0" anchor="t"/>
          <a:lstStyle/>
          <a:p>
            <a:pPr marL="0" indent="0">
              <a:buNone/>
            </a:pPr>
            <a:r>
              <a:rPr lang="en-US" sz="1800" dirty="0">
                <a:solidFill>
                  <a:schemeClr val="tx1"/>
                </a:solidFill>
                <a:latin typeface="+mj-lt" pitchFamily="34" charset="0"/>
                <a:ea typeface="+mj-lt" pitchFamily="34" charset="-122"/>
                <a:cs typeface="+mj-lt" pitchFamily="34" charset="-120"/>
              </a:rPr>
              <a:t>Agents read signals, not next week</a:t>
            </a:r>
            <a:endParaRPr lang="en-US" sz="1800" dirty="0"/>
          </a:p>
        </p:txBody>
      </p:sp>
      <p:pic>
        <p:nvPicPr>
          <p:cNvPr id="8" name="Image 0" descr="Bell icon"/>
          <p:cNvPicPr>
            <a:picLocks noChangeAspect="1"/>
          </p:cNvPicPr>
          <p:nvPr/>
        </p:nvPicPr>
        <p:blipFill>
          <a:blip r:embed="rId3"/>
          <a:stretch>
            <a:fillRect/>
          </a:stretch>
        </p:blipFill>
        <p:spPr>
          <a:xfrm>
            <a:off x="822960" y="3200400"/>
            <a:ext cx="365760" cy="365760"/>
          </a:xfrm>
          <a:prstGeom prst="rect">
            <a:avLst/>
          </a:prstGeom>
        </p:spPr>
      </p:pic>
      <p:sp>
        <p:nvSpPr>
          <p:cNvPr id="9" name="Text 6"/>
          <p:cNvSpPr txBox="1"/>
          <p:nvPr/>
        </p:nvSpPr>
        <p:spPr>
          <a:xfrm>
            <a:off x="1371600" y="3108960"/>
            <a:ext cx="4023360" cy="292608"/>
          </a:xfrm>
          <a:prstGeom prst="rect">
            <a:avLst/>
          </a:prstGeom>
          <a:noFill/>
          <a:ln/>
        </p:spPr>
        <p:txBody>
          <a:bodyPr wrap="square" lIns="0" tIns="0" rIns="0" bIns="0" rtlCol="0" anchor="t"/>
          <a:lstStyle/>
          <a:p>
            <a:pPr marL="0" indent="0">
              <a:buNone/>
            </a:pPr>
            <a:r>
              <a:rPr lang="en-US" sz="1600" b="1" dirty="0">
                <a:solidFill>
                  <a:schemeClr val="tx1"/>
                </a:solidFill>
              </a:rPr>
              <a:t>What is fatiguing</a:t>
            </a:r>
            <a:endParaRPr lang="en-US" sz="1600" dirty="0"/>
          </a:p>
        </p:txBody>
      </p:sp>
      <p:sp>
        <p:nvSpPr>
          <p:cNvPr id="10" name="Text 7"/>
          <p:cNvSpPr txBox="1"/>
          <p:nvPr/>
        </p:nvSpPr>
        <p:spPr>
          <a:xfrm>
            <a:off x="1371600" y="3410712"/>
            <a:ext cx="4023360" cy="274320"/>
          </a:xfrm>
          <a:prstGeom prst="rect">
            <a:avLst/>
          </a:prstGeom>
          <a:noFill/>
          <a:ln/>
        </p:spPr>
        <p:txBody>
          <a:bodyPr wrap="square" lIns="0" tIns="0" rIns="0" bIns="0" rtlCol="0" anchor="t"/>
          <a:lstStyle/>
          <a:p>
            <a:pPr marL="0" indent="0">
              <a:buNone/>
            </a:pPr>
            <a:r>
              <a:rPr lang="en-US" sz="1400" dirty="0">
                <a:solidFill>
                  <a:schemeClr val="tx2"/>
                </a:solidFill>
              </a:rPr>
              <a:t>Ads people have seen too many times</a:t>
            </a:r>
            <a:endParaRPr lang="en-US" sz="1400" dirty="0"/>
          </a:p>
        </p:txBody>
      </p:sp>
      <p:pic>
        <p:nvPicPr>
          <p:cNvPr id="11" name="Image 1" descr="TrendingUp icon"/>
          <p:cNvPicPr>
            <a:picLocks noChangeAspect="1"/>
          </p:cNvPicPr>
          <p:nvPr/>
        </p:nvPicPr>
        <p:blipFill>
          <a:blip r:embed="rId4"/>
          <a:stretch>
            <a:fillRect/>
          </a:stretch>
        </p:blipFill>
        <p:spPr>
          <a:xfrm>
            <a:off x="822960" y="3950208"/>
            <a:ext cx="365760" cy="365760"/>
          </a:xfrm>
          <a:prstGeom prst="rect">
            <a:avLst/>
          </a:prstGeom>
        </p:spPr>
      </p:pic>
      <p:sp>
        <p:nvSpPr>
          <p:cNvPr id="12" name="Text 8"/>
          <p:cNvSpPr txBox="1"/>
          <p:nvPr/>
        </p:nvSpPr>
        <p:spPr>
          <a:xfrm>
            <a:off x="1371600" y="3858768"/>
            <a:ext cx="4023360" cy="292608"/>
          </a:xfrm>
          <a:prstGeom prst="rect">
            <a:avLst/>
          </a:prstGeom>
          <a:noFill/>
          <a:ln/>
        </p:spPr>
        <p:txBody>
          <a:bodyPr wrap="square" lIns="0" tIns="0" rIns="0" bIns="0" rtlCol="0" anchor="t"/>
          <a:lstStyle/>
          <a:p>
            <a:pPr marL="0" indent="0">
              <a:buNone/>
            </a:pPr>
            <a:r>
              <a:rPr lang="en-US" sz="1600" b="1" dirty="0">
                <a:solidFill>
                  <a:schemeClr val="tx1"/>
                </a:solidFill>
              </a:rPr>
              <a:t>What is scaling</a:t>
            </a:r>
            <a:endParaRPr lang="en-US" sz="1600" dirty="0"/>
          </a:p>
        </p:txBody>
      </p:sp>
      <p:sp>
        <p:nvSpPr>
          <p:cNvPr id="13" name="Text 9"/>
          <p:cNvSpPr txBox="1"/>
          <p:nvPr/>
        </p:nvSpPr>
        <p:spPr>
          <a:xfrm>
            <a:off x="1371600" y="4160520"/>
            <a:ext cx="4023360" cy="274320"/>
          </a:xfrm>
          <a:prstGeom prst="rect">
            <a:avLst/>
          </a:prstGeom>
          <a:noFill/>
          <a:ln/>
        </p:spPr>
        <p:txBody>
          <a:bodyPr wrap="square" lIns="0" tIns="0" rIns="0" bIns="0" rtlCol="0" anchor="t"/>
          <a:lstStyle/>
          <a:p>
            <a:pPr marL="0" indent="0">
              <a:buNone/>
            </a:pPr>
            <a:r>
              <a:rPr lang="en-US" sz="1400" dirty="0">
                <a:solidFill>
                  <a:schemeClr val="tx2"/>
                </a:solidFill>
              </a:rPr>
              <a:t>Ads that are winning</a:t>
            </a:r>
            <a:endParaRPr lang="en-US" sz="1400" dirty="0"/>
          </a:p>
        </p:txBody>
      </p:sp>
      <p:pic>
        <p:nvPicPr>
          <p:cNvPr id="14" name="Image 2" descr="Wallet icon"/>
          <p:cNvPicPr>
            <a:picLocks noChangeAspect="1"/>
          </p:cNvPicPr>
          <p:nvPr/>
        </p:nvPicPr>
        <p:blipFill>
          <a:blip r:embed="rId5"/>
          <a:stretch>
            <a:fillRect/>
          </a:stretch>
        </p:blipFill>
        <p:spPr>
          <a:xfrm>
            <a:off x="822960" y="4700016"/>
            <a:ext cx="365760" cy="365760"/>
          </a:xfrm>
          <a:prstGeom prst="rect">
            <a:avLst/>
          </a:prstGeom>
        </p:spPr>
      </p:pic>
      <p:sp>
        <p:nvSpPr>
          <p:cNvPr id="15" name="Text 10"/>
          <p:cNvSpPr txBox="1"/>
          <p:nvPr/>
        </p:nvSpPr>
        <p:spPr>
          <a:xfrm>
            <a:off x="1371600" y="4608576"/>
            <a:ext cx="4023360" cy="292608"/>
          </a:xfrm>
          <a:prstGeom prst="rect">
            <a:avLst/>
          </a:prstGeom>
          <a:noFill/>
          <a:ln/>
        </p:spPr>
        <p:txBody>
          <a:bodyPr wrap="square" lIns="0" tIns="0" rIns="0" bIns="0" rtlCol="0" anchor="t"/>
          <a:lstStyle/>
          <a:p>
            <a:pPr marL="0" indent="0">
              <a:buNone/>
            </a:pPr>
            <a:r>
              <a:rPr lang="en-US" sz="1600" b="1" dirty="0">
                <a:solidFill>
                  <a:schemeClr val="tx1"/>
                </a:solidFill>
              </a:rPr>
              <a:t>Where the budget leaks</a:t>
            </a:r>
            <a:endParaRPr lang="en-US" sz="1600" dirty="0"/>
          </a:p>
        </p:txBody>
      </p:sp>
      <p:sp>
        <p:nvSpPr>
          <p:cNvPr id="16" name="Text 11"/>
          <p:cNvSpPr txBox="1"/>
          <p:nvPr/>
        </p:nvSpPr>
        <p:spPr>
          <a:xfrm>
            <a:off x="1371600" y="4910328"/>
            <a:ext cx="4023360" cy="274320"/>
          </a:xfrm>
          <a:prstGeom prst="rect">
            <a:avLst/>
          </a:prstGeom>
          <a:noFill/>
          <a:ln/>
        </p:spPr>
        <p:txBody>
          <a:bodyPr wrap="square" lIns="0" tIns="0" rIns="0" bIns="0" rtlCol="0" anchor="t"/>
          <a:lstStyle/>
          <a:p>
            <a:pPr marL="0" indent="0">
              <a:buNone/>
            </a:pPr>
            <a:r>
              <a:rPr lang="en-US" sz="1400" dirty="0">
                <a:solidFill>
                  <a:schemeClr val="tx2"/>
                </a:solidFill>
              </a:rPr>
              <a:t>Spend going to what is not working</a:t>
            </a:r>
            <a:endParaRPr lang="en-US" sz="1400" dirty="0"/>
          </a:p>
        </p:txBody>
      </p:sp>
      <p:pic>
        <p:nvPicPr>
          <p:cNvPr id="17" name="Image 3" descr="UserMinus icon"/>
          <p:cNvPicPr>
            <a:picLocks noChangeAspect="1"/>
          </p:cNvPicPr>
          <p:nvPr/>
        </p:nvPicPr>
        <p:blipFill>
          <a:blip r:embed="rId6"/>
          <a:stretch>
            <a:fillRect/>
          </a:stretch>
        </p:blipFill>
        <p:spPr>
          <a:xfrm>
            <a:off x="822960" y="5449824"/>
            <a:ext cx="365760" cy="365760"/>
          </a:xfrm>
          <a:prstGeom prst="rect">
            <a:avLst/>
          </a:prstGeom>
        </p:spPr>
      </p:pic>
      <p:sp>
        <p:nvSpPr>
          <p:cNvPr id="18" name="Text 12"/>
          <p:cNvSpPr txBox="1"/>
          <p:nvPr/>
        </p:nvSpPr>
        <p:spPr>
          <a:xfrm>
            <a:off x="1371600" y="5358384"/>
            <a:ext cx="4023360" cy="292608"/>
          </a:xfrm>
          <a:prstGeom prst="rect">
            <a:avLst/>
          </a:prstGeom>
          <a:noFill/>
          <a:ln/>
        </p:spPr>
        <p:txBody>
          <a:bodyPr wrap="square" lIns="0" tIns="0" rIns="0" bIns="0" rtlCol="0" anchor="t"/>
          <a:lstStyle/>
          <a:p>
            <a:pPr marL="0" indent="0">
              <a:buNone/>
            </a:pPr>
            <a:r>
              <a:rPr lang="en-US" sz="1600" b="1" dirty="0">
                <a:solidFill>
                  <a:schemeClr val="tx1"/>
                </a:solidFill>
              </a:rPr>
              <a:t>Who is about to churn</a:t>
            </a:r>
            <a:endParaRPr lang="en-US" sz="1600" dirty="0"/>
          </a:p>
        </p:txBody>
      </p:sp>
      <p:sp>
        <p:nvSpPr>
          <p:cNvPr id="19" name="Text 13"/>
          <p:cNvSpPr txBox="1"/>
          <p:nvPr/>
        </p:nvSpPr>
        <p:spPr>
          <a:xfrm>
            <a:off x="1371600" y="5660136"/>
            <a:ext cx="4023360" cy="274320"/>
          </a:xfrm>
          <a:prstGeom prst="rect">
            <a:avLst/>
          </a:prstGeom>
          <a:noFill/>
          <a:ln/>
        </p:spPr>
        <p:txBody>
          <a:bodyPr wrap="square" lIns="0" tIns="0" rIns="0" bIns="0" rtlCol="0" anchor="t"/>
          <a:lstStyle/>
          <a:p>
            <a:pPr marL="0" indent="0">
              <a:buNone/>
            </a:pPr>
            <a:r>
              <a:rPr lang="en-US" sz="1400" dirty="0">
                <a:solidFill>
                  <a:schemeClr val="tx2"/>
                </a:solidFill>
              </a:rPr>
              <a:t>Buyers likely to leave</a:t>
            </a:r>
            <a:endParaRPr lang="en-US" sz="1400" dirty="0"/>
          </a:p>
        </p:txBody>
      </p:sp>
      <p:sp>
        <p:nvSpPr>
          <p:cNvPr id="20" name="Create card"/>
          <p:cNvSpPr/>
          <p:nvPr/>
        </p:nvSpPr>
        <p:spPr>
          <a:xfrm>
            <a:off x="5852160" y="2011680"/>
            <a:ext cx="5790895" cy="4114800"/>
          </a:xfrm>
          <a:prstGeom prst="roundRect">
            <a:avLst>
              <a:gd name="adj" fmla="val 1778"/>
            </a:avLst>
          </a:prstGeom>
          <a:solidFill>
            <a:srgbClr val="FFFFFF"/>
          </a:solidFill>
          <a:ln w="12700">
            <a:solidFill>
              <a:srgbClr val="DDD8CF"/>
            </a:solidFill>
            <a:prstDash val="solid"/>
          </a:ln>
        </p:spPr>
      </p:sp>
      <p:sp>
        <p:nvSpPr>
          <p:cNvPr id="21" name="Text 15"/>
          <p:cNvSpPr txBox="1"/>
          <p:nvPr/>
        </p:nvSpPr>
        <p:spPr>
          <a:xfrm>
            <a:off x="6126480" y="2212848"/>
            <a:ext cx="27432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CREATE</a:t>
            </a:r>
            <a:endParaRPr lang="en-US" sz="1200" dirty="0"/>
          </a:p>
        </p:txBody>
      </p:sp>
      <p:sp>
        <p:nvSpPr>
          <p:cNvPr id="22" name="Text 16"/>
          <p:cNvSpPr txBox="1"/>
          <p:nvPr/>
        </p:nvSpPr>
        <p:spPr>
          <a:xfrm>
            <a:off x="6126480" y="2514600"/>
            <a:ext cx="5242255" cy="365760"/>
          </a:xfrm>
          <a:prstGeom prst="rect">
            <a:avLst/>
          </a:prstGeom>
          <a:noFill/>
          <a:ln/>
        </p:spPr>
        <p:txBody>
          <a:bodyPr wrap="square" lIns="0" tIns="0" rIns="0" bIns="0" rtlCol="0" anchor="t"/>
          <a:lstStyle/>
          <a:p>
            <a:pPr marL="0" indent="0">
              <a:buNone/>
            </a:pPr>
            <a:r>
              <a:rPr lang="en-US" sz="1800" dirty="0">
                <a:solidFill>
                  <a:schemeClr val="tx1"/>
                </a:solidFill>
                <a:latin typeface="+mj-lt" pitchFamily="34" charset="0"/>
                <a:ea typeface="+mj-lt" pitchFamily="34" charset="-122"/>
                <a:cs typeface="+mj-lt" pitchFamily="34" charset="-120"/>
              </a:rPr>
              <a:t>Three products take it from there</a:t>
            </a:r>
            <a:endParaRPr lang="en-US" sz="1800" dirty="0"/>
          </a:p>
        </p:txBody>
      </p:sp>
      <p:sp>
        <p:nvSpPr>
          <p:cNvPr id="23" name="Tag COMMERCE OS"/>
          <p:cNvSpPr/>
          <p:nvPr/>
        </p:nvSpPr>
        <p:spPr>
          <a:xfrm>
            <a:off x="6126480" y="3154680"/>
            <a:ext cx="1417320" cy="329184"/>
          </a:xfrm>
          <a:prstGeom prst="roundRect">
            <a:avLst>
              <a:gd name="adj" fmla="val 50000"/>
            </a:avLst>
          </a:prstGeom>
          <a:solidFill>
            <a:srgbClr val="E8590C"/>
          </a:solidFill>
          <a:ln/>
        </p:spPr>
      </p:sp>
      <p:sp>
        <p:nvSpPr>
          <p:cNvPr id="24" name="Text 18"/>
          <p:cNvSpPr txBox="1"/>
          <p:nvPr/>
        </p:nvSpPr>
        <p:spPr>
          <a:xfrm>
            <a:off x="6126480" y="3154680"/>
            <a:ext cx="1417320" cy="329184"/>
          </a:xfrm>
          <a:prstGeom prst="rect">
            <a:avLst/>
          </a:prstGeom>
          <a:noFill/>
          <a:ln/>
        </p:spPr>
        <p:txBody>
          <a:bodyPr wrap="square" lIns="0" tIns="0" rIns="0" bIns="0" rtlCol="0" anchor="ctr"/>
          <a:lstStyle/>
          <a:p>
            <a:pPr marL="0" indent="0" algn="ctr">
              <a:buNone/>
            </a:pPr>
            <a:r>
              <a:rPr lang="en-US" sz="1100" b="1" kern="0" spc="100" dirty="0">
                <a:solidFill>
                  <a:schemeClr val="bg1"/>
                </a:solidFill>
              </a:rPr>
              <a:t>COMMERCE OS</a:t>
            </a:r>
            <a:endParaRPr lang="en-US" sz="1100" dirty="0"/>
          </a:p>
        </p:txBody>
      </p:sp>
      <p:sp>
        <p:nvSpPr>
          <p:cNvPr id="25" name="Text 19"/>
          <p:cNvSpPr txBox="1"/>
          <p:nvPr/>
        </p:nvSpPr>
        <p:spPr>
          <a:xfrm>
            <a:off x="7772400" y="3108960"/>
            <a:ext cx="3596335" cy="292608"/>
          </a:xfrm>
          <a:prstGeom prst="rect">
            <a:avLst/>
          </a:prstGeom>
          <a:noFill/>
          <a:ln/>
        </p:spPr>
        <p:txBody>
          <a:bodyPr wrap="square" lIns="0" tIns="0" rIns="0" bIns="0" rtlCol="0" anchor="t"/>
          <a:lstStyle/>
          <a:p>
            <a:pPr marL="0" indent="0">
              <a:buNone/>
            </a:pPr>
            <a:r>
              <a:rPr lang="en-US" sz="1600" b="1" dirty="0">
                <a:solidFill>
                  <a:schemeClr val="tx1"/>
                </a:solidFill>
              </a:rPr>
              <a:t>Flags the winning ad</a:t>
            </a:r>
            <a:endParaRPr lang="en-US" sz="1600" dirty="0"/>
          </a:p>
        </p:txBody>
      </p:sp>
      <p:sp>
        <p:nvSpPr>
          <p:cNvPr id="26" name="Text 20"/>
          <p:cNvSpPr txBox="1"/>
          <p:nvPr/>
        </p:nvSpPr>
        <p:spPr>
          <a:xfrm>
            <a:off x="7772400" y="3419856"/>
            <a:ext cx="3596335" cy="457200"/>
          </a:xfrm>
          <a:prstGeom prst="rect">
            <a:avLst/>
          </a:prstGeom>
          <a:noFill/>
          <a:ln/>
        </p:spPr>
        <p:txBody>
          <a:bodyPr wrap="square" lIns="0" tIns="0" rIns="0" bIns="0" rtlCol="0" anchor="t"/>
          <a:lstStyle/>
          <a:p>
            <a:pPr marL="0" indent="0">
              <a:buNone/>
            </a:pPr>
            <a:r>
              <a:rPr lang="en-US" sz="1400" dirty="0">
                <a:solidFill>
                  <a:schemeClr val="tx2"/>
                </a:solidFill>
              </a:rPr>
              <a:t>This creative is scaling. Make more like it.</a:t>
            </a:r>
            <a:endParaRPr lang="en-US" sz="1400" dirty="0"/>
          </a:p>
        </p:txBody>
      </p:sp>
      <p:pic>
        <p:nvPicPr>
          <p:cNvPr id="27" name="Image 4" descr="Next"/>
          <p:cNvPicPr>
            <a:picLocks noChangeAspect="1"/>
          </p:cNvPicPr>
          <p:nvPr/>
        </p:nvPicPr>
        <p:blipFill>
          <a:blip r:embed="rId7"/>
          <a:stretch>
            <a:fillRect/>
          </a:stretch>
        </p:blipFill>
        <p:spPr>
          <a:xfrm>
            <a:off x="6720840" y="3694176"/>
            <a:ext cx="228600" cy="228600"/>
          </a:xfrm>
          <a:prstGeom prst="rect">
            <a:avLst/>
          </a:prstGeom>
        </p:spPr>
      </p:pic>
      <p:sp>
        <p:nvSpPr>
          <p:cNvPr id="28" name="Tag ARTIST"/>
          <p:cNvSpPr/>
          <p:nvPr/>
        </p:nvSpPr>
        <p:spPr>
          <a:xfrm>
            <a:off x="6126480" y="4142232"/>
            <a:ext cx="1417320" cy="329184"/>
          </a:xfrm>
          <a:prstGeom prst="roundRect">
            <a:avLst>
              <a:gd name="adj" fmla="val 50000"/>
            </a:avLst>
          </a:prstGeom>
          <a:solidFill>
            <a:srgbClr val="E8590C"/>
          </a:solidFill>
          <a:ln/>
        </p:spPr>
      </p:sp>
      <p:sp>
        <p:nvSpPr>
          <p:cNvPr id="29" name="Text 22"/>
          <p:cNvSpPr txBox="1"/>
          <p:nvPr/>
        </p:nvSpPr>
        <p:spPr>
          <a:xfrm>
            <a:off x="6126480" y="4142232"/>
            <a:ext cx="1417320" cy="329184"/>
          </a:xfrm>
          <a:prstGeom prst="rect">
            <a:avLst/>
          </a:prstGeom>
          <a:noFill/>
          <a:ln/>
        </p:spPr>
        <p:txBody>
          <a:bodyPr wrap="square" lIns="0" tIns="0" rIns="0" bIns="0" rtlCol="0" anchor="ctr"/>
          <a:lstStyle/>
          <a:p>
            <a:pPr marL="0" indent="0" algn="ctr">
              <a:buNone/>
            </a:pPr>
            <a:r>
              <a:rPr lang="en-US" sz="1100" b="1" kern="0" spc="100" dirty="0">
                <a:solidFill>
                  <a:schemeClr val="bg1"/>
                </a:solidFill>
              </a:rPr>
              <a:t>ARTIST</a:t>
            </a:r>
            <a:endParaRPr lang="en-US" sz="1100" dirty="0"/>
          </a:p>
        </p:txBody>
      </p:sp>
      <p:sp>
        <p:nvSpPr>
          <p:cNvPr id="30" name="Text 23"/>
          <p:cNvSpPr txBox="1"/>
          <p:nvPr/>
        </p:nvSpPr>
        <p:spPr>
          <a:xfrm>
            <a:off x="7772400" y="4096512"/>
            <a:ext cx="3596335" cy="292608"/>
          </a:xfrm>
          <a:prstGeom prst="rect">
            <a:avLst/>
          </a:prstGeom>
          <a:noFill/>
          <a:ln/>
        </p:spPr>
        <p:txBody>
          <a:bodyPr wrap="square" lIns="0" tIns="0" rIns="0" bIns="0" rtlCol="0" anchor="t"/>
          <a:lstStyle/>
          <a:p>
            <a:pPr marL="0" indent="0">
              <a:buNone/>
            </a:pPr>
            <a:r>
              <a:rPr lang="en-US" sz="1600" b="1" dirty="0">
                <a:solidFill>
                  <a:schemeClr val="tx1"/>
                </a:solidFill>
              </a:rPr>
              <a:t>Makes the next creative</a:t>
            </a:r>
            <a:endParaRPr lang="en-US" sz="1600" dirty="0"/>
          </a:p>
        </p:txBody>
      </p:sp>
      <p:sp>
        <p:nvSpPr>
          <p:cNvPr id="31" name="Text 24"/>
          <p:cNvSpPr txBox="1"/>
          <p:nvPr/>
        </p:nvSpPr>
        <p:spPr>
          <a:xfrm>
            <a:off x="7772400" y="4407408"/>
            <a:ext cx="3596335" cy="457200"/>
          </a:xfrm>
          <a:prstGeom prst="rect">
            <a:avLst/>
          </a:prstGeom>
          <a:noFill/>
          <a:ln/>
        </p:spPr>
        <p:txBody>
          <a:bodyPr wrap="square" lIns="0" tIns="0" rIns="0" bIns="0" rtlCol="0" anchor="t"/>
          <a:lstStyle/>
          <a:p>
            <a:pPr marL="0" indent="0">
              <a:buNone/>
            </a:pPr>
            <a:r>
              <a:rPr lang="en-US" sz="1400" dirty="0">
                <a:solidFill>
                  <a:schemeClr val="tx2"/>
                </a:solidFill>
              </a:rPr>
              <a:t>Generated from the signal, on brand.</a:t>
            </a:r>
            <a:endParaRPr lang="en-US" sz="1400" dirty="0"/>
          </a:p>
        </p:txBody>
      </p:sp>
      <p:pic>
        <p:nvPicPr>
          <p:cNvPr id="32" name="Image 5" descr="Next"/>
          <p:cNvPicPr>
            <a:picLocks noChangeAspect="1"/>
          </p:cNvPicPr>
          <p:nvPr/>
        </p:nvPicPr>
        <p:blipFill>
          <a:blip r:embed="rId7"/>
          <a:stretch>
            <a:fillRect/>
          </a:stretch>
        </p:blipFill>
        <p:spPr>
          <a:xfrm>
            <a:off x="6720840" y="4681728"/>
            <a:ext cx="228600" cy="228600"/>
          </a:xfrm>
          <a:prstGeom prst="rect">
            <a:avLst/>
          </a:prstGeom>
        </p:spPr>
      </p:pic>
      <p:sp>
        <p:nvSpPr>
          <p:cNvPr id="33" name="Tag ADAPT ENGINE"/>
          <p:cNvSpPr/>
          <p:nvPr/>
        </p:nvSpPr>
        <p:spPr>
          <a:xfrm>
            <a:off x="6126480" y="5129784"/>
            <a:ext cx="1417320" cy="329184"/>
          </a:xfrm>
          <a:prstGeom prst="roundRect">
            <a:avLst>
              <a:gd name="adj" fmla="val 50000"/>
            </a:avLst>
          </a:prstGeom>
          <a:solidFill>
            <a:srgbClr val="E8590C"/>
          </a:solidFill>
          <a:ln/>
        </p:spPr>
      </p:sp>
      <p:sp>
        <p:nvSpPr>
          <p:cNvPr id="34" name="Text 26"/>
          <p:cNvSpPr txBox="1"/>
          <p:nvPr/>
        </p:nvSpPr>
        <p:spPr>
          <a:xfrm>
            <a:off x="6126480" y="5129784"/>
            <a:ext cx="1417320" cy="329184"/>
          </a:xfrm>
          <a:prstGeom prst="rect">
            <a:avLst/>
          </a:prstGeom>
          <a:noFill/>
          <a:ln/>
        </p:spPr>
        <p:txBody>
          <a:bodyPr wrap="square" lIns="0" tIns="0" rIns="0" bIns="0" rtlCol="0" anchor="ctr"/>
          <a:lstStyle/>
          <a:p>
            <a:pPr marL="0" indent="0" algn="ctr">
              <a:buNone/>
            </a:pPr>
            <a:r>
              <a:rPr lang="en-US" sz="1100" b="1" kern="0" spc="100" dirty="0">
                <a:solidFill>
                  <a:schemeClr val="bg1"/>
                </a:solidFill>
              </a:rPr>
              <a:t>ADAPT ENGINE</a:t>
            </a:r>
            <a:endParaRPr lang="en-US" sz="1100" dirty="0"/>
          </a:p>
        </p:txBody>
      </p:sp>
      <p:sp>
        <p:nvSpPr>
          <p:cNvPr id="35" name="Text 27"/>
          <p:cNvSpPr txBox="1"/>
          <p:nvPr/>
        </p:nvSpPr>
        <p:spPr>
          <a:xfrm>
            <a:off x="7772400" y="5084064"/>
            <a:ext cx="3596335" cy="292608"/>
          </a:xfrm>
          <a:prstGeom prst="rect">
            <a:avLst/>
          </a:prstGeom>
          <a:noFill/>
          <a:ln/>
        </p:spPr>
        <p:txBody>
          <a:bodyPr wrap="square" lIns="0" tIns="0" rIns="0" bIns="0" rtlCol="0" anchor="t"/>
          <a:lstStyle/>
          <a:p>
            <a:pPr marL="0" indent="0">
              <a:buNone/>
            </a:pPr>
            <a:r>
              <a:rPr lang="en-US" sz="1600" b="1" dirty="0">
                <a:solidFill>
                  <a:schemeClr val="tx1"/>
                </a:solidFill>
              </a:rPr>
              <a:t>Sizes it for every platform</a:t>
            </a:r>
            <a:endParaRPr lang="en-US" sz="1600" dirty="0"/>
          </a:p>
        </p:txBody>
      </p:sp>
      <p:sp>
        <p:nvSpPr>
          <p:cNvPr id="36" name="Text 28"/>
          <p:cNvSpPr txBox="1"/>
          <p:nvPr/>
        </p:nvSpPr>
        <p:spPr>
          <a:xfrm>
            <a:off x="7772400" y="5394960"/>
            <a:ext cx="3596335" cy="457200"/>
          </a:xfrm>
          <a:prstGeom prst="rect">
            <a:avLst/>
          </a:prstGeom>
          <a:noFill/>
          <a:ln/>
        </p:spPr>
        <p:txBody>
          <a:bodyPr wrap="square" lIns="0" tIns="0" rIns="0" bIns="0" rtlCol="0" anchor="t"/>
          <a:lstStyle/>
          <a:p>
            <a:pPr marL="0" indent="0">
              <a:buNone/>
            </a:pPr>
            <a:r>
              <a:rPr lang="en-US" sz="1400" dirty="0">
                <a:solidFill>
                  <a:schemeClr val="tx2"/>
                </a:solidFill>
              </a:rPr>
              <a:t>One master visual, every size and format.</a:t>
            </a:r>
            <a:endParaRPr lang="en-US" sz="1400" dirty="0"/>
          </a:p>
        </p:txBody>
      </p:sp>
      <p:sp>
        <p:nvSpPr>
          <p:cNvPr id="37"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DEPLOY</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tx1"/>
                </a:solidFill>
              </a:rPr>
              <a:t>The decision goes back out</a:t>
            </a:r>
            <a:endParaRPr lang="en-US" sz="3200" dirty="0"/>
          </a:p>
        </p:txBody>
      </p:sp>
      <p:sp>
        <p:nvSpPr>
          <p:cNvPr id="4" name="Text 2"/>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700" dirty="0">
                <a:solidFill>
                  <a:schemeClr val="tx2"/>
                </a:solidFill>
              </a:rPr>
              <a:t>What the agents found becomes action.</a:t>
            </a:r>
            <a:endParaRPr lang="en-US" sz="1700" dirty="0"/>
          </a:p>
        </p:txBody>
      </p:sp>
      <p:sp>
        <p:nvSpPr>
          <p:cNvPr id="5" name="Deploy Pause"/>
          <p:cNvSpPr/>
          <p:nvPr/>
        </p:nvSpPr>
        <p:spPr>
          <a:xfrm>
            <a:off x="548640" y="1965960"/>
            <a:ext cx="2560320" cy="2331720"/>
          </a:xfrm>
          <a:prstGeom prst="roundRect">
            <a:avLst>
              <a:gd name="adj" fmla="val 3137"/>
            </a:avLst>
          </a:prstGeom>
          <a:solidFill>
            <a:srgbClr val="F2EFE9"/>
          </a:solidFill>
          <a:ln/>
        </p:spPr>
      </p:sp>
      <p:sp>
        <p:nvSpPr>
          <p:cNvPr id="6" name="Icon disc"/>
          <p:cNvSpPr/>
          <p:nvPr/>
        </p:nvSpPr>
        <p:spPr>
          <a:xfrm>
            <a:off x="822960" y="2240280"/>
            <a:ext cx="731520" cy="731520"/>
          </a:xfrm>
          <a:prstGeom prst="ellipse">
            <a:avLst/>
          </a:prstGeom>
          <a:solidFill>
            <a:schemeClr val="accent1"/>
          </a:solidFill>
          <a:ln/>
        </p:spPr>
      </p:sp>
      <p:pic>
        <p:nvPicPr>
          <p:cNvPr id="7" name="Image 0" descr="Pause icon"/>
          <p:cNvPicPr>
            <a:picLocks noChangeAspect="1"/>
          </p:cNvPicPr>
          <p:nvPr/>
        </p:nvPicPr>
        <p:blipFill>
          <a:blip r:embed="rId3"/>
          <a:stretch>
            <a:fillRect/>
          </a:stretch>
        </p:blipFill>
        <p:spPr>
          <a:xfrm>
            <a:off x="998525" y="2415845"/>
            <a:ext cx="380390" cy="380390"/>
          </a:xfrm>
          <a:prstGeom prst="rect">
            <a:avLst/>
          </a:prstGeom>
        </p:spPr>
      </p:pic>
      <p:sp>
        <p:nvSpPr>
          <p:cNvPr id="8" name="Text 5"/>
          <p:cNvSpPr txBox="1"/>
          <p:nvPr/>
        </p:nvSpPr>
        <p:spPr>
          <a:xfrm>
            <a:off x="822960" y="3200400"/>
            <a:ext cx="2011680" cy="457200"/>
          </a:xfrm>
          <a:prstGeom prst="rect">
            <a:avLst/>
          </a:prstGeom>
          <a:noFill/>
          <a:ln/>
        </p:spPr>
        <p:txBody>
          <a:bodyPr wrap="square" lIns="0" tIns="0" rIns="0" bIns="0" rtlCol="0" anchor="t"/>
          <a:lstStyle/>
          <a:p>
            <a:pPr marL="0" indent="0">
              <a:buNone/>
            </a:pPr>
            <a:r>
              <a:rPr lang="en-US" sz="2800" dirty="0">
                <a:solidFill>
                  <a:schemeClr val="tx1"/>
                </a:solidFill>
                <a:latin typeface="+mj-lt" pitchFamily="34" charset="0"/>
                <a:ea typeface="+mj-lt" pitchFamily="34" charset="-122"/>
                <a:cs typeface="+mj-lt" pitchFamily="34" charset="-120"/>
              </a:rPr>
              <a:t>Pause</a:t>
            </a:r>
            <a:endParaRPr lang="en-US" sz="2800" dirty="0"/>
          </a:p>
        </p:txBody>
      </p:sp>
      <p:sp>
        <p:nvSpPr>
          <p:cNvPr id="9" name="Text 6"/>
          <p:cNvSpPr txBox="1"/>
          <p:nvPr/>
        </p:nvSpPr>
        <p:spPr>
          <a:xfrm>
            <a:off x="822960" y="3703320"/>
            <a:ext cx="2011680" cy="502920"/>
          </a:xfrm>
          <a:prstGeom prst="rect">
            <a:avLst/>
          </a:prstGeom>
          <a:noFill/>
          <a:ln/>
        </p:spPr>
        <p:txBody>
          <a:bodyPr wrap="square" lIns="0" tIns="0" rIns="0" bIns="0" rtlCol="0" anchor="t"/>
          <a:lstStyle/>
          <a:p>
            <a:pPr marL="0" indent="0">
              <a:buNone/>
            </a:pPr>
            <a:r>
              <a:rPr lang="en-US" sz="1600" dirty="0">
                <a:solidFill>
                  <a:schemeClr val="tx2"/>
                </a:solidFill>
              </a:rPr>
              <a:t>What is dying</a:t>
            </a:r>
            <a:endParaRPr lang="en-US" sz="1600" dirty="0"/>
          </a:p>
        </p:txBody>
      </p:sp>
      <p:sp>
        <p:nvSpPr>
          <p:cNvPr id="10" name="Deploy Scale"/>
          <p:cNvSpPr/>
          <p:nvPr/>
        </p:nvSpPr>
        <p:spPr>
          <a:xfrm>
            <a:off x="3393338" y="1965960"/>
            <a:ext cx="2560320" cy="2331720"/>
          </a:xfrm>
          <a:prstGeom prst="roundRect">
            <a:avLst>
              <a:gd name="adj" fmla="val 3137"/>
            </a:avLst>
          </a:prstGeom>
          <a:solidFill>
            <a:srgbClr val="F2EFE9"/>
          </a:solidFill>
          <a:ln/>
        </p:spPr>
      </p:sp>
      <p:sp>
        <p:nvSpPr>
          <p:cNvPr id="11" name="Icon disc"/>
          <p:cNvSpPr/>
          <p:nvPr/>
        </p:nvSpPr>
        <p:spPr>
          <a:xfrm>
            <a:off x="3667658" y="2240280"/>
            <a:ext cx="731520" cy="731520"/>
          </a:xfrm>
          <a:prstGeom prst="ellipse">
            <a:avLst/>
          </a:prstGeom>
          <a:solidFill>
            <a:schemeClr val="accent1"/>
          </a:solidFill>
          <a:ln/>
        </p:spPr>
      </p:sp>
      <p:pic>
        <p:nvPicPr>
          <p:cNvPr id="12" name="Image 1" descr="TrendingUp icon"/>
          <p:cNvPicPr>
            <a:picLocks noChangeAspect="1"/>
          </p:cNvPicPr>
          <p:nvPr/>
        </p:nvPicPr>
        <p:blipFill>
          <a:blip r:embed="rId4"/>
          <a:stretch>
            <a:fillRect/>
          </a:stretch>
        </p:blipFill>
        <p:spPr>
          <a:xfrm>
            <a:off x="3843223" y="2415845"/>
            <a:ext cx="380390" cy="380390"/>
          </a:xfrm>
          <a:prstGeom prst="rect">
            <a:avLst/>
          </a:prstGeom>
        </p:spPr>
      </p:pic>
      <p:sp>
        <p:nvSpPr>
          <p:cNvPr id="13" name="Text 9"/>
          <p:cNvSpPr txBox="1"/>
          <p:nvPr/>
        </p:nvSpPr>
        <p:spPr>
          <a:xfrm>
            <a:off x="3667658" y="3200400"/>
            <a:ext cx="2011680" cy="457200"/>
          </a:xfrm>
          <a:prstGeom prst="rect">
            <a:avLst/>
          </a:prstGeom>
          <a:noFill/>
          <a:ln/>
        </p:spPr>
        <p:txBody>
          <a:bodyPr wrap="square" lIns="0" tIns="0" rIns="0" bIns="0" rtlCol="0" anchor="t"/>
          <a:lstStyle/>
          <a:p>
            <a:pPr marL="0" indent="0">
              <a:buNone/>
            </a:pPr>
            <a:r>
              <a:rPr lang="en-US" sz="2800" dirty="0">
                <a:solidFill>
                  <a:schemeClr val="tx1"/>
                </a:solidFill>
                <a:latin typeface="+mj-lt" pitchFamily="34" charset="0"/>
                <a:ea typeface="+mj-lt" pitchFamily="34" charset="-122"/>
                <a:cs typeface="+mj-lt" pitchFamily="34" charset="-120"/>
              </a:rPr>
              <a:t>Scale</a:t>
            </a:r>
            <a:endParaRPr lang="en-US" sz="2800" dirty="0"/>
          </a:p>
        </p:txBody>
      </p:sp>
      <p:sp>
        <p:nvSpPr>
          <p:cNvPr id="14" name="Text 10"/>
          <p:cNvSpPr txBox="1"/>
          <p:nvPr/>
        </p:nvSpPr>
        <p:spPr>
          <a:xfrm>
            <a:off x="3667658" y="3703320"/>
            <a:ext cx="2011680" cy="502920"/>
          </a:xfrm>
          <a:prstGeom prst="rect">
            <a:avLst/>
          </a:prstGeom>
          <a:noFill/>
          <a:ln/>
        </p:spPr>
        <p:txBody>
          <a:bodyPr wrap="square" lIns="0" tIns="0" rIns="0" bIns="0" rtlCol="0" anchor="t"/>
          <a:lstStyle/>
          <a:p>
            <a:pPr marL="0" indent="0">
              <a:buNone/>
            </a:pPr>
            <a:r>
              <a:rPr lang="en-US" sz="1600" dirty="0">
                <a:solidFill>
                  <a:schemeClr val="tx2"/>
                </a:solidFill>
              </a:rPr>
              <a:t>What is winning</a:t>
            </a:r>
            <a:endParaRPr lang="en-US" sz="1600" dirty="0"/>
          </a:p>
        </p:txBody>
      </p:sp>
      <p:sp>
        <p:nvSpPr>
          <p:cNvPr id="15" name="Deploy Reallocate"/>
          <p:cNvSpPr/>
          <p:nvPr/>
        </p:nvSpPr>
        <p:spPr>
          <a:xfrm>
            <a:off x="6238037" y="1965960"/>
            <a:ext cx="2560320" cy="2331720"/>
          </a:xfrm>
          <a:prstGeom prst="roundRect">
            <a:avLst>
              <a:gd name="adj" fmla="val 3137"/>
            </a:avLst>
          </a:prstGeom>
          <a:solidFill>
            <a:srgbClr val="F2EFE9"/>
          </a:solidFill>
          <a:ln/>
        </p:spPr>
      </p:sp>
      <p:sp>
        <p:nvSpPr>
          <p:cNvPr id="16" name="Icon disc"/>
          <p:cNvSpPr/>
          <p:nvPr/>
        </p:nvSpPr>
        <p:spPr>
          <a:xfrm>
            <a:off x="6512357" y="2240280"/>
            <a:ext cx="731520" cy="731520"/>
          </a:xfrm>
          <a:prstGeom prst="ellipse">
            <a:avLst/>
          </a:prstGeom>
          <a:solidFill>
            <a:schemeClr val="accent1"/>
          </a:solidFill>
          <a:ln/>
        </p:spPr>
      </p:sp>
      <p:pic>
        <p:nvPicPr>
          <p:cNvPr id="17" name="Image 2" descr="ArrowLeftRight icon"/>
          <p:cNvPicPr>
            <a:picLocks noChangeAspect="1"/>
          </p:cNvPicPr>
          <p:nvPr/>
        </p:nvPicPr>
        <p:blipFill>
          <a:blip r:embed="rId5"/>
          <a:stretch>
            <a:fillRect/>
          </a:stretch>
        </p:blipFill>
        <p:spPr>
          <a:xfrm>
            <a:off x="6687922" y="2415845"/>
            <a:ext cx="380390" cy="380390"/>
          </a:xfrm>
          <a:prstGeom prst="rect">
            <a:avLst/>
          </a:prstGeom>
        </p:spPr>
      </p:pic>
      <p:sp>
        <p:nvSpPr>
          <p:cNvPr id="18" name="Text 13"/>
          <p:cNvSpPr txBox="1"/>
          <p:nvPr/>
        </p:nvSpPr>
        <p:spPr>
          <a:xfrm>
            <a:off x="6512357" y="3200400"/>
            <a:ext cx="2011680" cy="457200"/>
          </a:xfrm>
          <a:prstGeom prst="rect">
            <a:avLst/>
          </a:prstGeom>
          <a:noFill/>
          <a:ln/>
        </p:spPr>
        <p:txBody>
          <a:bodyPr wrap="square" lIns="0" tIns="0" rIns="0" bIns="0" rtlCol="0" anchor="t"/>
          <a:lstStyle/>
          <a:p>
            <a:pPr marL="0" indent="0">
              <a:buNone/>
            </a:pPr>
            <a:r>
              <a:rPr lang="en-US" sz="2800" dirty="0">
                <a:solidFill>
                  <a:schemeClr val="tx1"/>
                </a:solidFill>
                <a:latin typeface="+mj-lt" pitchFamily="34" charset="0"/>
                <a:ea typeface="+mj-lt" pitchFamily="34" charset="-122"/>
                <a:cs typeface="+mj-lt" pitchFamily="34" charset="-120"/>
              </a:rPr>
              <a:t>Reallocate</a:t>
            </a:r>
            <a:endParaRPr lang="en-US" sz="2800" dirty="0"/>
          </a:p>
        </p:txBody>
      </p:sp>
      <p:sp>
        <p:nvSpPr>
          <p:cNvPr id="19" name="Text 14"/>
          <p:cNvSpPr txBox="1"/>
          <p:nvPr/>
        </p:nvSpPr>
        <p:spPr>
          <a:xfrm>
            <a:off x="6512357" y="3703320"/>
            <a:ext cx="2011680" cy="502920"/>
          </a:xfrm>
          <a:prstGeom prst="rect">
            <a:avLst/>
          </a:prstGeom>
          <a:noFill/>
          <a:ln/>
        </p:spPr>
        <p:txBody>
          <a:bodyPr wrap="square" lIns="0" tIns="0" rIns="0" bIns="0" rtlCol="0" anchor="t"/>
          <a:lstStyle/>
          <a:p>
            <a:pPr marL="0" indent="0">
              <a:buNone/>
            </a:pPr>
            <a:r>
              <a:rPr lang="en-US" sz="1600" dirty="0">
                <a:solidFill>
                  <a:schemeClr val="tx2"/>
                </a:solidFill>
              </a:rPr>
              <a:t>Move the budget</a:t>
            </a:r>
            <a:endParaRPr lang="en-US" sz="1600" dirty="0"/>
          </a:p>
        </p:txBody>
      </p:sp>
      <p:sp>
        <p:nvSpPr>
          <p:cNvPr id="20" name="Deploy Send"/>
          <p:cNvSpPr/>
          <p:nvPr/>
        </p:nvSpPr>
        <p:spPr>
          <a:xfrm>
            <a:off x="9082735" y="1965960"/>
            <a:ext cx="2560320" cy="2331720"/>
          </a:xfrm>
          <a:prstGeom prst="roundRect">
            <a:avLst>
              <a:gd name="adj" fmla="val 3137"/>
            </a:avLst>
          </a:prstGeom>
          <a:solidFill>
            <a:srgbClr val="F2EFE9"/>
          </a:solidFill>
          <a:ln/>
        </p:spPr>
      </p:sp>
      <p:sp>
        <p:nvSpPr>
          <p:cNvPr id="21" name="Icon disc"/>
          <p:cNvSpPr/>
          <p:nvPr/>
        </p:nvSpPr>
        <p:spPr>
          <a:xfrm>
            <a:off x="9357055" y="2240280"/>
            <a:ext cx="731520" cy="731520"/>
          </a:xfrm>
          <a:prstGeom prst="ellipse">
            <a:avLst/>
          </a:prstGeom>
          <a:solidFill>
            <a:schemeClr val="accent1"/>
          </a:solidFill>
          <a:ln/>
        </p:spPr>
      </p:sp>
      <p:pic>
        <p:nvPicPr>
          <p:cNvPr id="22" name="Image 3" descr="Send icon"/>
          <p:cNvPicPr>
            <a:picLocks noChangeAspect="1"/>
          </p:cNvPicPr>
          <p:nvPr/>
        </p:nvPicPr>
        <p:blipFill>
          <a:blip r:embed="rId6"/>
          <a:stretch>
            <a:fillRect/>
          </a:stretch>
        </p:blipFill>
        <p:spPr>
          <a:xfrm>
            <a:off x="9532620" y="2415845"/>
            <a:ext cx="380390" cy="380390"/>
          </a:xfrm>
          <a:prstGeom prst="rect">
            <a:avLst/>
          </a:prstGeom>
        </p:spPr>
      </p:pic>
      <p:sp>
        <p:nvSpPr>
          <p:cNvPr id="23" name="Text 17"/>
          <p:cNvSpPr txBox="1"/>
          <p:nvPr/>
        </p:nvSpPr>
        <p:spPr>
          <a:xfrm>
            <a:off x="9357055" y="3200400"/>
            <a:ext cx="2011680" cy="457200"/>
          </a:xfrm>
          <a:prstGeom prst="rect">
            <a:avLst/>
          </a:prstGeom>
          <a:noFill/>
          <a:ln/>
        </p:spPr>
        <p:txBody>
          <a:bodyPr wrap="square" lIns="0" tIns="0" rIns="0" bIns="0" rtlCol="0" anchor="t"/>
          <a:lstStyle/>
          <a:p>
            <a:pPr marL="0" indent="0">
              <a:buNone/>
            </a:pPr>
            <a:r>
              <a:rPr lang="en-US" sz="2800" dirty="0">
                <a:solidFill>
                  <a:schemeClr val="tx1"/>
                </a:solidFill>
                <a:latin typeface="+mj-lt" pitchFamily="34" charset="0"/>
                <a:ea typeface="+mj-lt" pitchFamily="34" charset="-122"/>
                <a:cs typeface="+mj-lt" pitchFamily="34" charset="-120"/>
              </a:rPr>
              <a:t>Send</a:t>
            </a:r>
            <a:endParaRPr lang="en-US" sz="2800" dirty="0"/>
          </a:p>
        </p:txBody>
      </p:sp>
      <p:sp>
        <p:nvSpPr>
          <p:cNvPr id="24" name="Text 18"/>
          <p:cNvSpPr txBox="1"/>
          <p:nvPr/>
        </p:nvSpPr>
        <p:spPr>
          <a:xfrm>
            <a:off x="9357055" y="3703320"/>
            <a:ext cx="2011680" cy="502920"/>
          </a:xfrm>
          <a:prstGeom prst="rect">
            <a:avLst/>
          </a:prstGeom>
          <a:noFill/>
          <a:ln/>
        </p:spPr>
        <p:txBody>
          <a:bodyPr wrap="square" lIns="0" tIns="0" rIns="0" bIns="0" rtlCol="0" anchor="t"/>
          <a:lstStyle/>
          <a:p>
            <a:pPr marL="0" indent="0">
              <a:buNone/>
            </a:pPr>
            <a:r>
              <a:rPr lang="en-US" sz="1600" dirty="0">
                <a:solidFill>
                  <a:schemeClr val="tx2"/>
                </a:solidFill>
              </a:rPr>
              <a:t>The email, to the right person</a:t>
            </a:r>
            <a:endParaRPr lang="en-US" sz="1600" dirty="0"/>
          </a:p>
        </p:txBody>
      </p:sp>
      <p:sp>
        <p:nvSpPr>
          <p:cNvPr id="25" name="Loop closes"/>
          <p:cNvSpPr/>
          <p:nvPr/>
        </p:nvSpPr>
        <p:spPr>
          <a:xfrm>
            <a:off x="548640" y="4526280"/>
            <a:ext cx="11094415" cy="822960"/>
          </a:xfrm>
          <a:prstGeom prst="roundRect">
            <a:avLst>
              <a:gd name="adj" fmla="val 8889"/>
            </a:avLst>
          </a:prstGeom>
          <a:solidFill>
            <a:srgbClr val="FDE8DC"/>
          </a:solidFill>
          <a:ln/>
        </p:spPr>
      </p:sp>
      <p:sp>
        <p:nvSpPr>
          <p:cNvPr id="26" name="Text 20"/>
          <p:cNvSpPr txBox="1"/>
          <p:nvPr/>
        </p:nvSpPr>
        <p:spPr>
          <a:xfrm>
            <a:off x="822960" y="4617720"/>
            <a:ext cx="36576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AND THE LOOP CLOSES</a:t>
            </a:r>
            <a:endParaRPr lang="en-US" sz="1200" dirty="0"/>
          </a:p>
        </p:txBody>
      </p:sp>
      <p:sp>
        <p:nvSpPr>
          <p:cNvPr id="27" name="Text 21"/>
          <p:cNvSpPr txBox="1"/>
          <p:nvPr/>
        </p:nvSpPr>
        <p:spPr>
          <a:xfrm>
            <a:off x="822960" y="4892040"/>
            <a:ext cx="8229600" cy="365760"/>
          </a:xfrm>
          <a:prstGeom prst="rect">
            <a:avLst/>
          </a:prstGeom>
          <a:noFill/>
          <a:ln/>
        </p:spPr>
        <p:txBody>
          <a:bodyPr wrap="square" lIns="0" tIns="0" rIns="0" bIns="0" rtlCol="0" anchor="t"/>
          <a:lstStyle/>
          <a:p>
            <a:pPr marL="0" indent="0">
              <a:buNone/>
            </a:pPr>
            <a:r>
              <a:rPr lang="en-US" sz="1800" dirty="0">
                <a:solidFill>
                  <a:schemeClr val="tx1"/>
                </a:solidFill>
              </a:rPr>
              <a:t>Every action becomes a new signal, captured all over again.</a:t>
            </a:r>
            <a:endParaRPr lang="en-US" sz="1800" dirty="0"/>
          </a:p>
        </p:txBody>
      </p:sp>
      <p:pic>
        <p:nvPicPr>
          <p:cNvPr id="28" name="Image 4" descr="Repeat"/>
          <p:cNvPicPr>
            <a:picLocks noChangeAspect="1"/>
          </p:cNvPicPr>
          <p:nvPr/>
        </p:nvPicPr>
        <p:blipFill>
          <a:blip r:embed="rId7"/>
          <a:stretch>
            <a:fillRect/>
          </a:stretch>
        </p:blipFill>
        <p:spPr>
          <a:xfrm>
            <a:off x="9829800" y="4754880"/>
            <a:ext cx="329184" cy="329184"/>
          </a:xfrm>
          <a:prstGeom prst="rect">
            <a:avLst/>
          </a:prstGeom>
        </p:spPr>
      </p:pic>
      <p:sp>
        <p:nvSpPr>
          <p:cNvPr id="29" name="Text 22"/>
          <p:cNvSpPr txBox="1"/>
          <p:nvPr/>
        </p:nvSpPr>
        <p:spPr>
          <a:xfrm>
            <a:off x="10241280" y="4754880"/>
            <a:ext cx="1280160" cy="329184"/>
          </a:xfrm>
          <a:prstGeom prst="rect">
            <a:avLst/>
          </a:prstGeom>
          <a:noFill/>
          <a:ln/>
        </p:spPr>
        <p:txBody>
          <a:bodyPr wrap="square" lIns="0" tIns="0" rIns="0" bIns="0" rtlCol="0" anchor="ctr"/>
          <a:lstStyle/>
          <a:p>
            <a:pPr marL="0" indent="0">
              <a:buNone/>
            </a:pPr>
            <a:r>
              <a:rPr lang="en-US" sz="1400" b="1" dirty="0">
                <a:solidFill>
                  <a:schemeClr val="accent1"/>
                </a:solidFill>
              </a:rPr>
              <a:t>Back to Capture</a:t>
            </a:r>
            <a:endParaRPr lang="en-US" sz="1400" dirty="0"/>
          </a:p>
        </p:txBody>
      </p:sp>
      <p:sp>
        <p:nvSpPr>
          <p:cNvPr id="30" name="Approval strip"/>
          <p:cNvSpPr/>
          <p:nvPr/>
        </p:nvSpPr>
        <p:spPr>
          <a:xfrm>
            <a:off x="548640" y="5532120"/>
            <a:ext cx="11094415" cy="594360"/>
          </a:xfrm>
          <a:prstGeom prst="roundRect">
            <a:avLst>
              <a:gd name="adj" fmla="val 12308"/>
            </a:avLst>
          </a:prstGeom>
          <a:solidFill>
            <a:srgbClr val="1F1A12"/>
          </a:solidFill>
          <a:ln/>
        </p:spPr>
      </p:sp>
      <p:sp>
        <p:nvSpPr>
          <p:cNvPr id="31" name="Text 24"/>
          <p:cNvSpPr txBox="1"/>
          <p:nvPr/>
        </p:nvSpPr>
        <p:spPr>
          <a:xfrm>
            <a:off x="822960" y="5532120"/>
            <a:ext cx="10545775" cy="594360"/>
          </a:xfrm>
          <a:prstGeom prst="rect">
            <a:avLst/>
          </a:prstGeom>
          <a:noFill/>
          <a:ln/>
        </p:spPr>
        <p:txBody>
          <a:bodyPr wrap="square" lIns="0" tIns="0" rIns="0" bIns="0" rtlCol="0" anchor="ctr"/>
          <a:lstStyle/>
          <a:p>
            <a:pPr marL="0" indent="0">
              <a:buNone/>
            </a:pPr>
            <a:r>
              <a:rPr lang="en-US" sz="1600" dirty="0">
                <a:solidFill>
                  <a:schemeClr val="bg1"/>
                </a:solidFill>
              </a:rPr>
              <a:t>You approve each decision, or pre-approve small moves within the rules you set.</a:t>
            </a:r>
            <a:endParaRPr lang="en-US" sz="1600" dirty="0"/>
          </a:p>
        </p:txBody>
      </p:sp>
      <p:sp>
        <p:nvSpPr>
          <p:cNvPr id="32"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ONE NIGHT IN THE LOOP  ·  EXAMPLE</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bg1"/>
                </a:solidFill>
              </a:rPr>
              <a:t>An ad tires out at 2 a.m. By 7, the fix is waiting for you</a:t>
            </a:r>
            <a:endParaRPr lang="en-US" sz="3200" dirty="0"/>
          </a:p>
        </p:txBody>
      </p:sp>
      <p:sp>
        <p:nvSpPr>
          <p:cNvPr id="4" name="Shape 2"/>
          <p:cNvSpPr/>
          <p:nvPr/>
        </p:nvSpPr>
        <p:spPr>
          <a:xfrm>
            <a:off x="713232" y="2377440"/>
            <a:ext cx="0" cy="3017520"/>
          </a:xfrm>
          <a:prstGeom prst="line">
            <a:avLst/>
          </a:prstGeom>
          <a:noFill/>
          <a:ln w="25400">
            <a:solidFill>
              <a:srgbClr val="4A4336"/>
            </a:solidFill>
            <a:prstDash val="solid"/>
          </a:ln>
        </p:spPr>
      </p:sp>
      <p:sp>
        <p:nvSpPr>
          <p:cNvPr id="5" name="Timeline node 1"/>
          <p:cNvSpPr/>
          <p:nvPr/>
        </p:nvSpPr>
        <p:spPr>
          <a:xfrm>
            <a:off x="548640" y="2212848"/>
            <a:ext cx="329184" cy="329184"/>
          </a:xfrm>
          <a:prstGeom prst="ellipse">
            <a:avLst/>
          </a:prstGeom>
          <a:solidFill>
            <a:srgbClr val="E8590C"/>
          </a:solidFill>
          <a:ln w="38100">
            <a:solidFill>
              <a:srgbClr val="1F1A12"/>
            </a:solidFill>
            <a:prstDash val="solid"/>
          </a:ln>
        </p:spPr>
      </p:sp>
      <p:sp>
        <p:nvSpPr>
          <p:cNvPr id="6" name="Text 4"/>
          <p:cNvSpPr txBox="1"/>
          <p:nvPr/>
        </p:nvSpPr>
        <p:spPr>
          <a:xfrm>
            <a:off x="1143000" y="2194560"/>
            <a:ext cx="4846320" cy="274320"/>
          </a:xfrm>
          <a:prstGeom prst="rect">
            <a:avLst/>
          </a:prstGeom>
          <a:noFill/>
          <a:ln/>
        </p:spPr>
        <p:txBody>
          <a:bodyPr wrap="square" lIns="0" tIns="0" rIns="0" bIns="0" rtlCol="0" anchor="t"/>
          <a:lstStyle/>
          <a:p>
            <a:pPr marL="0" indent="0">
              <a:buNone/>
            </a:pPr>
            <a:r>
              <a:rPr lang="en-US" sz="1500" b="1" dirty="0">
                <a:solidFill>
                  <a:schemeClr val="accent1"/>
                </a:solidFill>
              </a:rPr>
              <a:t>2:00 a.m.</a:t>
            </a:r>
            <a:endParaRPr lang="en-US" sz="1500" dirty="0"/>
          </a:p>
        </p:txBody>
      </p:sp>
      <p:sp>
        <p:nvSpPr>
          <p:cNvPr id="7" name="Text 5"/>
          <p:cNvSpPr txBox="1"/>
          <p:nvPr/>
        </p:nvSpPr>
        <p:spPr>
          <a:xfrm>
            <a:off x="1143000" y="2496312"/>
            <a:ext cx="4846320" cy="640080"/>
          </a:xfrm>
          <a:prstGeom prst="rect">
            <a:avLst/>
          </a:prstGeom>
          <a:noFill/>
          <a:ln/>
        </p:spPr>
        <p:txBody>
          <a:bodyPr wrap="square" lIns="0" tIns="0" rIns="0" bIns="0" rtlCol="0" anchor="t"/>
          <a:lstStyle/>
          <a:p>
            <a:pPr marL="0" indent="0">
              <a:buNone/>
            </a:pPr>
            <a:r>
              <a:rPr lang="en-US" sz="1600" dirty="0">
                <a:solidFill>
                  <a:schemeClr val="bg1"/>
                </a:solidFill>
              </a:rPr>
              <a:t>An ad starts to tire. The same people keep seeing it, and they click less and less.</a:t>
            </a:r>
            <a:endParaRPr lang="en-US" sz="1600" dirty="0"/>
          </a:p>
        </p:txBody>
      </p:sp>
      <p:sp>
        <p:nvSpPr>
          <p:cNvPr id="8" name="Timeline node 2"/>
          <p:cNvSpPr/>
          <p:nvPr/>
        </p:nvSpPr>
        <p:spPr>
          <a:xfrm>
            <a:off x="548640" y="3236976"/>
            <a:ext cx="329184" cy="329184"/>
          </a:xfrm>
          <a:prstGeom prst="ellipse">
            <a:avLst/>
          </a:prstGeom>
          <a:solidFill>
            <a:srgbClr val="E8590C"/>
          </a:solidFill>
          <a:ln w="38100">
            <a:solidFill>
              <a:srgbClr val="1F1A12"/>
            </a:solidFill>
            <a:prstDash val="solid"/>
          </a:ln>
        </p:spPr>
      </p:sp>
      <p:sp>
        <p:nvSpPr>
          <p:cNvPr id="9" name="Text 7"/>
          <p:cNvSpPr txBox="1"/>
          <p:nvPr/>
        </p:nvSpPr>
        <p:spPr>
          <a:xfrm>
            <a:off x="1143000" y="3218688"/>
            <a:ext cx="4846320" cy="274320"/>
          </a:xfrm>
          <a:prstGeom prst="rect">
            <a:avLst/>
          </a:prstGeom>
          <a:noFill/>
          <a:ln/>
        </p:spPr>
        <p:txBody>
          <a:bodyPr wrap="square" lIns="0" tIns="0" rIns="0" bIns="0" rtlCol="0" anchor="t"/>
          <a:lstStyle/>
          <a:p>
            <a:pPr marL="0" indent="0">
              <a:buNone/>
            </a:pPr>
            <a:r>
              <a:rPr lang="en-US" sz="1500" b="1" dirty="0">
                <a:solidFill>
                  <a:schemeClr val="accent1"/>
                </a:solidFill>
              </a:rPr>
              <a:t>2:05 a.m.</a:t>
            </a:r>
            <a:endParaRPr lang="en-US" sz="1500" dirty="0"/>
          </a:p>
        </p:txBody>
      </p:sp>
      <p:sp>
        <p:nvSpPr>
          <p:cNvPr id="10" name="Text 8"/>
          <p:cNvSpPr txBox="1"/>
          <p:nvPr/>
        </p:nvSpPr>
        <p:spPr>
          <a:xfrm>
            <a:off x="1143000" y="3520440"/>
            <a:ext cx="4846320" cy="640080"/>
          </a:xfrm>
          <a:prstGeom prst="rect">
            <a:avLst/>
          </a:prstGeom>
          <a:noFill/>
          <a:ln/>
        </p:spPr>
        <p:txBody>
          <a:bodyPr wrap="square" lIns="0" tIns="0" rIns="0" bIns="0" rtlCol="0" anchor="t"/>
          <a:lstStyle/>
          <a:p>
            <a:pPr marL="0" indent="0">
              <a:buNone/>
            </a:pPr>
            <a:r>
              <a:rPr lang="en-US" sz="1600" dirty="0">
                <a:solidFill>
                  <a:schemeClr val="bg1"/>
                </a:solidFill>
              </a:rPr>
              <a:t>The agent flags it. This is a multi-day trend, not a one-night dip.</a:t>
            </a:r>
            <a:endParaRPr lang="en-US" sz="1600" dirty="0"/>
          </a:p>
        </p:txBody>
      </p:sp>
      <p:sp>
        <p:nvSpPr>
          <p:cNvPr id="11" name="Timeline node 3"/>
          <p:cNvSpPr/>
          <p:nvPr/>
        </p:nvSpPr>
        <p:spPr>
          <a:xfrm>
            <a:off x="548640" y="4261104"/>
            <a:ext cx="329184" cy="329184"/>
          </a:xfrm>
          <a:prstGeom prst="ellipse">
            <a:avLst/>
          </a:prstGeom>
          <a:solidFill>
            <a:srgbClr val="E8590C"/>
          </a:solidFill>
          <a:ln w="38100">
            <a:solidFill>
              <a:srgbClr val="1F1A12"/>
            </a:solidFill>
            <a:prstDash val="solid"/>
          </a:ln>
        </p:spPr>
      </p:sp>
      <p:sp>
        <p:nvSpPr>
          <p:cNvPr id="12" name="Text 10"/>
          <p:cNvSpPr txBox="1"/>
          <p:nvPr/>
        </p:nvSpPr>
        <p:spPr>
          <a:xfrm>
            <a:off x="1143000" y="4242816"/>
            <a:ext cx="4846320" cy="274320"/>
          </a:xfrm>
          <a:prstGeom prst="rect">
            <a:avLst/>
          </a:prstGeom>
          <a:noFill/>
          <a:ln/>
        </p:spPr>
        <p:txBody>
          <a:bodyPr wrap="square" lIns="0" tIns="0" rIns="0" bIns="0" rtlCol="0" anchor="t"/>
          <a:lstStyle/>
          <a:p>
            <a:pPr marL="0" indent="0">
              <a:buNone/>
            </a:pPr>
            <a:r>
              <a:rPr lang="en-US" sz="1500" b="1" dirty="0">
                <a:solidFill>
                  <a:schemeClr val="accent1"/>
                </a:solidFill>
              </a:rPr>
              <a:t>Then</a:t>
            </a:r>
            <a:endParaRPr lang="en-US" sz="1500" dirty="0"/>
          </a:p>
        </p:txBody>
      </p:sp>
      <p:sp>
        <p:nvSpPr>
          <p:cNvPr id="13" name="Text 11"/>
          <p:cNvSpPr txBox="1"/>
          <p:nvPr/>
        </p:nvSpPr>
        <p:spPr>
          <a:xfrm>
            <a:off x="1143000" y="4544568"/>
            <a:ext cx="4846320" cy="640080"/>
          </a:xfrm>
          <a:prstGeom prst="rect">
            <a:avLst/>
          </a:prstGeom>
          <a:noFill/>
          <a:ln/>
        </p:spPr>
        <p:txBody>
          <a:bodyPr wrap="square" lIns="0" tIns="0" rIns="0" bIns="0" rtlCol="0" anchor="t"/>
          <a:lstStyle/>
          <a:p>
            <a:pPr marL="0" indent="0">
              <a:buNone/>
            </a:pPr>
            <a:r>
              <a:rPr lang="en-US" sz="1600" dirty="0">
                <a:solidFill>
                  <a:schemeClr val="bg1"/>
                </a:solidFill>
              </a:rPr>
              <a:t>Artist drafts a replacement from the winning ad. Adapt Engine sizes it for every platform.</a:t>
            </a:r>
            <a:endParaRPr lang="en-US" sz="1600" dirty="0"/>
          </a:p>
        </p:txBody>
      </p:sp>
      <p:sp>
        <p:nvSpPr>
          <p:cNvPr id="14" name="Timeline node 4"/>
          <p:cNvSpPr/>
          <p:nvPr/>
        </p:nvSpPr>
        <p:spPr>
          <a:xfrm>
            <a:off x="548640" y="5285232"/>
            <a:ext cx="329184" cy="329184"/>
          </a:xfrm>
          <a:prstGeom prst="ellipse">
            <a:avLst/>
          </a:prstGeom>
          <a:solidFill>
            <a:srgbClr val="E8590C"/>
          </a:solidFill>
          <a:ln w="38100">
            <a:solidFill>
              <a:srgbClr val="1F1A12"/>
            </a:solidFill>
            <a:prstDash val="solid"/>
          </a:ln>
        </p:spPr>
      </p:sp>
      <p:sp>
        <p:nvSpPr>
          <p:cNvPr id="15" name="Text 13"/>
          <p:cNvSpPr txBox="1"/>
          <p:nvPr/>
        </p:nvSpPr>
        <p:spPr>
          <a:xfrm>
            <a:off x="1143000" y="5266944"/>
            <a:ext cx="4846320" cy="274320"/>
          </a:xfrm>
          <a:prstGeom prst="rect">
            <a:avLst/>
          </a:prstGeom>
          <a:noFill/>
          <a:ln/>
        </p:spPr>
        <p:txBody>
          <a:bodyPr wrap="square" lIns="0" tIns="0" rIns="0" bIns="0" rtlCol="0" anchor="t"/>
          <a:lstStyle/>
          <a:p>
            <a:pPr marL="0" indent="0">
              <a:buNone/>
            </a:pPr>
            <a:r>
              <a:rPr lang="en-US" sz="1500" b="1" dirty="0">
                <a:solidFill>
                  <a:schemeClr val="accent1"/>
                </a:solidFill>
              </a:rPr>
              <a:t>7:00 a.m.</a:t>
            </a:r>
            <a:endParaRPr lang="en-US" sz="1500" dirty="0"/>
          </a:p>
        </p:txBody>
      </p:sp>
      <p:sp>
        <p:nvSpPr>
          <p:cNvPr id="16" name="Text 14"/>
          <p:cNvSpPr txBox="1"/>
          <p:nvPr/>
        </p:nvSpPr>
        <p:spPr>
          <a:xfrm>
            <a:off x="1143000" y="5568696"/>
            <a:ext cx="4846320" cy="640080"/>
          </a:xfrm>
          <a:prstGeom prst="rect">
            <a:avLst/>
          </a:prstGeom>
          <a:noFill/>
          <a:ln/>
        </p:spPr>
        <p:txBody>
          <a:bodyPr wrap="square" lIns="0" tIns="0" rIns="0" bIns="0" rtlCol="0" anchor="t"/>
          <a:lstStyle/>
          <a:p>
            <a:pPr marL="0" indent="0">
              <a:buNone/>
            </a:pPr>
            <a:r>
              <a:rPr lang="en-US" sz="1600" dirty="0">
                <a:solidFill>
                  <a:schemeClr val="bg1"/>
                </a:solidFill>
              </a:rPr>
              <a:t>You wake up to one decision. You approve it, and the budget moves.</a:t>
            </a:r>
            <a:endParaRPr lang="en-US" sz="1600" dirty="0"/>
          </a:p>
        </p:txBody>
      </p:sp>
      <p:sp>
        <p:nvSpPr>
          <p:cNvPr id="17" name="Approval card"/>
          <p:cNvSpPr/>
          <p:nvPr/>
        </p:nvSpPr>
        <p:spPr>
          <a:xfrm>
            <a:off x="6583680" y="2057400"/>
            <a:ext cx="5059375" cy="4114800"/>
          </a:xfrm>
          <a:prstGeom prst="roundRect">
            <a:avLst>
              <a:gd name="adj" fmla="val 1778"/>
            </a:avLst>
          </a:prstGeom>
          <a:solidFill>
            <a:srgbClr val="FFFFFF"/>
          </a:solidFill>
          <a:ln/>
        </p:spPr>
      </p:sp>
      <p:sp>
        <p:nvSpPr>
          <p:cNvPr id="18" name="Shape 16"/>
          <p:cNvSpPr/>
          <p:nvPr/>
        </p:nvSpPr>
        <p:spPr>
          <a:xfrm>
            <a:off x="6858000" y="2304288"/>
            <a:ext cx="109728" cy="109728"/>
          </a:xfrm>
          <a:prstGeom prst="ellipse">
            <a:avLst/>
          </a:prstGeom>
          <a:solidFill>
            <a:srgbClr val="E8590C"/>
          </a:solidFill>
          <a:ln/>
        </p:spPr>
      </p:sp>
      <p:sp>
        <p:nvSpPr>
          <p:cNvPr id="19" name="Text 17"/>
          <p:cNvSpPr txBox="1"/>
          <p:nvPr/>
        </p:nvSpPr>
        <p:spPr>
          <a:xfrm>
            <a:off x="7040880" y="2240280"/>
            <a:ext cx="27432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NEEDS YOUR APPROVAL</a:t>
            </a:r>
            <a:endParaRPr lang="en-US" sz="1100" dirty="0"/>
          </a:p>
        </p:txBody>
      </p:sp>
      <p:sp>
        <p:nvSpPr>
          <p:cNvPr id="20" name="Text 18"/>
          <p:cNvSpPr txBox="1"/>
          <p:nvPr/>
        </p:nvSpPr>
        <p:spPr>
          <a:xfrm>
            <a:off x="9814255" y="2240280"/>
            <a:ext cx="1554480" cy="228600"/>
          </a:xfrm>
          <a:prstGeom prst="rect">
            <a:avLst/>
          </a:prstGeom>
          <a:noFill/>
          <a:ln/>
        </p:spPr>
        <p:txBody>
          <a:bodyPr wrap="square" lIns="0" tIns="0" rIns="0" bIns="0" rtlCol="0" anchor="ctr"/>
          <a:lstStyle/>
          <a:p>
            <a:pPr marL="0" indent="0" algn="r">
              <a:buNone/>
            </a:pPr>
            <a:r>
              <a:rPr lang="en-US" sz="1100" dirty="0">
                <a:solidFill>
                  <a:schemeClr val="accent4"/>
                </a:solidFill>
              </a:rPr>
              <a:t>Raised 2:05 a.m.</a:t>
            </a:r>
            <a:endParaRPr lang="en-US" sz="1100" dirty="0"/>
          </a:p>
        </p:txBody>
      </p:sp>
      <p:sp>
        <p:nvSpPr>
          <p:cNvPr id="21" name="Text 19"/>
          <p:cNvSpPr txBox="1"/>
          <p:nvPr/>
        </p:nvSpPr>
        <p:spPr>
          <a:xfrm>
            <a:off x="6858000" y="2606040"/>
            <a:ext cx="4510735" cy="365760"/>
          </a:xfrm>
          <a:prstGeom prst="rect">
            <a:avLst/>
          </a:prstGeom>
          <a:noFill/>
          <a:ln/>
        </p:spPr>
        <p:txBody>
          <a:bodyPr wrap="square" lIns="0" tIns="0" rIns="0" bIns="0" rtlCol="0" anchor="t"/>
          <a:lstStyle/>
          <a:p>
            <a:pPr marL="0" indent="0">
              <a:buNone/>
            </a:pPr>
            <a:r>
              <a:rPr lang="en-US" sz="2200" dirty="0">
                <a:solidFill>
                  <a:schemeClr val="tx1"/>
                </a:solidFill>
                <a:latin typeface="+mj-lt" pitchFamily="34" charset="0"/>
                <a:ea typeface="+mj-lt" pitchFamily="34" charset="-122"/>
                <a:cs typeface="+mj-lt" pitchFamily="34" charset="-120"/>
              </a:rPr>
              <a:t>Tired ad on Meta</a:t>
            </a:r>
            <a:endParaRPr lang="en-US" sz="2200" dirty="0"/>
          </a:p>
        </p:txBody>
      </p:sp>
      <p:sp>
        <p:nvSpPr>
          <p:cNvPr id="22" name="Text 20"/>
          <p:cNvSpPr txBox="1"/>
          <p:nvPr/>
        </p:nvSpPr>
        <p:spPr>
          <a:xfrm>
            <a:off x="6858000" y="3172968"/>
            <a:ext cx="105156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FLAG</a:t>
            </a:r>
            <a:endParaRPr lang="en-US" sz="1100" dirty="0"/>
          </a:p>
        </p:txBody>
      </p:sp>
      <p:sp>
        <p:nvSpPr>
          <p:cNvPr id="23" name="Text 21"/>
          <p:cNvSpPr txBox="1"/>
          <p:nvPr/>
        </p:nvSpPr>
        <p:spPr>
          <a:xfrm>
            <a:off x="7955280" y="3154680"/>
            <a:ext cx="3413455" cy="502920"/>
          </a:xfrm>
          <a:prstGeom prst="rect">
            <a:avLst/>
          </a:prstGeom>
          <a:noFill/>
          <a:ln/>
        </p:spPr>
        <p:txBody>
          <a:bodyPr wrap="square" lIns="0" tIns="0" rIns="0" bIns="0" rtlCol="0" anchor="t"/>
          <a:lstStyle/>
          <a:p>
            <a:pPr marL="0" indent="0">
              <a:buNone/>
            </a:pPr>
            <a:r>
              <a:rPr lang="en-US" sz="1400" dirty="0">
                <a:solidFill>
                  <a:schemeClr val="tx1"/>
                </a:solidFill>
              </a:rPr>
              <a:t>Clicks falling while repeat views rise, over several days.</a:t>
            </a:r>
            <a:endParaRPr lang="en-US" sz="1400" dirty="0"/>
          </a:p>
        </p:txBody>
      </p:sp>
      <p:sp>
        <p:nvSpPr>
          <p:cNvPr id="24" name="Text 22"/>
          <p:cNvSpPr txBox="1"/>
          <p:nvPr/>
        </p:nvSpPr>
        <p:spPr>
          <a:xfrm>
            <a:off x="6858000" y="3785616"/>
            <a:ext cx="105156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PROPOSED</a:t>
            </a:r>
            <a:endParaRPr lang="en-US" sz="1100" dirty="0"/>
          </a:p>
        </p:txBody>
      </p:sp>
      <p:sp>
        <p:nvSpPr>
          <p:cNvPr id="25" name="Text 23"/>
          <p:cNvSpPr txBox="1"/>
          <p:nvPr/>
        </p:nvSpPr>
        <p:spPr>
          <a:xfrm>
            <a:off x="7955280" y="3767328"/>
            <a:ext cx="3413455" cy="502920"/>
          </a:xfrm>
          <a:prstGeom prst="rect">
            <a:avLst/>
          </a:prstGeom>
          <a:noFill/>
          <a:ln/>
        </p:spPr>
        <p:txBody>
          <a:bodyPr wrap="square" lIns="0" tIns="0" rIns="0" bIns="0" rtlCol="0" anchor="t"/>
          <a:lstStyle/>
          <a:p>
            <a:pPr marL="0" indent="0">
              <a:buNone/>
            </a:pPr>
            <a:r>
              <a:rPr lang="en-US" sz="1400" dirty="0">
                <a:solidFill>
                  <a:schemeClr val="tx1"/>
                </a:solidFill>
              </a:rPr>
              <a:t>Pause the tired ad. Replace it with a new one drafted from the winner.</a:t>
            </a:r>
            <a:endParaRPr lang="en-US" sz="1400" dirty="0"/>
          </a:p>
        </p:txBody>
      </p:sp>
      <p:sp>
        <p:nvSpPr>
          <p:cNvPr id="26" name="Text 24"/>
          <p:cNvSpPr txBox="1"/>
          <p:nvPr/>
        </p:nvSpPr>
        <p:spPr>
          <a:xfrm>
            <a:off x="6858000" y="4398264"/>
            <a:ext cx="105156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READY</a:t>
            </a:r>
            <a:endParaRPr lang="en-US" sz="1100" dirty="0"/>
          </a:p>
        </p:txBody>
      </p:sp>
      <p:sp>
        <p:nvSpPr>
          <p:cNvPr id="27" name="Text 25"/>
          <p:cNvSpPr txBox="1"/>
          <p:nvPr/>
        </p:nvSpPr>
        <p:spPr>
          <a:xfrm>
            <a:off x="7955280" y="4379976"/>
            <a:ext cx="3413455" cy="502920"/>
          </a:xfrm>
          <a:prstGeom prst="rect">
            <a:avLst/>
          </a:prstGeom>
          <a:noFill/>
          <a:ln/>
        </p:spPr>
        <p:txBody>
          <a:bodyPr wrap="square" lIns="0" tIns="0" rIns="0" bIns="0" rtlCol="0" anchor="t"/>
          <a:lstStyle/>
          <a:p>
            <a:pPr marL="0" indent="0">
              <a:buNone/>
            </a:pPr>
            <a:r>
              <a:rPr lang="en-US" sz="1400" dirty="0">
                <a:solidFill>
                  <a:schemeClr val="tx1"/>
                </a:solidFill>
              </a:rPr>
              <a:t>Replacement sized for every platform and format.</a:t>
            </a:r>
            <a:endParaRPr lang="en-US" sz="1400" dirty="0"/>
          </a:p>
        </p:txBody>
      </p:sp>
      <p:sp>
        <p:nvSpPr>
          <p:cNvPr id="28" name="Text 26"/>
          <p:cNvSpPr txBox="1"/>
          <p:nvPr/>
        </p:nvSpPr>
        <p:spPr>
          <a:xfrm>
            <a:off x="6858000" y="5010912"/>
            <a:ext cx="105156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BUDGET</a:t>
            </a:r>
            <a:endParaRPr lang="en-US" sz="1100" dirty="0"/>
          </a:p>
        </p:txBody>
      </p:sp>
      <p:sp>
        <p:nvSpPr>
          <p:cNvPr id="29" name="Text 27"/>
          <p:cNvSpPr txBox="1"/>
          <p:nvPr/>
        </p:nvSpPr>
        <p:spPr>
          <a:xfrm>
            <a:off x="7955280" y="4992624"/>
            <a:ext cx="3413455" cy="502920"/>
          </a:xfrm>
          <a:prstGeom prst="rect">
            <a:avLst/>
          </a:prstGeom>
          <a:noFill/>
          <a:ln/>
        </p:spPr>
        <p:txBody>
          <a:bodyPr wrap="square" lIns="0" tIns="0" rIns="0" bIns="0" rtlCol="0" anchor="t"/>
          <a:lstStyle/>
          <a:p>
            <a:pPr marL="0" indent="0">
              <a:buNone/>
            </a:pPr>
            <a:r>
              <a:rPr lang="en-US" sz="1400" dirty="0">
                <a:solidFill>
                  <a:schemeClr val="tx1"/>
                </a:solidFill>
              </a:rPr>
              <a:t>Move the saved spend to the better performer.</a:t>
            </a:r>
            <a:endParaRPr lang="en-US" sz="1400" dirty="0"/>
          </a:p>
        </p:txBody>
      </p:sp>
      <p:sp>
        <p:nvSpPr>
          <p:cNvPr id="30" name="Approve button"/>
          <p:cNvSpPr/>
          <p:nvPr/>
        </p:nvSpPr>
        <p:spPr>
          <a:xfrm>
            <a:off x="6858000" y="5669280"/>
            <a:ext cx="1188720" cy="329184"/>
          </a:xfrm>
          <a:prstGeom prst="roundRect">
            <a:avLst>
              <a:gd name="adj" fmla="val 50000"/>
            </a:avLst>
          </a:prstGeom>
          <a:solidFill>
            <a:srgbClr val="E8590C"/>
          </a:solidFill>
          <a:ln/>
        </p:spPr>
      </p:sp>
      <p:sp>
        <p:nvSpPr>
          <p:cNvPr id="31" name="Text 29"/>
          <p:cNvSpPr txBox="1"/>
          <p:nvPr/>
        </p:nvSpPr>
        <p:spPr>
          <a:xfrm>
            <a:off x="6858000" y="5669280"/>
            <a:ext cx="1188720" cy="329184"/>
          </a:xfrm>
          <a:prstGeom prst="rect">
            <a:avLst/>
          </a:prstGeom>
          <a:noFill/>
          <a:ln/>
        </p:spPr>
        <p:txBody>
          <a:bodyPr wrap="square" lIns="0" tIns="0" rIns="0" bIns="0" rtlCol="0" anchor="ctr"/>
          <a:lstStyle/>
          <a:p>
            <a:pPr marL="0" indent="0" algn="ctr">
              <a:buNone/>
            </a:pPr>
            <a:r>
              <a:rPr lang="en-US" sz="1300" b="1" dirty="0">
                <a:solidFill>
                  <a:schemeClr val="bg1"/>
                </a:solidFill>
              </a:rPr>
              <a:t>Approve</a:t>
            </a:r>
            <a:endParaRPr lang="en-US" sz="1300" dirty="0"/>
          </a:p>
        </p:txBody>
      </p:sp>
      <p:sp>
        <p:nvSpPr>
          <p:cNvPr id="32" name="Edit button"/>
          <p:cNvSpPr/>
          <p:nvPr/>
        </p:nvSpPr>
        <p:spPr>
          <a:xfrm>
            <a:off x="8183880" y="5669280"/>
            <a:ext cx="868680" cy="329184"/>
          </a:xfrm>
          <a:prstGeom prst="roundRect">
            <a:avLst>
              <a:gd name="adj" fmla="val 50000"/>
            </a:avLst>
          </a:prstGeom>
          <a:solidFill>
            <a:srgbClr val="FFFFFF"/>
          </a:solidFill>
          <a:ln w="12700">
            <a:solidFill>
              <a:srgbClr val="DDD8CF"/>
            </a:solidFill>
            <a:prstDash val="solid"/>
          </a:ln>
        </p:spPr>
      </p:sp>
      <p:sp>
        <p:nvSpPr>
          <p:cNvPr id="33" name="Text 31"/>
          <p:cNvSpPr txBox="1"/>
          <p:nvPr/>
        </p:nvSpPr>
        <p:spPr>
          <a:xfrm>
            <a:off x="8183880" y="5669280"/>
            <a:ext cx="868680" cy="329184"/>
          </a:xfrm>
          <a:prstGeom prst="rect">
            <a:avLst/>
          </a:prstGeom>
          <a:noFill/>
          <a:ln/>
        </p:spPr>
        <p:txBody>
          <a:bodyPr wrap="square" lIns="0" tIns="0" rIns="0" bIns="0" rtlCol="0" anchor="ctr"/>
          <a:lstStyle/>
          <a:p>
            <a:pPr marL="0" indent="0" algn="ctr">
              <a:buNone/>
            </a:pPr>
            <a:r>
              <a:rPr lang="en-US" sz="1300" b="1" dirty="0">
                <a:solidFill>
                  <a:schemeClr val="tx1"/>
                </a:solidFill>
              </a:rPr>
              <a:t>Edit</a:t>
            </a:r>
            <a:endParaRPr lang="en-US" sz="1300" dirty="0"/>
          </a:p>
        </p:txBody>
      </p:sp>
      <p:sp>
        <p:nvSpPr>
          <p:cNvPr id="34" name="Decline button"/>
          <p:cNvSpPr/>
          <p:nvPr/>
        </p:nvSpPr>
        <p:spPr>
          <a:xfrm>
            <a:off x="9189720" y="5669280"/>
            <a:ext cx="1005840" cy="329184"/>
          </a:xfrm>
          <a:prstGeom prst="roundRect">
            <a:avLst>
              <a:gd name="adj" fmla="val 50000"/>
            </a:avLst>
          </a:prstGeom>
          <a:solidFill>
            <a:srgbClr val="FFFFFF"/>
          </a:solidFill>
          <a:ln w="12700">
            <a:solidFill>
              <a:srgbClr val="DDD8CF"/>
            </a:solidFill>
            <a:prstDash val="solid"/>
          </a:ln>
        </p:spPr>
      </p:sp>
      <p:sp>
        <p:nvSpPr>
          <p:cNvPr id="35" name="Text 33"/>
          <p:cNvSpPr txBox="1"/>
          <p:nvPr/>
        </p:nvSpPr>
        <p:spPr>
          <a:xfrm>
            <a:off x="9189720" y="5669280"/>
            <a:ext cx="1005840" cy="329184"/>
          </a:xfrm>
          <a:prstGeom prst="rect">
            <a:avLst/>
          </a:prstGeom>
          <a:noFill/>
          <a:ln/>
        </p:spPr>
        <p:txBody>
          <a:bodyPr wrap="square" lIns="0" tIns="0" rIns="0" bIns="0" rtlCol="0" anchor="ctr"/>
          <a:lstStyle/>
          <a:p>
            <a:pPr marL="0" indent="0" algn="ctr">
              <a:buNone/>
            </a:pPr>
            <a:r>
              <a:rPr lang="en-US" sz="1300" b="1" dirty="0">
                <a:solidFill>
                  <a:schemeClr val="tx1"/>
                </a:solidFill>
              </a:rPr>
              <a:t>Decline</a:t>
            </a:r>
            <a:endParaRPr lang="en-US" sz="1300" dirty="0"/>
          </a:p>
        </p:txBody>
      </p:sp>
      <p:sp>
        <p:nvSpPr>
          <p:cNvPr id="36"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CONTROL AND MEMORY</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tx1"/>
                </a:solidFill>
              </a:rPr>
              <a:t>You stay in command. And every decision makes it sharper</a:t>
            </a:r>
            <a:endParaRPr lang="en-US" sz="3200" dirty="0"/>
          </a:p>
        </p:txBody>
      </p:sp>
      <p:sp>
        <p:nvSpPr>
          <p:cNvPr id="4" name="Text 2"/>
          <p:cNvSpPr txBox="1"/>
          <p:nvPr/>
        </p:nvSpPr>
        <p:spPr>
          <a:xfrm>
            <a:off x="548640" y="2057400"/>
            <a:ext cx="50292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YOU STAY IN CONTROL</a:t>
            </a:r>
            <a:endParaRPr lang="en-US" sz="1200" dirty="0"/>
          </a:p>
        </p:txBody>
      </p:sp>
      <p:sp>
        <p:nvSpPr>
          <p:cNvPr id="5" name="Control step 1"/>
          <p:cNvSpPr/>
          <p:nvPr/>
        </p:nvSpPr>
        <p:spPr>
          <a:xfrm>
            <a:off x="548640" y="2395728"/>
            <a:ext cx="5394960" cy="777240"/>
          </a:xfrm>
          <a:prstGeom prst="roundRect">
            <a:avLst>
              <a:gd name="adj" fmla="val 9412"/>
            </a:avLst>
          </a:prstGeom>
          <a:solidFill>
            <a:srgbClr val="F2EFE9"/>
          </a:solidFill>
          <a:ln/>
        </p:spPr>
      </p:sp>
      <p:sp>
        <p:nvSpPr>
          <p:cNvPr id="6" name="Shape 4"/>
          <p:cNvSpPr/>
          <p:nvPr/>
        </p:nvSpPr>
        <p:spPr>
          <a:xfrm>
            <a:off x="749808" y="2560320"/>
            <a:ext cx="457200" cy="457200"/>
          </a:xfrm>
          <a:prstGeom prst="ellipse">
            <a:avLst/>
          </a:prstGeom>
          <a:solidFill>
            <a:srgbClr val="E8590C"/>
          </a:solidFill>
          <a:ln/>
        </p:spPr>
      </p:sp>
      <p:sp>
        <p:nvSpPr>
          <p:cNvPr id="7" name="Text 5"/>
          <p:cNvSpPr txBox="1"/>
          <p:nvPr/>
        </p:nvSpPr>
        <p:spPr>
          <a:xfrm>
            <a:off x="749808" y="2560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6"/>
          <p:cNvSpPr txBox="1"/>
          <p:nvPr/>
        </p:nvSpPr>
        <p:spPr>
          <a:xfrm>
            <a:off x="1417320" y="2505456"/>
            <a:ext cx="4389120" cy="274320"/>
          </a:xfrm>
          <a:prstGeom prst="rect">
            <a:avLst/>
          </a:prstGeom>
          <a:noFill/>
          <a:ln/>
        </p:spPr>
        <p:txBody>
          <a:bodyPr wrap="square" lIns="0" tIns="0" rIns="0" bIns="0" rtlCol="0" anchor="t"/>
          <a:lstStyle/>
          <a:p>
            <a:pPr marL="0" indent="0">
              <a:buNone/>
            </a:pPr>
            <a:r>
              <a:rPr lang="en-US" sz="1600" b="1" dirty="0">
                <a:solidFill>
                  <a:schemeClr val="tx1"/>
                </a:solidFill>
              </a:rPr>
              <a:t>Agents watch and draft</a:t>
            </a:r>
            <a:endParaRPr lang="en-US" sz="1600" dirty="0"/>
          </a:p>
        </p:txBody>
      </p:sp>
      <p:sp>
        <p:nvSpPr>
          <p:cNvPr id="9" name="Text 7"/>
          <p:cNvSpPr txBox="1"/>
          <p:nvPr/>
        </p:nvSpPr>
        <p:spPr>
          <a:xfrm>
            <a:off x="1417320" y="2807208"/>
            <a:ext cx="4389120" cy="274320"/>
          </a:xfrm>
          <a:prstGeom prst="rect">
            <a:avLst/>
          </a:prstGeom>
          <a:noFill/>
          <a:ln/>
        </p:spPr>
        <p:txBody>
          <a:bodyPr wrap="square" lIns="0" tIns="0" rIns="0" bIns="0" rtlCol="0" anchor="t"/>
          <a:lstStyle/>
          <a:p>
            <a:pPr marL="0" indent="0">
              <a:buNone/>
            </a:pPr>
            <a:r>
              <a:rPr lang="en-US" sz="1400" dirty="0">
                <a:solidFill>
                  <a:schemeClr val="tx2"/>
                </a:solidFill>
              </a:rPr>
              <a:t>Every suggestion comes with its reason.</a:t>
            </a:r>
            <a:endParaRPr lang="en-US" sz="1400" dirty="0"/>
          </a:p>
        </p:txBody>
      </p:sp>
      <p:sp>
        <p:nvSpPr>
          <p:cNvPr id="10" name="Control step 2"/>
          <p:cNvSpPr/>
          <p:nvPr/>
        </p:nvSpPr>
        <p:spPr>
          <a:xfrm>
            <a:off x="548640" y="3282696"/>
            <a:ext cx="5394960" cy="777240"/>
          </a:xfrm>
          <a:prstGeom prst="roundRect">
            <a:avLst>
              <a:gd name="adj" fmla="val 9412"/>
            </a:avLst>
          </a:prstGeom>
          <a:solidFill>
            <a:srgbClr val="F2EFE9"/>
          </a:solidFill>
          <a:ln/>
        </p:spPr>
      </p:sp>
      <p:sp>
        <p:nvSpPr>
          <p:cNvPr id="11" name="Shape 9"/>
          <p:cNvSpPr/>
          <p:nvPr/>
        </p:nvSpPr>
        <p:spPr>
          <a:xfrm>
            <a:off x="749808" y="3447288"/>
            <a:ext cx="457200" cy="457200"/>
          </a:xfrm>
          <a:prstGeom prst="ellipse">
            <a:avLst/>
          </a:prstGeom>
          <a:solidFill>
            <a:srgbClr val="E8590C"/>
          </a:solidFill>
          <a:ln/>
        </p:spPr>
      </p:sp>
      <p:sp>
        <p:nvSpPr>
          <p:cNvPr id="12" name="Text 10"/>
          <p:cNvSpPr txBox="1"/>
          <p:nvPr/>
        </p:nvSpPr>
        <p:spPr>
          <a:xfrm>
            <a:off x="749808" y="344728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1"/>
          <p:cNvSpPr txBox="1"/>
          <p:nvPr/>
        </p:nvSpPr>
        <p:spPr>
          <a:xfrm>
            <a:off x="1417320" y="3392424"/>
            <a:ext cx="4389120" cy="274320"/>
          </a:xfrm>
          <a:prstGeom prst="rect">
            <a:avLst/>
          </a:prstGeom>
          <a:noFill/>
          <a:ln/>
        </p:spPr>
        <p:txBody>
          <a:bodyPr wrap="square" lIns="0" tIns="0" rIns="0" bIns="0" rtlCol="0" anchor="t"/>
          <a:lstStyle/>
          <a:p>
            <a:pPr marL="0" indent="0">
              <a:buNone/>
            </a:pPr>
            <a:r>
              <a:rPr lang="en-US" sz="1600" b="1" dirty="0">
                <a:solidFill>
                  <a:schemeClr val="tx1"/>
                </a:solidFill>
              </a:rPr>
              <a:t>You approve, edit or decline</a:t>
            </a:r>
            <a:endParaRPr lang="en-US" sz="1600" dirty="0"/>
          </a:p>
        </p:txBody>
      </p:sp>
      <p:sp>
        <p:nvSpPr>
          <p:cNvPr id="14" name="Text 12"/>
          <p:cNvSpPr txBox="1"/>
          <p:nvPr/>
        </p:nvSpPr>
        <p:spPr>
          <a:xfrm>
            <a:off x="1417320" y="3694176"/>
            <a:ext cx="4389120" cy="274320"/>
          </a:xfrm>
          <a:prstGeom prst="rect">
            <a:avLst/>
          </a:prstGeom>
          <a:noFill/>
          <a:ln/>
        </p:spPr>
        <p:txBody>
          <a:bodyPr wrap="square" lIns="0" tIns="0" rIns="0" bIns="0" rtlCol="0" anchor="t"/>
          <a:lstStyle/>
          <a:p>
            <a:pPr marL="0" indent="0">
              <a:buNone/>
            </a:pPr>
            <a:r>
              <a:rPr lang="en-US" sz="1400" dirty="0">
                <a:solidFill>
                  <a:schemeClr val="tx2"/>
                </a:solidFill>
              </a:rPr>
              <a:t>Nothing goes out without your say.</a:t>
            </a:r>
            <a:endParaRPr lang="en-US" sz="1400" dirty="0"/>
          </a:p>
        </p:txBody>
      </p:sp>
      <p:sp>
        <p:nvSpPr>
          <p:cNvPr id="15" name="Control step 3"/>
          <p:cNvSpPr/>
          <p:nvPr/>
        </p:nvSpPr>
        <p:spPr>
          <a:xfrm>
            <a:off x="548640" y="4169664"/>
            <a:ext cx="5394960" cy="777240"/>
          </a:xfrm>
          <a:prstGeom prst="roundRect">
            <a:avLst>
              <a:gd name="adj" fmla="val 9412"/>
            </a:avLst>
          </a:prstGeom>
          <a:solidFill>
            <a:srgbClr val="F2EFE9"/>
          </a:solidFill>
          <a:ln/>
        </p:spPr>
      </p:sp>
      <p:sp>
        <p:nvSpPr>
          <p:cNvPr id="16" name="Shape 14"/>
          <p:cNvSpPr/>
          <p:nvPr/>
        </p:nvSpPr>
        <p:spPr>
          <a:xfrm>
            <a:off x="749808" y="4334256"/>
            <a:ext cx="457200" cy="457200"/>
          </a:xfrm>
          <a:prstGeom prst="ellipse">
            <a:avLst/>
          </a:prstGeom>
          <a:solidFill>
            <a:srgbClr val="E8590C"/>
          </a:solidFill>
          <a:ln/>
        </p:spPr>
      </p:sp>
      <p:sp>
        <p:nvSpPr>
          <p:cNvPr id="17" name="Text 15"/>
          <p:cNvSpPr txBox="1"/>
          <p:nvPr/>
        </p:nvSpPr>
        <p:spPr>
          <a:xfrm>
            <a:off x="749808" y="4334256"/>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Text 16"/>
          <p:cNvSpPr txBox="1"/>
          <p:nvPr/>
        </p:nvSpPr>
        <p:spPr>
          <a:xfrm>
            <a:off x="1417320" y="4279392"/>
            <a:ext cx="4389120" cy="274320"/>
          </a:xfrm>
          <a:prstGeom prst="rect">
            <a:avLst/>
          </a:prstGeom>
          <a:noFill/>
          <a:ln/>
        </p:spPr>
        <p:txBody>
          <a:bodyPr wrap="square" lIns="0" tIns="0" rIns="0" bIns="0" rtlCol="0" anchor="t"/>
          <a:lstStyle/>
          <a:p>
            <a:pPr marL="0" indent="0">
              <a:buNone/>
            </a:pPr>
            <a:r>
              <a:rPr lang="en-US" sz="1600" b="1" dirty="0">
                <a:solidFill>
                  <a:schemeClr val="tx1"/>
                </a:solidFill>
              </a:rPr>
              <a:t>The action runs</a:t>
            </a:r>
            <a:endParaRPr lang="en-US" sz="1600" dirty="0"/>
          </a:p>
        </p:txBody>
      </p:sp>
      <p:sp>
        <p:nvSpPr>
          <p:cNvPr id="19" name="Text 17"/>
          <p:cNvSpPr txBox="1"/>
          <p:nvPr/>
        </p:nvSpPr>
        <p:spPr>
          <a:xfrm>
            <a:off x="1417320" y="4581144"/>
            <a:ext cx="4389120" cy="274320"/>
          </a:xfrm>
          <a:prstGeom prst="rect">
            <a:avLst/>
          </a:prstGeom>
          <a:noFill/>
          <a:ln/>
        </p:spPr>
        <p:txBody>
          <a:bodyPr wrap="square" lIns="0" tIns="0" rIns="0" bIns="0" rtlCol="0" anchor="t"/>
          <a:lstStyle/>
          <a:p>
            <a:pPr marL="0" indent="0">
              <a:buNone/>
            </a:pPr>
            <a:r>
              <a:rPr lang="en-US" sz="1400" dirty="0">
                <a:solidFill>
                  <a:schemeClr val="tx2"/>
                </a:solidFill>
              </a:rPr>
              <a:t>Pause, scale, move budget, send.</a:t>
            </a:r>
            <a:endParaRPr lang="en-US" sz="1400" dirty="0"/>
          </a:p>
        </p:txBody>
      </p:sp>
      <p:sp>
        <p:nvSpPr>
          <p:cNvPr id="20" name="Within your rules"/>
          <p:cNvSpPr/>
          <p:nvPr/>
        </p:nvSpPr>
        <p:spPr>
          <a:xfrm>
            <a:off x="548640" y="5120640"/>
            <a:ext cx="5394960" cy="960120"/>
          </a:xfrm>
          <a:prstGeom prst="roundRect">
            <a:avLst>
              <a:gd name="adj" fmla="val 7619"/>
            </a:avLst>
          </a:prstGeom>
          <a:solidFill>
            <a:srgbClr val="FDE8DC"/>
          </a:solidFill>
          <a:ln/>
        </p:spPr>
      </p:sp>
      <p:sp>
        <p:nvSpPr>
          <p:cNvPr id="21" name="Text 19"/>
          <p:cNvSpPr txBox="1"/>
          <p:nvPr/>
        </p:nvSpPr>
        <p:spPr>
          <a:xfrm>
            <a:off x="822960" y="5230368"/>
            <a:ext cx="365760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WITHIN YOUR RULES</a:t>
            </a:r>
            <a:endParaRPr lang="en-US" sz="1100" dirty="0"/>
          </a:p>
        </p:txBody>
      </p:sp>
      <p:sp>
        <p:nvSpPr>
          <p:cNvPr id="22" name="Text 20"/>
          <p:cNvSpPr txBox="1"/>
          <p:nvPr/>
        </p:nvSpPr>
        <p:spPr>
          <a:xfrm>
            <a:off x="822960" y="5486400"/>
            <a:ext cx="4846320" cy="548640"/>
          </a:xfrm>
          <a:prstGeom prst="rect">
            <a:avLst/>
          </a:prstGeom>
          <a:noFill/>
          <a:ln/>
        </p:spPr>
        <p:txBody>
          <a:bodyPr wrap="square" lIns="0" tIns="0" rIns="0" bIns="0" rtlCol="0" anchor="t"/>
          <a:lstStyle/>
          <a:p>
            <a:pPr marL="0" indent="0">
              <a:buNone/>
            </a:pPr>
            <a:r>
              <a:rPr lang="en-US" sz="1400" dirty="0">
                <a:solidFill>
                  <a:schemeClr val="tx1"/>
                </a:solidFill>
              </a:rPr>
              <a:t>Set small moves agents may make on their own, like shifting budget under a cap you choose.</a:t>
            </a:r>
            <a:endParaRPr lang="en-US" sz="1400" dirty="0"/>
          </a:p>
        </p:txBody>
      </p:sp>
      <p:sp>
        <p:nvSpPr>
          <p:cNvPr id="23" name="Text 21"/>
          <p:cNvSpPr txBox="1"/>
          <p:nvPr/>
        </p:nvSpPr>
        <p:spPr>
          <a:xfrm>
            <a:off x="6492240" y="2057400"/>
            <a:ext cx="4572000" cy="228600"/>
          </a:xfrm>
          <a:prstGeom prst="rect">
            <a:avLst/>
          </a:prstGeom>
          <a:noFill/>
          <a:ln/>
        </p:spPr>
        <p:txBody>
          <a:bodyPr wrap="square" lIns="0" tIns="0" rIns="0" bIns="0" rtlCol="0" anchor="t"/>
          <a:lstStyle/>
          <a:p>
            <a:pPr marL="0" indent="0">
              <a:buNone/>
            </a:pPr>
            <a:r>
              <a:rPr lang="en-US" sz="1200" b="1" kern="0" spc="300" dirty="0">
                <a:solidFill>
                  <a:schemeClr val="accent1"/>
                </a:solidFill>
              </a:rPr>
              <a:t>AND IT REMEMBERS</a:t>
            </a:r>
            <a:endParaRPr lang="en-US" sz="1200" dirty="0"/>
          </a:p>
        </p:txBody>
      </p:sp>
      <p:sp>
        <p:nvSpPr>
          <p:cNvPr id="24" name="Memory step 1"/>
          <p:cNvSpPr/>
          <p:nvPr/>
        </p:nvSpPr>
        <p:spPr>
          <a:xfrm>
            <a:off x="6492240" y="2395728"/>
            <a:ext cx="5150815" cy="868680"/>
          </a:xfrm>
          <a:prstGeom prst="roundRect">
            <a:avLst>
              <a:gd name="adj" fmla="val 8421"/>
            </a:avLst>
          </a:prstGeom>
          <a:solidFill>
            <a:srgbClr val="FFFFFF"/>
          </a:solidFill>
          <a:ln w="12700">
            <a:solidFill>
              <a:srgbClr val="DDD8CF"/>
            </a:solidFill>
            <a:prstDash val="solid"/>
          </a:ln>
        </p:spPr>
      </p:sp>
      <p:sp>
        <p:nvSpPr>
          <p:cNvPr id="25" name="Icon disc"/>
          <p:cNvSpPr/>
          <p:nvPr/>
        </p:nvSpPr>
        <p:spPr>
          <a:xfrm>
            <a:off x="6693408" y="2560320"/>
            <a:ext cx="548640" cy="548640"/>
          </a:xfrm>
          <a:prstGeom prst="ellipse">
            <a:avLst/>
          </a:prstGeom>
          <a:solidFill>
            <a:schemeClr val="accent1"/>
          </a:solidFill>
          <a:ln/>
        </p:spPr>
      </p:sp>
      <p:pic>
        <p:nvPicPr>
          <p:cNvPr id="26" name="Image 0" descr="BookOpen icon"/>
          <p:cNvPicPr>
            <a:picLocks noChangeAspect="1"/>
          </p:cNvPicPr>
          <p:nvPr/>
        </p:nvPicPr>
        <p:blipFill>
          <a:blip r:embed="rId3"/>
          <a:stretch>
            <a:fillRect/>
          </a:stretch>
        </p:blipFill>
        <p:spPr>
          <a:xfrm>
            <a:off x="6825082" y="2691994"/>
            <a:ext cx="285293" cy="285293"/>
          </a:xfrm>
          <a:prstGeom prst="rect">
            <a:avLst/>
          </a:prstGeom>
        </p:spPr>
      </p:pic>
      <p:sp>
        <p:nvSpPr>
          <p:cNvPr id="27" name="Text 24"/>
          <p:cNvSpPr txBox="1"/>
          <p:nvPr/>
        </p:nvSpPr>
        <p:spPr>
          <a:xfrm>
            <a:off x="7452360" y="2551176"/>
            <a:ext cx="4053535" cy="274320"/>
          </a:xfrm>
          <a:prstGeom prst="rect">
            <a:avLst/>
          </a:prstGeom>
          <a:noFill/>
          <a:ln/>
        </p:spPr>
        <p:txBody>
          <a:bodyPr wrap="square" lIns="0" tIns="0" rIns="0" bIns="0" rtlCol="0" anchor="t"/>
          <a:lstStyle/>
          <a:p>
            <a:pPr marL="0" indent="0">
              <a:buNone/>
            </a:pPr>
            <a:r>
              <a:rPr lang="en-US" sz="1600" b="1" dirty="0">
                <a:solidFill>
                  <a:schemeClr val="tx1"/>
                </a:solidFill>
              </a:rPr>
              <a:t>Every decision is logged</a:t>
            </a:r>
            <a:endParaRPr lang="en-US" sz="1600" dirty="0"/>
          </a:p>
        </p:txBody>
      </p:sp>
      <p:sp>
        <p:nvSpPr>
          <p:cNvPr id="28" name="Text 25"/>
          <p:cNvSpPr txBox="1"/>
          <p:nvPr/>
        </p:nvSpPr>
        <p:spPr>
          <a:xfrm>
            <a:off x="7452360" y="2852928"/>
            <a:ext cx="4053535" cy="274320"/>
          </a:xfrm>
          <a:prstGeom prst="rect">
            <a:avLst/>
          </a:prstGeom>
          <a:noFill/>
          <a:ln/>
        </p:spPr>
        <p:txBody>
          <a:bodyPr wrap="square" lIns="0" tIns="0" rIns="0" bIns="0" rtlCol="0" anchor="t"/>
          <a:lstStyle/>
          <a:p>
            <a:pPr marL="0" indent="0">
              <a:buNone/>
            </a:pPr>
            <a:r>
              <a:rPr lang="en-US" sz="1400" dirty="0">
                <a:solidFill>
                  <a:schemeClr val="tx2"/>
                </a:solidFill>
              </a:rPr>
              <a:t>With the reason behind it.</a:t>
            </a:r>
            <a:endParaRPr lang="en-US" sz="1400" dirty="0"/>
          </a:p>
        </p:txBody>
      </p:sp>
      <p:pic>
        <p:nvPicPr>
          <p:cNvPr id="29" name="Image 1" descr="Next"/>
          <p:cNvPicPr>
            <a:picLocks noChangeAspect="1"/>
          </p:cNvPicPr>
          <p:nvPr/>
        </p:nvPicPr>
        <p:blipFill>
          <a:blip r:embed="rId4"/>
          <a:stretch>
            <a:fillRect/>
          </a:stretch>
        </p:blipFill>
        <p:spPr>
          <a:xfrm>
            <a:off x="6830568" y="3300984"/>
            <a:ext cx="256032" cy="256032"/>
          </a:xfrm>
          <a:prstGeom prst="rect">
            <a:avLst/>
          </a:prstGeom>
        </p:spPr>
      </p:pic>
      <p:sp>
        <p:nvSpPr>
          <p:cNvPr id="30" name="Memory step 2"/>
          <p:cNvSpPr/>
          <p:nvPr/>
        </p:nvSpPr>
        <p:spPr>
          <a:xfrm>
            <a:off x="6492240" y="3584448"/>
            <a:ext cx="5150815" cy="868680"/>
          </a:xfrm>
          <a:prstGeom prst="roundRect">
            <a:avLst>
              <a:gd name="adj" fmla="val 8421"/>
            </a:avLst>
          </a:prstGeom>
          <a:solidFill>
            <a:srgbClr val="FFFFFF"/>
          </a:solidFill>
          <a:ln w="12700">
            <a:solidFill>
              <a:srgbClr val="DDD8CF"/>
            </a:solidFill>
            <a:prstDash val="solid"/>
          </a:ln>
        </p:spPr>
      </p:sp>
      <p:sp>
        <p:nvSpPr>
          <p:cNvPr id="31" name="Icon disc"/>
          <p:cNvSpPr/>
          <p:nvPr/>
        </p:nvSpPr>
        <p:spPr>
          <a:xfrm>
            <a:off x="6693408" y="3749040"/>
            <a:ext cx="548640" cy="548640"/>
          </a:xfrm>
          <a:prstGeom prst="ellipse">
            <a:avLst/>
          </a:prstGeom>
          <a:solidFill>
            <a:schemeClr val="accent1"/>
          </a:solidFill>
          <a:ln/>
        </p:spPr>
      </p:sp>
      <p:pic>
        <p:nvPicPr>
          <p:cNvPr id="32" name="Image 2" descr="Brain icon"/>
          <p:cNvPicPr>
            <a:picLocks noChangeAspect="1"/>
          </p:cNvPicPr>
          <p:nvPr/>
        </p:nvPicPr>
        <p:blipFill>
          <a:blip r:embed="rId5"/>
          <a:stretch>
            <a:fillRect/>
          </a:stretch>
        </p:blipFill>
        <p:spPr>
          <a:xfrm>
            <a:off x="6825082" y="3880714"/>
            <a:ext cx="285293" cy="285293"/>
          </a:xfrm>
          <a:prstGeom prst="rect">
            <a:avLst/>
          </a:prstGeom>
        </p:spPr>
      </p:pic>
      <p:sp>
        <p:nvSpPr>
          <p:cNvPr id="33" name="Text 28"/>
          <p:cNvSpPr txBox="1"/>
          <p:nvPr/>
        </p:nvSpPr>
        <p:spPr>
          <a:xfrm>
            <a:off x="7452360" y="3739896"/>
            <a:ext cx="4053535" cy="274320"/>
          </a:xfrm>
          <a:prstGeom prst="rect">
            <a:avLst/>
          </a:prstGeom>
          <a:noFill/>
          <a:ln/>
        </p:spPr>
        <p:txBody>
          <a:bodyPr wrap="square" lIns="0" tIns="0" rIns="0" bIns="0" rtlCol="0" anchor="t"/>
          <a:lstStyle/>
          <a:p>
            <a:pPr marL="0" indent="0">
              <a:buNone/>
            </a:pPr>
            <a:r>
              <a:rPr lang="en-US" sz="1600" b="1" dirty="0">
                <a:solidFill>
                  <a:schemeClr val="tx1"/>
                </a:solidFill>
              </a:rPr>
              <a:t>The system learns what worked</a:t>
            </a:r>
            <a:endParaRPr lang="en-US" sz="1600" dirty="0"/>
          </a:p>
        </p:txBody>
      </p:sp>
      <p:sp>
        <p:nvSpPr>
          <p:cNvPr id="34" name="Text 29"/>
          <p:cNvSpPr txBox="1"/>
          <p:nvPr/>
        </p:nvSpPr>
        <p:spPr>
          <a:xfrm>
            <a:off x="7452360" y="4041648"/>
            <a:ext cx="4053535" cy="274320"/>
          </a:xfrm>
          <a:prstGeom prst="rect">
            <a:avLst/>
          </a:prstGeom>
          <a:noFill/>
          <a:ln/>
        </p:spPr>
        <p:txBody>
          <a:bodyPr wrap="square" lIns="0" tIns="0" rIns="0" bIns="0" rtlCol="0" anchor="t"/>
          <a:lstStyle/>
          <a:p>
            <a:pPr marL="0" indent="0">
              <a:buNone/>
            </a:pPr>
            <a:r>
              <a:rPr lang="en-US" sz="1400" dirty="0">
                <a:solidFill>
                  <a:schemeClr val="tx2"/>
                </a:solidFill>
              </a:rPr>
              <a:t>Which ads tire fast, which angles win.</a:t>
            </a:r>
            <a:endParaRPr lang="en-US" sz="1400" dirty="0"/>
          </a:p>
        </p:txBody>
      </p:sp>
      <p:pic>
        <p:nvPicPr>
          <p:cNvPr id="35" name="Image 3" descr="Next"/>
          <p:cNvPicPr>
            <a:picLocks noChangeAspect="1"/>
          </p:cNvPicPr>
          <p:nvPr/>
        </p:nvPicPr>
        <p:blipFill>
          <a:blip r:embed="rId4"/>
          <a:stretch>
            <a:fillRect/>
          </a:stretch>
        </p:blipFill>
        <p:spPr>
          <a:xfrm>
            <a:off x="6830568" y="4489704"/>
            <a:ext cx="256032" cy="256032"/>
          </a:xfrm>
          <a:prstGeom prst="rect">
            <a:avLst/>
          </a:prstGeom>
        </p:spPr>
      </p:pic>
      <p:sp>
        <p:nvSpPr>
          <p:cNvPr id="36" name="Memory step 3"/>
          <p:cNvSpPr/>
          <p:nvPr/>
        </p:nvSpPr>
        <p:spPr>
          <a:xfrm>
            <a:off x="6492240" y="4773168"/>
            <a:ext cx="5150815" cy="868680"/>
          </a:xfrm>
          <a:prstGeom prst="roundRect">
            <a:avLst>
              <a:gd name="adj" fmla="val 8421"/>
            </a:avLst>
          </a:prstGeom>
          <a:solidFill>
            <a:srgbClr val="FFFFFF"/>
          </a:solidFill>
          <a:ln w="12700">
            <a:solidFill>
              <a:srgbClr val="DDD8CF"/>
            </a:solidFill>
            <a:prstDash val="solid"/>
          </a:ln>
        </p:spPr>
      </p:sp>
      <p:sp>
        <p:nvSpPr>
          <p:cNvPr id="37" name="Icon disc"/>
          <p:cNvSpPr/>
          <p:nvPr/>
        </p:nvSpPr>
        <p:spPr>
          <a:xfrm>
            <a:off x="6693408" y="4937760"/>
            <a:ext cx="548640" cy="548640"/>
          </a:xfrm>
          <a:prstGeom prst="ellipse">
            <a:avLst/>
          </a:prstGeom>
          <a:solidFill>
            <a:schemeClr val="accent1"/>
          </a:solidFill>
          <a:ln/>
        </p:spPr>
      </p:sp>
      <p:pic>
        <p:nvPicPr>
          <p:cNvPr id="38" name="Image 4" descr="TrendingUp icon"/>
          <p:cNvPicPr>
            <a:picLocks noChangeAspect="1"/>
          </p:cNvPicPr>
          <p:nvPr/>
        </p:nvPicPr>
        <p:blipFill>
          <a:blip r:embed="rId6"/>
          <a:stretch>
            <a:fillRect/>
          </a:stretch>
        </p:blipFill>
        <p:spPr>
          <a:xfrm>
            <a:off x="6825082" y="5069434"/>
            <a:ext cx="285293" cy="285293"/>
          </a:xfrm>
          <a:prstGeom prst="rect">
            <a:avLst/>
          </a:prstGeom>
        </p:spPr>
      </p:pic>
      <p:sp>
        <p:nvSpPr>
          <p:cNvPr id="39" name="Text 32"/>
          <p:cNvSpPr txBox="1"/>
          <p:nvPr/>
        </p:nvSpPr>
        <p:spPr>
          <a:xfrm>
            <a:off x="7452360" y="4928616"/>
            <a:ext cx="4053535" cy="274320"/>
          </a:xfrm>
          <a:prstGeom prst="rect">
            <a:avLst/>
          </a:prstGeom>
          <a:noFill/>
          <a:ln/>
        </p:spPr>
        <p:txBody>
          <a:bodyPr wrap="square" lIns="0" tIns="0" rIns="0" bIns="0" rtlCol="0" anchor="t"/>
          <a:lstStyle/>
          <a:p>
            <a:pPr marL="0" indent="0">
              <a:buNone/>
            </a:pPr>
            <a:r>
              <a:rPr lang="en-US" sz="1600" b="1" dirty="0">
                <a:solidFill>
                  <a:schemeClr val="tx1"/>
                </a:solidFill>
              </a:rPr>
              <a:t>The next suggestion is sharper</a:t>
            </a:r>
            <a:endParaRPr lang="en-US" sz="1600" dirty="0"/>
          </a:p>
        </p:txBody>
      </p:sp>
      <p:sp>
        <p:nvSpPr>
          <p:cNvPr id="40" name="Text 33"/>
          <p:cNvSpPr txBox="1"/>
          <p:nvPr/>
        </p:nvSpPr>
        <p:spPr>
          <a:xfrm>
            <a:off x="7452360" y="5230368"/>
            <a:ext cx="4053535" cy="274320"/>
          </a:xfrm>
          <a:prstGeom prst="rect">
            <a:avLst/>
          </a:prstGeom>
          <a:noFill/>
          <a:ln/>
        </p:spPr>
        <p:txBody>
          <a:bodyPr wrap="square" lIns="0" tIns="0" rIns="0" bIns="0" rtlCol="0" anchor="t"/>
          <a:lstStyle/>
          <a:p>
            <a:pPr marL="0" indent="0">
              <a:buNone/>
            </a:pPr>
            <a:r>
              <a:rPr lang="en-US" sz="1400" dirty="0">
                <a:solidFill>
                  <a:schemeClr val="tx2"/>
                </a:solidFill>
              </a:rPr>
              <a:t>The loop compounds.</a:t>
            </a:r>
            <a:endParaRPr lang="en-US" sz="1400" dirty="0"/>
          </a:p>
        </p:txBody>
      </p:sp>
      <p:sp>
        <p:nvSpPr>
          <p:cNvPr id="41"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ONE LOOP, TWO TEAMS</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tx1"/>
                </a:solidFill>
              </a:rPr>
              <a:t>One loop. Two teams. Yours</a:t>
            </a:r>
            <a:endParaRPr lang="en-US" sz="3200" dirty="0"/>
          </a:p>
        </p:txBody>
      </p:sp>
      <p:sp>
        <p:nvSpPr>
          <p:cNvPr id="4" name="Text 2"/>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700" dirty="0">
                <a:solidFill>
                  <a:schemeClr val="tx2"/>
                </a:solidFill>
              </a:rPr>
              <a:t>The same loop, tuned to how your business sells. One customer can run both.</a:t>
            </a:r>
            <a:endParaRPr lang="en-US" sz="1700" dirty="0"/>
          </a:p>
        </p:txBody>
      </p:sp>
      <p:sp>
        <p:nvSpPr>
          <p:cNvPr id="5" name="B2B header"/>
          <p:cNvSpPr/>
          <p:nvPr/>
        </p:nvSpPr>
        <p:spPr>
          <a:xfrm>
            <a:off x="2834640" y="1920240"/>
            <a:ext cx="4343400" cy="960120"/>
          </a:xfrm>
          <a:prstGeom prst="roundRect">
            <a:avLst>
              <a:gd name="adj" fmla="val 7619"/>
            </a:avLst>
          </a:prstGeom>
          <a:solidFill>
            <a:srgbClr val="1F1A12"/>
          </a:solidFill>
          <a:ln/>
        </p:spPr>
      </p:sp>
      <p:sp>
        <p:nvSpPr>
          <p:cNvPr id="6" name="Text 4"/>
          <p:cNvSpPr txBox="1"/>
          <p:nvPr/>
        </p:nvSpPr>
        <p:spPr>
          <a:xfrm>
            <a:off x="3108960" y="2011680"/>
            <a:ext cx="3794760" cy="457200"/>
          </a:xfrm>
          <a:prstGeom prst="rect">
            <a:avLst/>
          </a:prstGeom>
          <a:noFill/>
          <a:ln/>
        </p:spPr>
        <p:txBody>
          <a:bodyPr wrap="square" lIns="0" tIns="0" rIns="0" bIns="0" rtlCol="0" anchor="t"/>
          <a:lstStyle/>
          <a:p>
            <a:pPr marL="0" indent="0">
              <a:buNone/>
            </a:pPr>
            <a:r>
              <a:rPr lang="en-US" sz="2600" dirty="0">
                <a:solidFill>
                  <a:schemeClr val="bg1"/>
                </a:solidFill>
                <a:latin typeface="+mj-lt" pitchFamily="34" charset="0"/>
                <a:ea typeface="+mj-lt" pitchFamily="34" charset="-122"/>
                <a:cs typeface="+mj-lt" pitchFamily="34" charset="-120"/>
              </a:rPr>
              <a:t>B2B loop</a:t>
            </a:r>
            <a:endParaRPr lang="en-US" sz="2600" dirty="0"/>
          </a:p>
        </p:txBody>
      </p:sp>
      <p:sp>
        <p:nvSpPr>
          <p:cNvPr id="7" name="Text 5"/>
          <p:cNvSpPr txBox="1"/>
          <p:nvPr/>
        </p:nvSpPr>
        <p:spPr>
          <a:xfrm>
            <a:off x="3108960" y="2468880"/>
            <a:ext cx="3794760" cy="274320"/>
          </a:xfrm>
          <a:prstGeom prst="rect">
            <a:avLst/>
          </a:prstGeom>
          <a:noFill/>
          <a:ln/>
        </p:spPr>
        <p:txBody>
          <a:bodyPr wrap="square" lIns="0" tIns="0" rIns="0" bIns="0" rtlCol="0" anchor="t"/>
          <a:lstStyle/>
          <a:p>
            <a:pPr marL="0" indent="0">
              <a:buNone/>
            </a:pPr>
            <a:r>
              <a:rPr lang="en-US" sz="1400" dirty="0">
                <a:solidFill>
                  <a:schemeClr val="bg2"/>
                </a:solidFill>
              </a:rPr>
              <a:t>Teams selling to businesses</a:t>
            </a:r>
            <a:endParaRPr lang="en-US" sz="1400" dirty="0"/>
          </a:p>
        </p:txBody>
      </p:sp>
      <p:sp>
        <p:nvSpPr>
          <p:cNvPr id="8" name="B2C header"/>
          <p:cNvSpPr/>
          <p:nvPr/>
        </p:nvSpPr>
        <p:spPr>
          <a:xfrm>
            <a:off x="7360920" y="1920240"/>
            <a:ext cx="4282135" cy="960120"/>
          </a:xfrm>
          <a:prstGeom prst="roundRect">
            <a:avLst>
              <a:gd name="adj" fmla="val 7619"/>
            </a:avLst>
          </a:prstGeom>
          <a:solidFill>
            <a:srgbClr val="E8590C"/>
          </a:solidFill>
          <a:ln/>
        </p:spPr>
      </p:sp>
      <p:sp>
        <p:nvSpPr>
          <p:cNvPr id="9" name="Text 7"/>
          <p:cNvSpPr txBox="1"/>
          <p:nvPr/>
        </p:nvSpPr>
        <p:spPr>
          <a:xfrm>
            <a:off x="7635240" y="2011680"/>
            <a:ext cx="3733495" cy="457200"/>
          </a:xfrm>
          <a:prstGeom prst="rect">
            <a:avLst/>
          </a:prstGeom>
          <a:noFill/>
          <a:ln/>
        </p:spPr>
        <p:txBody>
          <a:bodyPr wrap="square" lIns="0" tIns="0" rIns="0" bIns="0" rtlCol="0" anchor="t"/>
          <a:lstStyle/>
          <a:p>
            <a:pPr marL="0" indent="0">
              <a:buNone/>
            </a:pPr>
            <a:r>
              <a:rPr lang="en-US" sz="2600" dirty="0">
                <a:solidFill>
                  <a:schemeClr val="bg1"/>
                </a:solidFill>
                <a:latin typeface="+mj-lt" pitchFamily="34" charset="0"/>
                <a:ea typeface="+mj-lt" pitchFamily="34" charset="-122"/>
                <a:cs typeface="+mj-lt" pitchFamily="34" charset="-120"/>
              </a:rPr>
              <a:t>B2C loop</a:t>
            </a:r>
            <a:endParaRPr lang="en-US" sz="2600" dirty="0"/>
          </a:p>
        </p:txBody>
      </p:sp>
      <p:sp>
        <p:nvSpPr>
          <p:cNvPr id="10" name="Text 8"/>
          <p:cNvSpPr txBox="1"/>
          <p:nvPr/>
        </p:nvSpPr>
        <p:spPr>
          <a:xfrm>
            <a:off x="7635240" y="2468880"/>
            <a:ext cx="3733495" cy="274320"/>
          </a:xfrm>
          <a:prstGeom prst="rect">
            <a:avLst/>
          </a:prstGeom>
          <a:noFill/>
          <a:ln/>
        </p:spPr>
        <p:txBody>
          <a:bodyPr wrap="square" lIns="0" tIns="0" rIns="0" bIns="0" rtlCol="0" anchor="t"/>
          <a:lstStyle/>
          <a:p>
            <a:pPr marL="0" indent="0">
              <a:buNone/>
            </a:pPr>
            <a:r>
              <a:rPr lang="en-US" sz="1400" dirty="0">
                <a:solidFill>
                  <a:schemeClr val="bg1"/>
                </a:solidFill>
              </a:rPr>
              <a:t>Brands selling to consumers</a:t>
            </a:r>
            <a:endParaRPr lang="en-US" sz="1400" dirty="0"/>
          </a:p>
        </p:txBody>
      </p:sp>
      <p:sp>
        <p:nvSpPr>
          <p:cNvPr id="11" name="Text 9"/>
          <p:cNvSpPr txBox="1"/>
          <p:nvPr/>
        </p:nvSpPr>
        <p:spPr>
          <a:xfrm>
            <a:off x="548640" y="3017520"/>
            <a:ext cx="2103120" cy="731520"/>
          </a:xfrm>
          <a:prstGeom prst="rect">
            <a:avLst/>
          </a:prstGeom>
          <a:noFill/>
          <a:ln/>
        </p:spPr>
        <p:txBody>
          <a:bodyPr wrap="square" lIns="0" tIns="0" rIns="0" bIns="0" rtlCol="0" anchor="ctr"/>
          <a:lstStyle/>
          <a:p>
            <a:pPr marL="0" indent="0">
              <a:buNone/>
            </a:pPr>
            <a:r>
              <a:rPr lang="en-US" sz="1200" b="1" kern="0" spc="200" dirty="0">
                <a:solidFill>
                  <a:schemeClr val="accent4"/>
                </a:solidFill>
              </a:rPr>
              <a:t>WHAT IT WATCHES</a:t>
            </a:r>
            <a:endParaRPr lang="en-US" sz="1200" dirty="0"/>
          </a:p>
        </p:txBody>
      </p:sp>
      <p:sp>
        <p:nvSpPr>
          <p:cNvPr id="12" name="WHAT IT WATCHES B2B"/>
          <p:cNvSpPr/>
          <p:nvPr/>
        </p:nvSpPr>
        <p:spPr>
          <a:xfrm>
            <a:off x="2834640" y="3017520"/>
            <a:ext cx="4343400" cy="731520"/>
          </a:xfrm>
          <a:prstGeom prst="roundRect">
            <a:avLst>
              <a:gd name="adj" fmla="val 10000"/>
            </a:avLst>
          </a:prstGeom>
          <a:solidFill>
            <a:srgbClr val="F2EFE9"/>
          </a:solidFill>
          <a:ln/>
        </p:spPr>
      </p:sp>
      <p:sp>
        <p:nvSpPr>
          <p:cNvPr id="13" name="Text 11"/>
          <p:cNvSpPr txBox="1"/>
          <p:nvPr/>
        </p:nvSpPr>
        <p:spPr>
          <a:xfrm>
            <a:off x="3108960" y="3017520"/>
            <a:ext cx="3794760" cy="731520"/>
          </a:xfrm>
          <a:prstGeom prst="rect">
            <a:avLst/>
          </a:prstGeom>
          <a:noFill/>
          <a:ln/>
        </p:spPr>
        <p:txBody>
          <a:bodyPr wrap="square" lIns="0" tIns="0" rIns="0" bIns="0" rtlCol="0" anchor="ctr"/>
          <a:lstStyle/>
          <a:p>
            <a:pPr marL="0" indent="0">
              <a:buNone/>
            </a:pPr>
            <a:r>
              <a:rPr lang="en-US" sz="1700" b="1" dirty="0">
                <a:solidFill>
                  <a:schemeClr val="tx1"/>
                </a:solidFill>
              </a:rPr>
              <a:t>Accounts, intent and pipeline</a:t>
            </a:r>
            <a:endParaRPr lang="en-US" sz="1700" dirty="0"/>
          </a:p>
        </p:txBody>
      </p:sp>
      <p:sp>
        <p:nvSpPr>
          <p:cNvPr id="14" name="WHAT IT WATCHES B2C"/>
          <p:cNvSpPr/>
          <p:nvPr/>
        </p:nvSpPr>
        <p:spPr>
          <a:xfrm>
            <a:off x="7360920" y="3017520"/>
            <a:ext cx="4282135" cy="731520"/>
          </a:xfrm>
          <a:prstGeom prst="roundRect">
            <a:avLst>
              <a:gd name="adj" fmla="val 10000"/>
            </a:avLst>
          </a:prstGeom>
          <a:solidFill>
            <a:srgbClr val="F2EFE9"/>
          </a:solidFill>
          <a:ln/>
        </p:spPr>
      </p:sp>
      <p:sp>
        <p:nvSpPr>
          <p:cNvPr id="15" name="Text 13"/>
          <p:cNvSpPr txBox="1"/>
          <p:nvPr/>
        </p:nvSpPr>
        <p:spPr>
          <a:xfrm>
            <a:off x="7635240" y="3017520"/>
            <a:ext cx="3733495" cy="731520"/>
          </a:xfrm>
          <a:prstGeom prst="rect">
            <a:avLst/>
          </a:prstGeom>
          <a:noFill/>
          <a:ln/>
        </p:spPr>
        <p:txBody>
          <a:bodyPr wrap="square" lIns="0" tIns="0" rIns="0" bIns="0" rtlCol="0" anchor="ctr"/>
          <a:lstStyle/>
          <a:p>
            <a:pPr marL="0" indent="0">
              <a:buNone/>
            </a:pPr>
            <a:r>
              <a:rPr lang="en-US" sz="1700" b="1" dirty="0">
                <a:solidFill>
                  <a:schemeClr val="tx1"/>
                </a:solidFill>
              </a:rPr>
              <a:t>Creative, audiences and storefronts</a:t>
            </a:r>
            <a:endParaRPr lang="en-US" sz="1700" dirty="0"/>
          </a:p>
        </p:txBody>
      </p:sp>
      <p:sp>
        <p:nvSpPr>
          <p:cNvPr id="16" name="Text 14"/>
          <p:cNvSpPr txBox="1"/>
          <p:nvPr/>
        </p:nvSpPr>
        <p:spPr>
          <a:xfrm>
            <a:off x="548640" y="3858768"/>
            <a:ext cx="2103120" cy="731520"/>
          </a:xfrm>
          <a:prstGeom prst="rect">
            <a:avLst/>
          </a:prstGeom>
          <a:noFill/>
          <a:ln/>
        </p:spPr>
        <p:txBody>
          <a:bodyPr wrap="square" lIns="0" tIns="0" rIns="0" bIns="0" rtlCol="0" anchor="ctr"/>
          <a:lstStyle/>
          <a:p>
            <a:pPr marL="0" indent="0">
              <a:buNone/>
            </a:pPr>
            <a:r>
              <a:rPr lang="en-US" sz="1200" b="1" kern="0" spc="200" dirty="0">
                <a:solidFill>
                  <a:schemeClr val="accent4"/>
                </a:solidFill>
              </a:rPr>
              <a:t>WHAT IT DECIDES</a:t>
            </a:r>
            <a:endParaRPr lang="en-US" sz="1200" dirty="0"/>
          </a:p>
        </p:txBody>
      </p:sp>
      <p:sp>
        <p:nvSpPr>
          <p:cNvPr id="17" name="WHAT IT DECIDES B2B"/>
          <p:cNvSpPr/>
          <p:nvPr/>
        </p:nvSpPr>
        <p:spPr>
          <a:xfrm>
            <a:off x="2834640" y="3858768"/>
            <a:ext cx="4343400" cy="731520"/>
          </a:xfrm>
          <a:prstGeom prst="roundRect">
            <a:avLst>
              <a:gd name="adj" fmla="val 10000"/>
            </a:avLst>
          </a:prstGeom>
          <a:solidFill>
            <a:srgbClr val="F2EFE9"/>
          </a:solidFill>
          <a:ln/>
        </p:spPr>
      </p:sp>
      <p:sp>
        <p:nvSpPr>
          <p:cNvPr id="18" name="Text 16"/>
          <p:cNvSpPr txBox="1"/>
          <p:nvPr/>
        </p:nvSpPr>
        <p:spPr>
          <a:xfrm>
            <a:off x="3108960" y="3858768"/>
            <a:ext cx="3794760" cy="731520"/>
          </a:xfrm>
          <a:prstGeom prst="rect">
            <a:avLst/>
          </a:prstGeom>
          <a:noFill/>
          <a:ln/>
        </p:spPr>
        <p:txBody>
          <a:bodyPr wrap="square" lIns="0" tIns="0" rIns="0" bIns="0" rtlCol="0" anchor="ctr"/>
          <a:lstStyle/>
          <a:p>
            <a:pPr marL="0" indent="0">
              <a:buNone/>
            </a:pPr>
            <a:r>
              <a:rPr lang="en-US" sz="1700" b="1" dirty="0">
                <a:solidFill>
                  <a:schemeClr val="tx1"/>
                </a:solidFill>
              </a:rPr>
              <a:t>Who to pursue, and when</a:t>
            </a:r>
            <a:endParaRPr lang="en-US" sz="1700" dirty="0"/>
          </a:p>
        </p:txBody>
      </p:sp>
      <p:sp>
        <p:nvSpPr>
          <p:cNvPr id="19" name="WHAT IT DECIDES B2C"/>
          <p:cNvSpPr/>
          <p:nvPr/>
        </p:nvSpPr>
        <p:spPr>
          <a:xfrm>
            <a:off x="7360920" y="3858768"/>
            <a:ext cx="4282135" cy="731520"/>
          </a:xfrm>
          <a:prstGeom prst="roundRect">
            <a:avLst>
              <a:gd name="adj" fmla="val 10000"/>
            </a:avLst>
          </a:prstGeom>
          <a:solidFill>
            <a:srgbClr val="F2EFE9"/>
          </a:solidFill>
          <a:ln/>
        </p:spPr>
      </p:sp>
      <p:sp>
        <p:nvSpPr>
          <p:cNvPr id="20" name="Text 18"/>
          <p:cNvSpPr txBox="1"/>
          <p:nvPr/>
        </p:nvSpPr>
        <p:spPr>
          <a:xfrm>
            <a:off x="7635240" y="3858768"/>
            <a:ext cx="3733495" cy="731520"/>
          </a:xfrm>
          <a:prstGeom prst="rect">
            <a:avLst/>
          </a:prstGeom>
          <a:noFill/>
          <a:ln/>
        </p:spPr>
        <p:txBody>
          <a:bodyPr wrap="square" lIns="0" tIns="0" rIns="0" bIns="0" rtlCol="0" anchor="ctr"/>
          <a:lstStyle/>
          <a:p>
            <a:pPr marL="0" indent="0">
              <a:buNone/>
            </a:pPr>
            <a:r>
              <a:rPr lang="en-US" sz="1700" b="1" dirty="0">
                <a:solidFill>
                  <a:schemeClr val="tx1"/>
                </a:solidFill>
              </a:rPr>
              <a:t>What to run next, and where</a:t>
            </a:r>
            <a:endParaRPr lang="en-US" sz="1700" dirty="0"/>
          </a:p>
        </p:txBody>
      </p:sp>
      <p:sp>
        <p:nvSpPr>
          <p:cNvPr id="21" name="Text 19"/>
          <p:cNvSpPr txBox="1"/>
          <p:nvPr/>
        </p:nvSpPr>
        <p:spPr>
          <a:xfrm>
            <a:off x="548640" y="4700016"/>
            <a:ext cx="2103120" cy="868680"/>
          </a:xfrm>
          <a:prstGeom prst="rect">
            <a:avLst/>
          </a:prstGeom>
          <a:noFill/>
          <a:ln/>
        </p:spPr>
        <p:txBody>
          <a:bodyPr wrap="square" lIns="0" tIns="0" rIns="0" bIns="0" rtlCol="0" anchor="ctr"/>
          <a:lstStyle/>
          <a:p>
            <a:pPr marL="0" indent="0">
              <a:buNone/>
            </a:pPr>
            <a:r>
              <a:rPr lang="en-US" sz="1200" b="1" kern="0" spc="200" dirty="0">
                <a:solidFill>
                  <a:schemeClr val="accent4"/>
                </a:solidFill>
              </a:rPr>
              <a:t>POWERED BY</a:t>
            </a:r>
            <a:endParaRPr lang="en-US" sz="1200" dirty="0"/>
          </a:p>
        </p:txBody>
      </p:sp>
      <p:sp>
        <p:nvSpPr>
          <p:cNvPr id="22" name="POWERED BY B2B"/>
          <p:cNvSpPr/>
          <p:nvPr/>
        </p:nvSpPr>
        <p:spPr>
          <a:xfrm>
            <a:off x="2834640" y="4700016"/>
            <a:ext cx="4343400" cy="868680"/>
          </a:xfrm>
          <a:prstGeom prst="roundRect">
            <a:avLst>
              <a:gd name="adj" fmla="val 8421"/>
            </a:avLst>
          </a:prstGeom>
          <a:solidFill>
            <a:srgbClr val="F2EFE9"/>
          </a:solidFill>
          <a:ln/>
        </p:spPr>
      </p:sp>
      <p:sp>
        <p:nvSpPr>
          <p:cNvPr id="23" name="Text 21"/>
          <p:cNvSpPr txBox="1"/>
          <p:nvPr/>
        </p:nvSpPr>
        <p:spPr>
          <a:xfrm>
            <a:off x="3108960" y="4700016"/>
            <a:ext cx="3794760" cy="868680"/>
          </a:xfrm>
          <a:prstGeom prst="rect">
            <a:avLst/>
          </a:prstGeom>
          <a:noFill/>
          <a:ln/>
        </p:spPr>
        <p:txBody>
          <a:bodyPr wrap="square" lIns="0" tIns="0" rIns="0" bIns="0" rtlCol="0" anchor="ctr"/>
          <a:lstStyle/>
          <a:p>
            <a:pPr marL="0" indent="0">
              <a:buNone/>
            </a:pPr>
            <a:r>
              <a:rPr lang="en-US" sz="1700" b="1" dirty="0">
                <a:solidFill>
                  <a:schemeClr val="tx1"/>
                </a:solidFill>
              </a:rPr>
              <a:t>CRM  ·  Marketing skills  ·  Campaign Manager</a:t>
            </a:r>
            <a:endParaRPr lang="en-US" sz="1700" dirty="0"/>
          </a:p>
        </p:txBody>
      </p:sp>
      <p:sp>
        <p:nvSpPr>
          <p:cNvPr id="24" name="POWERED BY B2C"/>
          <p:cNvSpPr/>
          <p:nvPr/>
        </p:nvSpPr>
        <p:spPr>
          <a:xfrm>
            <a:off x="7360920" y="4700016"/>
            <a:ext cx="4282135" cy="868680"/>
          </a:xfrm>
          <a:prstGeom prst="roundRect">
            <a:avLst>
              <a:gd name="adj" fmla="val 8421"/>
            </a:avLst>
          </a:prstGeom>
          <a:solidFill>
            <a:srgbClr val="F2EFE9"/>
          </a:solidFill>
          <a:ln/>
        </p:spPr>
      </p:sp>
      <p:sp>
        <p:nvSpPr>
          <p:cNvPr id="25" name="Text 23"/>
          <p:cNvSpPr txBox="1"/>
          <p:nvPr/>
        </p:nvSpPr>
        <p:spPr>
          <a:xfrm>
            <a:off x="7635240" y="4700016"/>
            <a:ext cx="3733495" cy="868680"/>
          </a:xfrm>
          <a:prstGeom prst="rect">
            <a:avLst/>
          </a:prstGeom>
          <a:noFill/>
          <a:ln/>
        </p:spPr>
        <p:txBody>
          <a:bodyPr wrap="square" lIns="0" tIns="0" rIns="0" bIns="0" rtlCol="0" anchor="ctr"/>
          <a:lstStyle/>
          <a:p>
            <a:pPr marL="0" indent="0">
              <a:buNone/>
            </a:pPr>
            <a:r>
              <a:rPr lang="en-US" sz="1700" b="1" dirty="0">
                <a:solidFill>
                  <a:schemeClr val="tx1"/>
                </a:solidFill>
              </a:rPr>
              <a:t>Commerce OS  ·  Artist  ·  Adapt Engine</a:t>
            </a:r>
            <a:endParaRPr lang="en-US" sz="1700" dirty="0"/>
          </a:p>
        </p:txBody>
      </p:sp>
      <p:sp>
        <p:nvSpPr>
          <p:cNvPr id="26" name="Shape 24"/>
          <p:cNvSpPr/>
          <p:nvPr/>
        </p:nvSpPr>
        <p:spPr>
          <a:xfrm>
            <a:off x="548640" y="5833872"/>
            <a:ext cx="2468880" cy="365760"/>
          </a:xfrm>
          <a:prstGeom prst="roundRect">
            <a:avLst>
              <a:gd name="adj" fmla="val 50000"/>
            </a:avLst>
          </a:prstGeom>
          <a:solidFill>
            <a:srgbClr val="FFFFFF"/>
          </a:solidFill>
          <a:ln w="15875">
            <a:solidFill>
              <a:srgbClr val="E8590C"/>
            </a:solidFill>
            <a:prstDash val="solid"/>
          </a:ln>
        </p:spPr>
      </p:sp>
      <p:pic>
        <p:nvPicPr>
          <p:cNvPr id="27" name="Image 0" descr="Check"/>
          <p:cNvPicPr>
            <a:picLocks noChangeAspect="1"/>
          </p:cNvPicPr>
          <p:nvPr/>
        </p:nvPicPr>
        <p:blipFill>
          <a:blip r:embed="rId3"/>
          <a:stretch>
            <a:fillRect/>
          </a:stretch>
        </p:blipFill>
        <p:spPr>
          <a:xfrm>
            <a:off x="685800" y="5925312"/>
            <a:ext cx="182880" cy="182880"/>
          </a:xfrm>
          <a:prstGeom prst="rect">
            <a:avLst/>
          </a:prstGeom>
        </p:spPr>
      </p:pic>
      <p:sp>
        <p:nvSpPr>
          <p:cNvPr id="28" name="Text 25"/>
          <p:cNvSpPr txBox="1"/>
          <p:nvPr/>
        </p:nvSpPr>
        <p:spPr>
          <a:xfrm>
            <a:off x="960120" y="5833872"/>
            <a:ext cx="2011680" cy="365760"/>
          </a:xfrm>
          <a:prstGeom prst="rect">
            <a:avLst/>
          </a:prstGeom>
          <a:noFill/>
          <a:ln/>
        </p:spPr>
        <p:txBody>
          <a:bodyPr wrap="square" lIns="0" tIns="0" rIns="0" bIns="0" rtlCol="0" anchor="ctr"/>
          <a:lstStyle/>
          <a:p>
            <a:pPr marL="0" indent="0">
              <a:buNone/>
            </a:pPr>
            <a:r>
              <a:rPr lang="en-US" sz="1400" b="1" dirty="0">
                <a:solidFill>
                  <a:schemeClr val="accent1"/>
                </a:solidFill>
              </a:rPr>
              <a:t>Configured in days</a:t>
            </a:r>
            <a:endParaRPr lang="en-US" sz="1400" dirty="0"/>
          </a:p>
        </p:txBody>
      </p:sp>
      <p:sp>
        <p:nvSpPr>
          <p:cNvPr id="29" name="Shape 26"/>
          <p:cNvSpPr/>
          <p:nvPr/>
        </p:nvSpPr>
        <p:spPr>
          <a:xfrm>
            <a:off x="3200400" y="5833872"/>
            <a:ext cx="3383280" cy="365760"/>
          </a:xfrm>
          <a:prstGeom prst="roundRect">
            <a:avLst>
              <a:gd name="adj" fmla="val 50000"/>
            </a:avLst>
          </a:prstGeom>
          <a:solidFill>
            <a:srgbClr val="FFFFFF"/>
          </a:solidFill>
          <a:ln w="15875">
            <a:solidFill>
              <a:srgbClr val="E8590C"/>
            </a:solidFill>
            <a:prstDash val="solid"/>
          </a:ln>
        </p:spPr>
      </p:sp>
      <p:pic>
        <p:nvPicPr>
          <p:cNvPr id="30" name="Image 1" descr="Check"/>
          <p:cNvPicPr>
            <a:picLocks noChangeAspect="1"/>
          </p:cNvPicPr>
          <p:nvPr/>
        </p:nvPicPr>
        <p:blipFill>
          <a:blip r:embed="rId3"/>
          <a:stretch>
            <a:fillRect/>
          </a:stretch>
        </p:blipFill>
        <p:spPr>
          <a:xfrm>
            <a:off x="3337560" y="5925312"/>
            <a:ext cx="182880" cy="182880"/>
          </a:xfrm>
          <a:prstGeom prst="rect">
            <a:avLst/>
          </a:prstGeom>
        </p:spPr>
      </p:pic>
      <p:sp>
        <p:nvSpPr>
          <p:cNvPr id="31" name="Text 27"/>
          <p:cNvSpPr txBox="1"/>
          <p:nvPr/>
        </p:nvSpPr>
        <p:spPr>
          <a:xfrm>
            <a:off x="3611880" y="5833872"/>
            <a:ext cx="2926080" cy="365760"/>
          </a:xfrm>
          <a:prstGeom prst="rect">
            <a:avLst/>
          </a:prstGeom>
          <a:noFill/>
          <a:ln/>
        </p:spPr>
        <p:txBody>
          <a:bodyPr wrap="square" lIns="0" tIns="0" rIns="0" bIns="0" rtlCol="0" anchor="ctr"/>
          <a:lstStyle/>
          <a:p>
            <a:pPr marL="0" indent="0">
              <a:buNone/>
            </a:pPr>
            <a:r>
              <a:rPr lang="en-US" sz="1400" b="1" dirty="0">
                <a:solidFill>
                  <a:schemeClr val="accent1"/>
                </a:solidFill>
              </a:rPr>
              <a:t>Private: your cloud, your rules</a:t>
            </a:r>
            <a:endParaRPr lang="en-US" sz="1400" dirty="0"/>
          </a:p>
        </p:txBody>
      </p:sp>
      <p:sp>
        <p:nvSpPr>
          <p:cNvPr id="32" name="Shape 28"/>
          <p:cNvSpPr/>
          <p:nvPr/>
        </p:nvSpPr>
        <p:spPr>
          <a:xfrm>
            <a:off x="6766560" y="5833872"/>
            <a:ext cx="2743200" cy="365760"/>
          </a:xfrm>
          <a:prstGeom prst="roundRect">
            <a:avLst>
              <a:gd name="adj" fmla="val 50000"/>
            </a:avLst>
          </a:prstGeom>
          <a:solidFill>
            <a:srgbClr val="FFFFFF"/>
          </a:solidFill>
          <a:ln w="15875">
            <a:solidFill>
              <a:srgbClr val="E8590C"/>
            </a:solidFill>
            <a:prstDash val="solid"/>
          </a:ln>
        </p:spPr>
      </p:sp>
      <p:pic>
        <p:nvPicPr>
          <p:cNvPr id="33" name="Image 2" descr="Check"/>
          <p:cNvPicPr>
            <a:picLocks noChangeAspect="1"/>
          </p:cNvPicPr>
          <p:nvPr/>
        </p:nvPicPr>
        <p:blipFill>
          <a:blip r:embed="rId3"/>
          <a:stretch>
            <a:fillRect/>
          </a:stretch>
        </p:blipFill>
        <p:spPr>
          <a:xfrm>
            <a:off x="6903720" y="5925312"/>
            <a:ext cx="182880" cy="182880"/>
          </a:xfrm>
          <a:prstGeom prst="rect">
            <a:avLst/>
          </a:prstGeom>
        </p:spPr>
      </p:pic>
      <p:sp>
        <p:nvSpPr>
          <p:cNvPr id="34" name="Text 29"/>
          <p:cNvSpPr txBox="1"/>
          <p:nvPr/>
        </p:nvSpPr>
        <p:spPr>
          <a:xfrm>
            <a:off x="7178040" y="5833872"/>
            <a:ext cx="2286000" cy="365760"/>
          </a:xfrm>
          <a:prstGeom prst="rect">
            <a:avLst/>
          </a:prstGeom>
          <a:noFill/>
          <a:ln/>
        </p:spPr>
        <p:txBody>
          <a:bodyPr wrap="square" lIns="0" tIns="0" rIns="0" bIns="0" rtlCol="0" anchor="ctr"/>
          <a:lstStyle/>
          <a:p>
            <a:pPr marL="0" indent="0">
              <a:buNone/>
            </a:pPr>
            <a:r>
              <a:rPr lang="en-US" sz="1400" b="1" dirty="0">
                <a:solidFill>
                  <a:schemeClr val="accent1"/>
                </a:solidFill>
              </a:rPr>
              <a:t>Agents draft, you decide</a:t>
            </a:r>
            <a:endParaRPr lang="en-US" sz="1400" dirty="0"/>
          </a:p>
        </p:txBody>
      </p:sp>
      <p:sp>
        <p:nvSpPr>
          <p:cNvPr id="3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402336"/>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HOW YOU GET IT</a:t>
            </a:r>
            <a:endParaRPr lang="en-US" sz="1200" dirty="0"/>
          </a:p>
        </p:txBody>
      </p:sp>
      <p:sp>
        <p:nvSpPr>
          <p:cNvPr id="3" name="Text 0"/>
          <p:cNvSpPr>
            <a:spLocks noGrp="1"/>
          </p:cNvSpPr>
          <p:nvPr>
            <p:ph type="title" idx="100" hasCustomPrompt="1"/>
          </p:nvPr>
        </p:nvSpPr>
        <p:spPr>
          <a:xfrm>
            <a:off x="548640" y="749808"/>
            <a:ext cx="10241280" cy="1097280"/>
          </a:xfrm>
          <a:prstGeom prst="rect">
            <a:avLst/>
          </a:prstGeom>
          <a:noFill/>
          <a:ln/>
        </p:spPr>
        <p:txBody>
          <a:bodyPr wrap="square" lIns="0" tIns="0" rIns="0" bIns="0" rtlCol="0" anchor="t"/>
          <a:lstStyle/>
          <a:p>
            <a:pPr marL="0" indent="0" algn="l">
              <a:buNone/>
            </a:pPr>
            <a:r>
              <a:rPr lang="en-US" sz="3200" dirty="0">
                <a:solidFill>
                  <a:schemeClr val="tx1"/>
                </a:solidFill>
              </a:rPr>
              <a:t>Private by design: three ways to run it</a:t>
            </a:r>
            <a:endParaRPr lang="en-US" sz="3200" dirty="0"/>
          </a:p>
        </p:txBody>
      </p:sp>
      <p:sp>
        <p:nvSpPr>
          <p:cNvPr id="4" name="Option 1"/>
          <p:cNvSpPr/>
          <p:nvPr/>
        </p:nvSpPr>
        <p:spPr>
          <a:xfrm>
            <a:off x="548640" y="1920240"/>
            <a:ext cx="3520440" cy="3794760"/>
          </a:xfrm>
          <a:prstGeom prst="roundRect">
            <a:avLst>
              <a:gd name="adj" fmla="val 2078"/>
            </a:avLst>
          </a:prstGeom>
          <a:solidFill>
            <a:srgbClr val="F2EFE9"/>
          </a:solidFill>
          <a:ln/>
        </p:spPr>
      </p:sp>
      <p:sp>
        <p:nvSpPr>
          <p:cNvPr id="5" name="Icon disc"/>
          <p:cNvSpPr/>
          <p:nvPr/>
        </p:nvSpPr>
        <p:spPr>
          <a:xfrm>
            <a:off x="822960" y="2148840"/>
            <a:ext cx="548640" cy="548640"/>
          </a:xfrm>
          <a:prstGeom prst="ellipse">
            <a:avLst/>
          </a:prstGeom>
          <a:solidFill>
            <a:schemeClr val="accent1"/>
          </a:solidFill>
          <a:ln/>
        </p:spPr>
      </p:sp>
      <p:pic>
        <p:nvPicPr>
          <p:cNvPr id="6" name="Image 0" descr="Handshake icon"/>
          <p:cNvPicPr>
            <a:picLocks noChangeAspect="1"/>
          </p:cNvPicPr>
          <p:nvPr/>
        </p:nvPicPr>
        <p:blipFill>
          <a:blip r:embed="rId3"/>
          <a:stretch>
            <a:fillRect/>
          </a:stretch>
        </p:blipFill>
        <p:spPr>
          <a:xfrm>
            <a:off x="954634" y="2280514"/>
            <a:ext cx="285293" cy="285293"/>
          </a:xfrm>
          <a:prstGeom prst="rect">
            <a:avLst/>
          </a:prstGeom>
        </p:spPr>
      </p:pic>
      <p:sp>
        <p:nvSpPr>
          <p:cNvPr id="7" name="Text 4"/>
          <p:cNvSpPr txBox="1"/>
          <p:nvPr/>
        </p:nvSpPr>
        <p:spPr>
          <a:xfrm>
            <a:off x="1508760" y="2148840"/>
            <a:ext cx="242316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MANAGED BY ARINOX AI</a:t>
            </a:r>
            <a:endParaRPr lang="en-US" sz="1100" dirty="0"/>
          </a:p>
        </p:txBody>
      </p:sp>
      <p:sp>
        <p:nvSpPr>
          <p:cNvPr id="8" name="Text 5"/>
          <p:cNvSpPr txBox="1"/>
          <p:nvPr/>
        </p:nvSpPr>
        <p:spPr>
          <a:xfrm>
            <a:off x="1508760" y="2395728"/>
            <a:ext cx="2423160" cy="320040"/>
          </a:xfrm>
          <a:prstGeom prst="rect">
            <a:avLst/>
          </a:prstGeom>
          <a:noFill/>
          <a:ln/>
        </p:spPr>
        <p:txBody>
          <a:bodyPr wrap="square" lIns="0" tIns="0" rIns="0" bIns="0" rtlCol="0" anchor="t"/>
          <a:lstStyle/>
          <a:p>
            <a:pPr marL="0" indent="0">
              <a:buNone/>
            </a:pPr>
            <a:r>
              <a:rPr lang="en-US" sz="1800" dirty="0">
                <a:solidFill>
                  <a:schemeClr val="tx1"/>
                </a:solidFill>
                <a:latin typeface="+mj-lt" pitchFamily="34" charset="0"/>
                <a:ea typeface="+mj-lt" pitchFamily="34" charset="-122"/>
                <a:cs typeface="+mj-lt" pitchFamily="34" charset="-120"/>
              </a:rPr>
              <a:t>We run it for you</a:t>
            </a:r>
            <a:endParaRPr lang="en-US" sz="1800" dirty="0"/>
          </a:p>
        </p:txBody>
      </p:sp>
      <p:sp>
        <p:nvSpPr>
          <p:cNvPr id="9" name="Text 6"/>
          <p:cNvSpPr txBox="1"/>
          <p:nvPr/>
        </p:nvSpPr>
        <p:spPr>
          <a:xfrm>
            <a:off x="822960" y="3017520"/>
            <a:ext cx="297180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YOU GET</a:t>
            </a:r>
            <a:endParaRPr lang="en-US" sz="1100" dirty="0"/>
          </a:p>
        </p:txBody>
      </p:sp>
      <p:sp>
        <p:nvSpPr>
          <p:cNvPr id="10" name="Text 7"/>
          <p:cNvSpPr txBox="1"/>
          <p:nvPr/>
        </p:nvSpPr>
        <p:spPr>
          <a:xfrm>
            <a:off x="822960" y="3255264"/>
            <a:ext cx="2971800" cy="502920"/>
          </a:xfrm>
          <a:prstGeom prst="rect">
            <a:avLst/>
          </a:prstGeom>
          <a:noFill/>
          <a:ln/>
        </p:spPr>
        <p:txBody>
          <a:bodyPr wrap="square" lIns="0" tIns="0" rIns="0" bIns="0" rtlCol="0" anchor="t"/>
          <a:lstStyle/>
          <a:p>
            <a:pPr marL="0" indent="0">
              <a:buNone/>
            </a:pPr>
            <a:r>
              <a:rPr lang="en-US" sz="1500" dirty="0">
                <a:solidFill>
                  <a:schemeClr val="tx1"/>
                </a:solidFill>
              </a:rPr>
              <a:t>Ready to use, on a subscription</a:t>
            </a:r>
            <a:endParaRPr lang="en-US" sz="1500" dirty="0"/>
          </a:p>
        </p:txBody>
      </p:sp>
      <p:sp>
        <p:nvSpPr>
          <p:cNvPr id="11" name="Text 8"/>
          <p:cNvSpPr txBox="1"/>
          <p:nvPr/>
        </p:nvSpPr>
        <p:spPr>
          <a:xfrm>
            <a:off x="822960" y="3913632"/>
            <a:ext cx="297180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WHO RUNS IT</a:t>
            </a:r>
            <a:endParaRPr lang="en-US" sz="1100" dirty="0"/>
          </a:p>
        </p:txBody>
      </p:sp>
      <p:sp>
        <p:nvSpPr>
          <p:cNvPr id="12" name="Text 9"/>
          <p:cNvSpPr txBox="1"/>
          <p:nvPr/>
        </p:nvSpPr>
        <p:spPr>
          <a:xfrm>
            <a:off x="822960" y="4151376"/>
            <a:ext cx="2971800" cy="502920"/>
          </a:xfrm>
          <a:prstGeom prst="rect">
            <a:avLst/>
          </a:prstGeom>
          <a:noFill/>
          <a:ln/>
        </p:spPr>
        <p:txBody>
          <a:bodyPr wrap="square" lIns="0" tIns="0" rIns="0" bIns="0" rtlCol="0" anchor="t"/>
          <a:lstStyle/>
          <a:p>
            <a:pPr marL="0" indent="0">
              <a:buNone/>
            </a:pPr>
            <a:r>
              <a:rPr lang="en-US" sz="1500" dirty="0">
                <a:solidFill>
                  <a:schemeClr val="tx1"/>
                </a:solidFill>
              </a:rPr>
              <a:t>Arinox AI runs the loop and the platform</a:t>
            </a:r>
            <a:endParaRPr lang="en-US" sz="1500" dirty="0"/>
          </a:p>
        </p:txBody>
      </p:sp>
      <p:sp>
        <p:nvSpPr>
          <p:cNvPr id="13" name="Text 10"/>
          <p:cNvSpPr txBox="1"/>
          <p:nvPr/>
        </p:nvSpPr>
        <p:spPr>
          <a:xfrm>
            <a:off x="822960" y="4809744"/>
            <a:ext cx="297180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BEST WHEN</a:t>
            </a:r>
            <a:endParaRPr lang="en-US" sz="1100" dirty="0"/>
          </a:p>
        </p:txBody>
      </p:sp>
      <p:sp>
        <p:nvSpPr>
          <p:cNvPr id="14" name="Text 11"/>
          <p:cNvSpPr txBox="1"/>
          <p:nvPr/>
        </p:nvSpPr>
        <p:spPr>
          <a:xfrm>
            <a:off x="822960" y="5047488"/>
            <a:ext cx="2971800" cy="502920"/>
          </a:xfrm>
          <a:prstGeom prst="rect">
            <a:avLst/>
          </a:prstGeom>
          <a:noFill/>
          <a:ln/>
        </p:spPr>
        <p:txBody>
          <a:bodyPr wrap="square" lIns="0" tIns="0" rIns="0" bIns="0" rtlCol="0" anchor="t"/>
          <a:lstStyle/>
          <a:p>
            <a:pPr marL="0" indent="0">
              <a:buNone/>
            </a:pPr>
            <a:r>
              <a:rPr lang="en-US" sz="1500" dirty="0">
                <a:solidFill>
                  <a:schemeClr val="tx1"/>
                </a:solidFill>
              </a:rPr>
              <a:t>You want results with little IT effort</a:t>
            </a:r>
            <a:endParaRPr lang="en-US" sz="1500" dirty="0"/>
          </a:p>
        </p:txBody>
      </p:sp>
      <p:sp>
        <p:nvSpPr>
          <p:cNvPr id="15" name="Option 2"/>
          <p:cNvSpPr/>
          <p:nvPr/>
        </p:nvSpPr>
        <p:spPr>
          <a:xfrm>
            <a:off x="4335628" y="1920240"/>
            <a:ext cx="3520440" cy="3794760"/>
          </a:xfrm>
          <a:prstGeom prst="roundRect">
            <a:avLst>
              <a:gd name="adj" fmla="val 2078"/>
            </a:avLst>
          </a:prstGeom>
          <a:solidFill>
            <a:srgbClr val="F2EFE9"/>
          </a:solidFill>
          <a:ln/>
        </p:spPr>
      </p:sp>
      <p:sp>
        <p:nvSpPr>
          <p:cNvPr id="16" name="Icon disc"/>
          <p:cNvSpPr/>
          <p:nvPr/>
        </p:nvSpPr>
        <p:spPr>
          <a:xfrm>
            <a:off x="4609948" y="2148840"/>
            <a:ext cx="548640" cy="548640"/>
          </a:xfrm>
          <a:prstGeom prst="ellipse">
            <a:avLst/>
          </a:prstGeom>
          <a:solidFill>
            <a:schemeClr val="accent1"/>
          </a:solidFill>
          <a:ln/>
        </p:spPr>
      </p:sp>
      <p:pic>
        <p:nvPicPr>
          <p:cNvPr id="17" name="Image 1" descr="Cloud icon"/>
          <p:cNvPicPr>
            <a:picLocks noChangeAspect="1"/>
          </p:cNvPicPr>
          <p:nvPr/>
        </p:nvPicPr>
        <p:blipFill>
          <a:blip r:embed="rId4"/>
          <a:stretch>
            <a:fillRect/>
          </a:stretch>
        </p:blipFill>
        <p:spPr>
          <a:xfrm>
            <a:off x="4741621" y="2280514"/>
            <a:ext cx="285293" cy="285293"/>
          </a:xfrm>
          <a:prstGeom prst="rect">
            <a:avLst/>
          </a:prstGeom>
        </p:spPr>
      </p:pic>
      <p:sp>
        <p:nvSpPr>
          <p:cNvPr id="18" name="Text 14"/>
          <p:cNvSpPr txBox="1"/>
          <p:nvPr/>
        </p:nvSpPr>
        <p:spPr>
          <a:xfrm>
            <a:off x="5295748" y="2148840"/>
            <a:ext cx="242316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IN YOUR CLOUD</a:t>
            </a:r>
            <a:endParaRPr lang="en-US" sz="1100" dirty="0"/>
          </a:p>
        </p:txBody>
      </p:sp>
      <p:sp>
        <p:nvSpPr>
          <p:cNvPr id="19" name="Text 15"/>
          <p:cNvSpPr txBox="1"/>
          <p:nvPr/>
        </p:nvSpPr>
        <p:spPr>
          <a:xfrm>
            <a:off x="5295748" y="2395728"/>
            <a:ext cx="2423160" cy="320040"/>
          </a:xfrm>
          <a:prstGeom prst="rect">
            <a:avLst/>
          </a:prstGeom>
          <a:noFill/>
          <a:ln/>
        </p:spPr>
        <p:txBody>
          <a:bodyPr wrap="square" lIns="0" tIns="0" rIns="0" bIns="0" rtlCol="0" anchor="t"/>
          <a:lstStyle/>
          <a:p>
            <a:pPr marL="0" indent="0">
              <a:buNone/>
            </a:pPr>
            <a:r>
              <a:rPr lang="en-US" sz="1800" dirty="0">
                <a:solidFill>
                  <a:schemeClr val="tx1"/>
                </a:solidFill>
                <a:latin typeface="+mj-lt" pitchFamily="34" charset="0"/>
                <a:ea typeface="+mj-lt" pitchFamily="34" charset="-122"/>
                <a:cs typeface="+mj-lt" pitchFamily="34" charset="-120"/>
              </a:rPr>
              <a:t>It runs in your cloud</a:t>
            </a:r>
            <a:endParaRPr lang="en-US" sz="1800" dirty="0"/>
          </a:p>
        </p:txBody>
      </p:sp>
      <p:sp>
        <p:nvSpPr>
          <p:cNvPr id="20" name="Text 16"/>
          <p:cNvSpPr txBox="1"/>
          <p:nvPr/>
        </p:nvSpPr>
        <p:spPr>
          <a:xfrm>
            <a:off x="4609948" y="3017520"/>
            <a:ext cx="297180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YOU GET</a:t>
            </a:r>
            <a:endParaRPr lang="en-US" sz="1100" dirty="0"/>
          </a:p>
        </p:txBody>
      </p:sp>
      <p:sp>
        <p:nvSpPr>
          <p:cNvPr id="21" name="Text 17"/>
          <p:cNvSpPr txBox="1"/>
          <p:nvPr/>
        </p:nvSpPr>
        <p:spPr>
          <a:xfrm>
            <a:off x="4609948" y="3255264"/>
            <a:ext cx="2971800" cy="502920"/>
          </a:xfrm>
          <a:prstGeom prst="rect">
            <a:avLst/>
          </a:prstGeom>
          <a:noFill/>
          <a:ln/>
        </p:spPr>
        <p:txBody>
          <a:bodyPr wrap="square" lIns="0" tIns="0" rIns="0" bIns="0" rtlCol="0" anchor="t"/>
          <a:lstStyle/>
          <a:p>
            <a:pPr marL="0" indent="0">
              <a:buNone/>
            </a:pPr>
            <a:r>
              <a:rPr lang="en-US" sz="1500" dirty="0">
                <a:solidFill>
                  <a:schemeClr val="tx1"/>
                </a:solidFill>
              </a:rPr>
              <a:t>Marketing OS inside your private cloud (VPC)</a:t>
            </a:r>
            <a:endParaRPr lang="en-US" sz="1500" dirty="0"/>
          </a:p>
        </p:txBody>
      </p:sp>
      <p:sp>
        <p:nvSpPr>
          <p:cNvPr id="22" name="Text 18"/>
          <p:cNvSpPr txBox="1"/>
          <p:nvPr/>
        </p:nvSpPr>
        <p:spPr>
          <a:xfrm>
            <a:off x="4609948" y="3913632"/>
            <a:ext cx="297180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WHO RUNS IT</a:t>
            </a:r>
            <a:endParaRPr lang="en-US" sz="1100" dirty="0"/>
          </a:p>
        </p:txBody>
      </p:sp>
      <p:sp>
        <p:nvSpPr>
          <p:cNvPr id="23" name="Text 19"/>
          <p:cNvSpPr txBox="1"/>
          <p:nvPr/>
        </p:nvSpPr>
        <p:spPr>
          <a:xfrm>
            <a:off x="4609948" y="4151376"/>
            <a:ext cx="2971800" cy="502920"/>
          </a:xfrm>
          <a:prstGeom prst="rect">
            <a:avLst/>
          </a:prstGeom>
          <a:noFill/>
          <a:ln/>
        </p:spPr>
        <p:txBody>
          <a:bodyPr wrap="square" lIns="0" tIns="0" rIns="0" bIns="0" rtlCol="0" anchor="t"/>
          <a:lstStyle/>
          <a:p>
            <a:pPr marL="0" indent="0">
              <a:buNone/>
            </a:pPr>
            <a:r>
              <a:rPr lang="en-US" sz="1500" dirty="0">
                <a:solidFill>
                  <a:schemeClr val="tx1"/>
                </a:solidFill>
              </a:rPr>
              <a:t>Your IT team, with Arinox AI support</a:t>
            </a:r>
            <a:endParaRPr lang="en-US" sz="1500" dirty="0"/>
          </a:p>
        </p:txBody>
      </p:sp>
      <p:sp>
        <p:nvSpPr>
          <p:cNvPr id="24" name="Text 20"/>
          <p:cNvSpPr txBox="1"/>
          <p:nvPr/>
        </p:nvSpPr>
        <p:spPr>
          <a:xfrm>
            <a:off x="4609948" y="4809744"/>
            <a:ext cx="297180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BEST WHEN</a:t>
            </a:r>
            <a:endParaRPr lang="en-US" sz="1100" dirty="0"/>
          </a:p>
        </p:txBody>
      </p:sp>
      <p:sp>
        <p:nvSpPr>
          <p:cNvPr id="25" name="Text 21"/>
          <p:cNvSpPr txBox="1"/>
          <p:nvPr/>
        </p:nvSpPr>
        <p:spPr>
          <a:xfrm>
            <a:off x="4609948" y="5047488"/>
            <a:ext cx="2971800" cy="502920"/>
          </a:xfrm>
          <a:prstGeom prst="rect">
            <a:avLst/>
          </a:prstGeom>
          <a:noFill/>
          <a:ln/>
        </p:spPr>
        <p:txBody>
          <a:bodyPr wrap="square" lIns="0" tIns="0" rIns="0" bIns="0" rtlCol="0" anchor="t"/>
          <a:lstStyle/>
          <a:p>
            <a:pPr marL="0" indent="0">
              <a:buNone/>
            </a:pPr>
            <a:r>
              <a:rPr lang="en-US" sz="1500" dirty="0">
                <a:solidFill>
                  <a:schemeClr val="tx1"/>
                </a:solidFill>
              </a:rPr>
              <a:t>You have data residency and control needs</a:t>
            </a:r>
            <a:endParaRPr lang="en-US" sz="1500" dirty="0"/>
          </a:p>
        </p:txBody>
      </p:sp>
      <p:sp>
        <p:nvSpPr>
          <p:cNvPr id="26" name="Option 3"/>
          <p:cNvSpPr/>
          <p:nvPr/>
        </p:nvSpPr>
        <p:spPr>
          <a:xfrm>
            <a:off x="8122615" y="1920240"/>
            <a:ext cx="3520440" cy="3794760"/>
          </a:xfrm>
          <a:prstGeom prst="roundRect">
            <a:avLst>
              <a:gd name="adj" fmla="val 2078"/>
            </a:avLst>
          </a:prstGeom>
          <a:solidFill>
            <a:srgbClr val="F2EFE9"/>
          </a:solidFill>
          <a:ln/>
        </p:spPr>
      </p:sp>
      <p:sp>
        <p:nvSpPr>
          <p:cNvPr id="27" name="Icon disc"/>
          <p:cNvSpPr/>
          <p:nvPr/>
        </p:nvSpPr>
        <p:spPr>
          <a:xfrm>
            <a:off x="8396935" y="2148840"/>
            <a:ext cx="548640" cy="548640"/>
          </a:xfrm>
          <a:prstGeom prst="ellipse">
            <a:avLst/>
          </a:prstGeom>
          <a:solidFill>
            <a:schemeClr val="accent1"/>
          </a:solidFill>
          <a:ln/>
        </p:spPr>
      </p:sp>
      <p:pic>
        <p:nvPicPr>
          <p:cNvPr id="28" name="Image 2" descr="Server icon"/>
          <p:cNvPicPr>
            <a:picLocks noChangeAspect="1"/>
          </p:cNvPicPr>
          <p:nvPr/>
        </p:nvPicPr>
        <p:blipFill>
          <a:blip r:embed="rId5"/>
          <a:stretch>
            <a:fillRect/>
          </a:stretch>
        </p:blipFill>
        <p:spPr>
          <a:xfrm>
            <a:off x="8528609" y="2280514"/>
            <a:ext cx="285293" cy="285293"/>
          </a:xfrm>
          <a:prstGeom prst="rect">
            <a:avLst/>
          </a:prstGeom>
        </p:spPr>
      </p:pic>
      <p:sp>
        <p:nvSpPr>
          <p:cNvPr id="29" name="Text 24"/>
          <p:cNvSpPr txBox="1"/>
          <p:nvPr/>
        </p:nvSpPr>
        <p:spPr>
          <a:xfrm>
            <a:off x="9082735" y="2148840"/>
            <a:ext cx="2423160" cy="228600"/>
          </a:xfrm>
          <a:prstGeom prst="rect">
            <a:avLst/>
          </a:prstGeom>
          <a:noFill/>
          <a:ln/>
        </p:spPr>
        <p:txBody>
          <a:bodyPr wrap="square" lIns="0" tIns="0" rIns="0" bIns="0" rtlCol="0" anchor="t"/>
          <a:lstStyle/>
          <a:p>
            <a:pPr marL="0" indent="0">
              <a:buNone/>
            </a:pPr>
            <a:r>
              <a:rPr lang="en-US" sz="1100" b="1" kern="0" spc="200" dirty="0">
                <a:solidFill>
                  <a:schemeClr val="accent1"/>
                </a:solidFill>
              </a:rPr>
              <a:t>ON-PREM</a:t>
            </a:r>
            <a:endParaRPr lang="en-US" sz="1100" dirty="0"/>
          </a:p>
        </p:txBody>
      </p:sp>
      <p:sp>
        <p:nvSpPr>
          <p:cNvPr id="30" name="Text 25"/>
          <p:cNvSpPr txBox="1"/>
          <p:nvPr/>
        </p:nvSpPr>
        <p:spPr>
          <a:xfrm>
            <a:off x="9082735" y="2395728"/>
            <a:ext cx="2423160" cy="320040"/>
          </a:xfrm>
          <a:prstGeom prst="rect">
            <a:avLst/>
          </a:prstGeom>
          <a:noFill/>
          <a:ln/>
        </p:spPr>
        <p:txBody>
          <a:bodyPr wrap="square" lIns="0" tIns="0" rIns="0" bIns="0" rtlCol="0" anchor="t"/>
          <a:lstStyle/>
          <a:p>
            <a:pPr marL="0" indent="0">
              <a:buNone/>
            </a:pPr>
            <a:r>
              <a:rPr lang="en-US" sz="1800" dirty="0">
                <a:solidFill>
                  <a:schemeClr val="tx1"/>
                </a:solidFill>
                <a:latin typeface="+mj-lt" pitchFamily="34" charset="0"/>
                <a:ea typeface="+mj-lt" pitchFamily="34" charset="-122"/>
                <a:cs typeface="+mj-lt" pitchFamily="34" charset="-120"/>
              </a:rPr>
              <a:t>It runs in-house</a:t>
            </a:r>
            <a:endParaRPr lang="en-US" sz="1800" dirty="0"/>
          </a:p>
        </p:txBody>
      </p:sp>
      <p:sp>
        <p:nvSpPr>
          <p:cNvPr id="31" name="Text 26"/>
          <p:cNvSpPr txBox="1"/>
          <p:nvPr/>
        </p:nvSpPr>
        <p:spPr>
          <a:xfrm>
            <a:off x="8396935" y="3017520"/>
            <a:ext cx="297180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YOU GET</a:t>
            </a:r>
            <a:endParaRPr lang="en-US" sz="1100" dirty="0"/>
          </a:p>
        </p:txBody>
      </p:sp>
      <p:sp>
        <p:nvSpPr>
          <p:cNvPr id="32" name="Text 27"/>
          <p:cNvSpPr txBox="1"/>
          <p:nvPr/>
        </p:nvSpPr>
        <p:spPr>
          <a:xfrm>
            <a:off x="8396935" y="3255264"/>
            <a:ext cx="2971800" cy="502920"/>
          </a:xfrm>
          <a:prstGeom prst="rect">
            <a:avLst/>
          </a:prstGeom>
          <a:noFill/>
          <a:ln/>
        </p:spPr>
        <p:txBody>
          <a:bodyPr wrap="square" lIns="0" tIns="0" rIns="0" bIns="0" rtlCol="0" anchor="t"/>
          <a:lstStyle/>
          <a:p>
            <a:pPr marL="0" indent="0">
              <a:buNone/>
            </a:pPr>
            <a:r>
              <a:rPr lang="en-US" sz="1500" dirty="0">
                <a:solidFill>
                  <a:schemeClr val="tx1"/>
                </a:solidFill>
              </a:rPr>
              <a:t>Deployed on your own infrastructure</a:t>
            </a:r>
            <a:endParaRPr lang="en-US" sz="1500" dirty="0"/>
          </a:p>
        </p:txBody>
      </p:sp>
      <p:sp>
        <p:nvSpPr>
          <p:cNvPr id="33" name="Text 28"/>
          <p:cNvSpPr txBox="1"/>
          <p:nvPr/>
        </p:nvSpPr>
        <p:spPr>
          <a:xfrm>
            <a:off x="8396935" y="3913632"/>
            <a:ext cx="297180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WHO RUNS IT</a:t>
            </a:r>
            <a:endParaRPr lang="en-US" sz="1100" dirty="0"/>
          </a:p>
        </p:txBody>
      </p:sp>
      <p:sp>
        <p:nvSpPr>
          <p:cNvPr id="34" name="Text 29"/>
          <p:cNvSpPr txBox="1"/>
          <p:nvPr/>
        </p:nvSpPr>
        <p:spPr>
          <a:xfrm>
            <a:off x="8396935" y="4151376"/>
            <a:ext cx="2971800" cy="502920"/>
          </a:xfrm>
          <a:prstGeom prst="rect">
            <a:avLst/>
          </a:prstGeom>
          <a:noFill/>
          <a:ln/>
        </p:spPr>
        <p:txBody>
          <a:bodyPr wrap="square" lIns="0" tIns="0" rIns="0" bIns="0" rtlCol="0" anchor="t"/>
          <a:lstStyle/>
          <a:p>
            <a:pPr marL="0" indent="0">
              <a:buNone/>
            </a:pPr>
            <a:r>
              <a:rPr lang="en-US" sz="1500" dirty="0">
                <a:solidFill>
                  <a:schemeClr val="tx1"/>
                </a:solidFill>
              </a:rPr>
              <a:t>Your team runs it</a:t>
            </a:r>
            <a:endParaRPr lang="en-US" sz="1500" dirty="0"/>
          </a:p>
        </p:txBody>
      </p:sp>
      <p:sp>
        <p:nvSpPr>
          <p:cNvPr id="35" name="Text 30"/>
          <p:cNvSpPr txBox="1"/>
          <p:nvPr/>
        </p:nvSpPr>
        <p:spPr>
          <a:xfrm>
            <a:off x="8396935" y="4809744"/>
            <a:ext cx="2971800" cy="201168"/>
          </a:xfrm>
          <a:prstGeom prst="rect">
            <a:avLst/>
          </a:prstGeom>
          <a:noFill/>
          <a:ln/>
        </p:spPr>
        <p:txBody>
          <a:bodyPr wrap="square" lIns="0" tIns="0" rIns="0" bIns="0" rtlCol="0" anchor="t"/>
          <a:lstStyle/>
          <a:p>
            <a:pPr marL="0" indent="0">
              <a:buNone/>
            </a:pPr>
            <a:r>
              <a:rPr lang="en-US" sz="1100" b="1" kern="0" spc="200" dirty="0">
                <a:solidFill>
                  <a:schemeClr val="accent4"/>
                </a:solidFill>
              </a:rPr>
              <a:t>BEST WHEN</a:t>
            </a:r>
            <a:endParaRPr lang="en-US" sz="1100" dirty="0"/>
          </a:p>
        </p:txBody>
      </p:sp>
      <p:sp>
        <p:nvSpPr>
          <p:cNvPr id="36" name="Text 31"/>
          <p:cNvSpPr txBox="1"/>
          <p:nvPr/>
        </p:nvSpPr>
        <p:spPr>
          <a:xfrm>
            <a:off x="8396935" y="5047488"/>
            <a:ext cx="2971800" cy="502920"/>
          </a:xfrm>
          <a:prstGeom prst="rect">
            <a:avLst/>
          </a:prstGeom>
          <a:noFill/>
          <a:ln/>
        </p:spPr>
        <p:txBody>
          <a:bodyPr wrap="square" lIns="0" tIns="0" rIns="0" bIns="0" rtlCol="0" anchor="t"/>
          <a:lstStyle/>
          <a:p>
            <a:pPr marL="0" indent="0">
              <a:buNone/>
            </a:pPr>
            <a:r>
              <a:rPr lang="en-US" sz="1500" dirty="0">
                <a:solidFill>
                  <a:schemeClr val="tx1"/>
                </a:solidFill>
              </a:rPr>
              <a:t>Your data has to stay inside</a:t>
            </a:r>
            <a:endParaRPr lang="en-US" sz="1500" dirty="0"/>
          </a:p>
        </p:txBody>
      </p:sp>
      <p:sp>
        <p:nvSpPr>
          <p:cNvPr id="37" name="Same controls"/>
          <p:cNvSpPr/>
          <p:nvPr/>
        </p:nvSpPr>
        <p:spPr>
          <a:xfrm>
            <a:off x="548640" y="5852160"/>
            <a:ext cx="11094415" cy="457200"/>
          </a:xfrm>
          <a:prstGeom prst="roundRect">
            <a:avLst>
              <a:gd name="adj" fmla="val 16000"/>
            </a:avLst>
          </a:prstGeom>
          <a:solidFill>
            <a:srgbClr val="1F1A12"/>
          </a:solidFill>
          <a:ln/>
        </p:spPr>
      </p:sp>
      <p:pic>
        <p:nvPicPr>
          <p:cNvPr id="38" name="Image 3" descr="Shield"/>
          <p:cNvPicPr>
            <a:picLocks noChangeAspect="1"/>
          </p:cNvPicPr>
          <p:nvPr/>
        </p:nvPicPr>
        <p:blipFill>
          <a:blip r:embed="rId6"/>
          <a:stretch>
            <a:fillRect/>
          </a:stretch>
        </p:blipFill>
        <p:spPr>
          <a:xfrm>
            <a:off x="822960" y="5943600"/>
            <a:ext cx="274320" cy="274320"/>
          </a:xfrm>
          <a:prstGeom prst="rect">
            <a:avLst/>
          </a:prstGeom>
        </p:spPr>
      </p:pic>
      <p:sp>
        <p:nvSpPr>
          <p:cNvPr id="39" name="Text 33"/>
          <p:cNvSpPr txBox="1"/>
          <p:nvPr/>
        </p:nvSpPr>
        <p:spPr>
          <a:xfrm>
            <a:off x="1280160" y="5852160"/>
            <a:ext cx="10088575" cy="457200"/>
          </a:xfrm>
          <a:prstGeom prst="rect">
            <a:avLst/>
          </a:prstGeom>
          <a:noFill/>
          <a:ln/>
        </p:spPr>
        <p:txBody>
          <a:bodyPr wrap="square" lIns="0" tIns="0" rIns="0" bIns="0" rtlCol="0" anchor="ctr"/>
          <a:lstStyle/>
          <a:p>
            <a:pPr marL="0" indent="0">
              <a:buNone/>
            </a:pPr>
            <a:r>
              <a:rPr lang="en-US" sz="1600" b="1" dirty="0">
                <a:solidFill>
                  <a:schemeClr val="bg1"/>
                </a:solidFill>
              </a:rPr>
              <a:t>In every option: the same loop, the same agents and the same controls.</a:t>
            </a:r>
            <a:endParaRPr lang="en-US" sz="1600" dirty="0"/>
          </a:p>
        </p:txBody>
      </p:sp>
      <p:sp>
        <p:nvSpPr>
          <p:cNvPr id="40"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48640" y="1417320"/>
            <a:ext cx="82296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NEXT STEP</a:t>
            </a:r>
            <a:endParaRPr lang="en-US" sz="1200" dirty="0"/>
          </a:p>
        </p:txBody>
      </p:sp>
      <p:sp>
        <p:nvSpPr>
          <p:cNvPr id="3" name="Text 0"/>
          <p:cNvSpPr>
            <a:spLocks noGrp="1"/>
          </p:cNvSpPr>
          <p:nvPr>
            <p:ph type="title" idx="100" hasCustomPrompt="1"/>
          </p:nvPr>
        </p:nvSpPr>
        <p:spPr>
          <a:xfrm>
            <a:off x="548640" y="1828800"/>
            <a:ext cx="5212080" cy="2377440"/>
          </a:xfrm>
          <a:prstGeom prst="rect">
            <a:avLst/>
          </a:prstGeom>
          <a:noFill/>
          <a:ln/>
        </p:spPr>
        <p:txBody>
          <a:bodyPr wrap="square" lIns="0" tIns="0" rIns="0" bIns="0" rtlCol="0" anchor="t"/>
          <a:lstStyle/>
          <a:p>
            <a:pPr marL="0" indent="0" algn="l">
              <a:buNone/>
            </a:pPr>
            <a:r>
              <a:rPr lang="en-US" sz="4000" dirty="0">
                <a:solidFill>
                  <a:schemeClr val="bg1"/>
                </a:solidFill>
              </a:rPr>
              <a:t>Infinite output. Finite decisions, decided early</a:t>
            </a:r>
            <a:endParaRPr lang="en-US" sz="4000" dirty="0"/>
          </a:p>
        </p:txBody>
      </p:sp>
      <p:sp>
        <p:nvSpPr>
          <p:cNvPr id="4" name="Text 2"/>
          <p:cNvSpPr txBox="1"/>
          <p:nvPr/>
        </p:nvSpPr>
        <p:spPr>
          <a:xfrm>
            <a:off x="548640" y="4434840"/>
            <a:ext cx="5120640" cy="411480"/>
          </a:xfrm>
          <a:prstGeom prst="rect">
            <a:avLst/>
          </a:prstGeom>
          <a:noFill/>
          <a:ln/>
        </p:spPr>
        <p:txBody>
          <a:bodyPr wrap="square" lIns="0" tIns="0" rIns="0" bIns="0" rtlCol="0" anchor="t"/>
          <a:lstStyle/>
          <a:p>
            <a:pPr marL="0" indent="0">
              <a:buNone/>
            </a:pPr>
            <a:r>
              <a:rPr lang="en-US" sz="2000" i="1" dirty="0">
                <a:solidFill>
                  <a:schemeClr val="accent1"/>
                </a:solidFill>
                <a:latin typeface="+mj-lt" pitchFamily="34" charset="0"/>
                <a:ea typeface="+mj-lt" pitchFamily="34" charset="-122"/>
                <a:cs typeface="+mj-lt" pitchFamily="34" charset="-120"/>
              </a:rPr>
              <a:t>Signals in. Decisions out. In a loop.</a:t>
            </a:r>
          </a:p>
          <a:p>
            <a:pPr marL="0" indent="0">
              <a:buNone/>
            </a:pPr>
            <a:endParaRPr lang="en-US" sz="2000" i="1" dirty="0">
              <a:solidFill>
                <a:schemeClr val="accent1"/>
              </a:solidFill>
              <a:latin typeface="+mj-lt" pitchFamily="34" charset="0"/>
              <a:ea typeface="+mj-lt" pitchFamily="34" charset="-122"/>
              <a:cs typeface="+mj-lt" pitchFamily="34" charset="-120"/>
            </a:endParaRPr>
          </a:p>
          <a:p>
            <a:pPr marL="0" indent="0">
              <a:buNone/>
            </a:pPr>
            <a:endParaRPr lang="en-US" sz="2000" dirty="0"/>
          </a:p>
        </p:txBody>
      </p:sp>
      <p:sp>
        <p:nvSpPr>
          <p:cNvPr id="5" name="Text 3"/>
          <p:cNvSpPr txBox="1"/>
          <p:nvPr/>
        </p:nvSpPr>
        <p:spPr>
          <a:xfrm>
            <a:off x="548640" y="5852160"/>
            <a:ext cx="4572000" cy="274320"/>
          </a:xfrm>
          <a:prstGeom prst="rect">
            <a:avLst/>
          </a:prstGeom>
          <a:noFill/>
          <a:ln/>
        </p:spPr>
        <p:txBody>
          <a:bodyPr wrap="square" lIns="0" tIns="0" rIns="0" bIns="0" rtlCol="0" anchor="t"/>
          <a:lstStyle/>
          <a:p>
            <a:pPr marL="0" indent="0">
              <a:buNone/>
            </a:pPr>
            <a:endParaRPr lang="en-US" sz="1300" dirty="0"/>
          </a:p>
        </p:txBody>
      </p:sp>
      <p:sp>
        <p:nvSpPr>
          <p:cNvPr id="6" name="Text 4"/>
          <p:cNvSpPr txBox="1"/>
          <p:nvPr/>
        </p:nvSpPr>
        <p:spPr>
          <a:xfrm>
            <a:off x="6309360" y="1417320"/>
            <a:ext cx="4572000" cy="274320"/>
          </a:xfrm>
          <a:prstGeom prst="rect">
            <a:avLst/>
          </a:prstGeom>
          <a:noFill/>
          <a:ln/>
        </p:spPr>
        <p:txBody>
          <a:bodyPr wrap="square" lIns="0" tIns="0" rIns="0" bIns="0" rtlCol="0" anchor="ctr"/>
          <a:lstStyle/>
          <a:p>
            <a:pPr marL="0" indent="0">
              <a:buNone/>
            </a:pPr>
            <a:r>
              <a:rPr lang="en-US" sz="1200" b="1" kern="0" spc="300" dirty="0">
                <a:solidFill>
                  <a:schemeClr val="accent1"/>
                </a:solidFill>
              </a:rPr>
              <a:t>TAKE THE NEXT STEP</a:t>
            </a:r>
            <a:endParaRPr lang="en-US" sz="1200" dirty="0"/>
          </a:p>
        </p:txBody>
      </p:sp>
      <p:sp>
        <p:nvSpPr>
          <p:cNvPr id="7" name="Next step 1"/>
          <p:cNvSpPr/>
          <p:nvPr/>
        </p:nvSpPr>
        <p:spPr>
          <a:xfrm>
            <a:off x="6309360" y="1874520"/>
            <a:ext cx="5333695" cy="1280160"/>
          </a:xfrm>
          <a:prstGeom prst="roundRect">
            <a:avLst>
              <a:gd name="adj" fmla="val 5714"/>
            </a:avLst>
          </a:prstGeom>
          <a:solidFill>
            <a:srgbClr val="2E2920"/>
          </a:solidFill>
          <a:ln w="12700">
            <a:solidFill>
              <a:srgbClr val="4A4336"/>
            </a:solidFill>
            <a:prstDash val="solid"/>
          </a:ln>
        </p:spPr>
      </p:sp>
      <p:sp>
        <p:nvSpPr>
          <p:cNvPr id="8" name="Icon disc"/>
          <p:cNvSpPr/>
          <p:nvPr/>
        </p:nvSpPr>
        <p:spPr>
          <a:xfrm>
            <a:off x="6583680" y="2194560"/>
            <a:ext cx="640080" cy="640080"/>
          </a:xfrm>
          <a:prstGeom prst="ellipse">
            <a:avLst/>
          </a:prstGeom>
          <a:solidFill>
            <a:schemeClr val="accent1"/>
          </a:solidFill>
          <a:ln/>
        </p:spPr>
      </p:sp>
      <p:pic>
        <p:nvPicPr>
          <p:cNvPr id="9" name="Image 0" descr="ScanSearch icon"/>
          <p:cNvPicPr>
            <a:picLocks noChangeAspect="1"/>
          </p:cNvPicPr>
          <p:nvPr/>
        </p:nvPicPr>
        <p:blipFill>
          <a:blip r:embed="rId3"/>
          <a:stretch>
            <a:fillRect/>
          </a:stretch>
        </p:blipFill>
        <p:spPr>
          <a:xfrm>
            <a:off x="6737299" y="2348179"/>
            <a:ext cx="332842" cy="332842"/>
          </a:xfrm>
          <a:prstGeom prst="rect">
            <a:avLst/>
          </a:prstGeom>
        </p:spPr>
      </p:pic>
      <p:sp>
        <p:nvSpPr>
          <p:cNvPr id="10" name="Text 7"/>
          <p:cNvSpPr txBox="1"/>
          <p:nvPr/>
        </p:nvSpPr>
        <p:spPr>
          <a:xfrm>
            <a:off x="7452360" y="2103120"/>
            <a:ext cx="4023360" cy="320040"/>
          </a:xfrm>
          <a:prstGeom prst="rect">
            <a:avLst/>
          </a:prstGeom>
          <a:noFill/>
          <a:ln/>
        </p:spPr>
        <p:txBody>
          <a:bodyPr wrap="square" lIns="0" tIns="0" rIns="0" bIns="0" rtlCol="0" anchor="t"/>
          <a:lstStyle/>
          <a:p>
            <a:pPr marL="0" indent="0">
              <a:buNone/>
            </a:pPr>
            <a:r>
              <a:rPr lang="en-US" sz="1800" b="1" dirty="0">
                <a:solidFill>
                  <a:schemeClr val="bg1"/>
                </a:solidFill>
              </a:rPr>
              <a:t>1.  Marketing signal audit</a:t>
            </a:r>
            <a:endParaRPr lang="en-US" sz="1800" dirty="0"/>
          </a:p>
        </p:txBody>
      </p:sp>
      <p:sp>
        <p:nvSpPr>
          <p:cNvPr id="11" name="Text 8"/>
          <p:cNvSpPr txBox="1"/>
          <p:nvPr/>
        </p:nvSpPr>
        <p:spPr>
          <a:xfrm>
            <a:off x="7452360" y="2468880"/>
            <a:ext cx="4023360" cy="594360"/>
          </a:xfrm>
          <a:prstGeom prst="rect">
            <a:avLst/>
          </a:prstGeom>
          <a:noFill/>
          <a:ln/>
        </p:spPr>
        <p:txBody>
          <a:bodyPr wrap="square" lIns="0" tIns="0" rIns="0" bIns="0" rtlCol="0" anchor="t"/>
          <a:lstStyle/>
          <a:p>
            <a:pPr marL="0" indent="0">
              <a:buNone/>
            </a:pPr>
            <a:r>
              <a:rPr lang="en-US" sz="1400" dirty="0">
                <a:solidFill>
                  <a:schemeClr val="bg2"/>
                </a:solidFill>
              </a:rPr>
              <a:t>Map your ad platforms, site, stores, leads and support channels.</a:t>
            </a:r>
            <a:endParaRPr lang="en-US" sz="1400" dirty="0"/>
          </a:p>
        </p:txBody>
      </p:sp>
      <p:sp>
        <p:nvSpPr>
          <p:cNvPr id="12" name="Next step 2"/>
          <p:cNvSpPr/>
          <p:nvPr/>
        </p:nvSpPr>
        <p:spPr>
          <a:xfrm>
            <a:off x="6309360" y="3337560"/>
            <a:ext cx="5333695" cy="1280160"/>
          </a:xfrm>
          <a:prstGeom prst="roundRect">
            <a:avLst>
              <a:gd name="adj" fmla="val 5714"/>
            </a:avLst>
          </a:prstGeom>
          <a:solidFill>
            <a:srgbClr val="2E2920"/>
          </a:solidFill>
          <a:ln w="12700">
            <a:solidFill>
              <a:srgbClr val="4A4336"/>
            </a:solidFill>
            <a:prstDash val="solid"/>
          </a:ln>
        </p:spPr>
      </p:sp>
      <p:sp>
        <p:nvSpPr>
          <p:cNvPr id="13" name="Icon disc"/>
          <p:cNvSpPr/>
          <p:nvPr/>
        </p:nvSpPr>
        <p:spPr>
          <a:xfrm>
            <a:off x="6583680" y="3657600"/>
            <a:ext cx="640080" cy="640080"/>
          </a:xfrm>
          <a:prstGeom prst="ellipse">
            <a:avLst/>
          </a:prstGeom>
          <a:solidFill>
            <a:schemeClr val="accent1"/>
          </a:solidFill>
          <a:ln/>
        </p:spPr>
      </p:sp>
      <p:pic>
        <p:nvPicPr>
          <p:cNvPr id="14" name="Image 1" descr="Compass icon"/>
          <p:cNvPicPr>
            <a:picLocks noChangeAspect="1"/>
          </p:cNvPicPr>
          <p:nvPr/>
        </p:nvPicPr>
        <p:blipFill>
          <a:blip r:embed="rId4"/>
          <a:stretch>
            <a:fillRect/>
          </a:stretch>
        </p:blipFill>
        <p:spPr>
          <a:xfrm>
            <a:off x="6737299" y="3811219"/>
            <a:ext cx="332842" cy="332842"/>
          </a:xfrm>
          <a:prstGeom prst="rect">
            <a:avLst/>
          </a:prstGeom>
        </p:spPr>
      </p:pic>
      <p:sp>
        <p:nvSpPr>
          <p:cNvPr id="15" name="Text 11"/>
          <p:cNvSpPr txBox="1"/>
          <p:nvPr/>
        </p:nvSpPr>
        <p:spPr>
          <a:xfrm>
            <a:off x="7452360" y="3566160"/>
            <a:ext cx="4023360" cy="320040"/>
          </a:xfrm>
          <a:prstGeom prst="rect">
            <a:avLst/>
          </a:prstGeom>
          <a:noFill/>
          <a:ln/>
        </p:spPr>
        <p:txBody>
          <a:bodyPr wrap="square" lIns="0" tIns="0" rIns="0" bIns="0" rtlCol="0" anchor="t"/>
          <a:lstStyle/>
          <a:p>
            <a:pPr marL="0" indent="0">
              <a:buNone/>
            </a:pPr>
            <a:r>
              <a:rPr lang="en-US" sz="1800" b="1" dirty="0">
                <a:solidFill>
                  <a:schemeClr val="bg1"/>
                </a:solidFill>
              </a:rPr>
              <a:t>2.  Pick your loop</a:t>
            </a:r>
            <a:endParaRPr lang="en-US" sz="1800" dirty="0"/>
          </a:p>
        </p:txBody>
      </p:sp>
      <p:sp>
        <p:nvSpPr>
          <p:cNvPr id="16" name="Text 12"/>
          <p:cNvSpPr txBox="1"/>
          <p:nvPr/>
        </p:nvSpPr>
        <p:spPr>
          <a:xfrm>
            <a:off x="7452360" y="3931920"/>
            <a:ext cx="4023360" cy="594360"/>
          </a:xfrm>
          <a:prstGeom prst="rect">
            <a:avLst/>
          </a:prstGeom>
          <a:noFill/>
          <a:ln/>
        </p:spPr>
        <p:txBody>
          <a:bodyPr wrap="square" lIns="0" tIns="0" rIns="0" bIns="0" rtlCol="0" anchor="t"/>
          <a:lstStyle/>
          <a:p>
            <a:pPr marL="0" indent="0">
              <a:buNone/>
            </a:pPr>
            <a:r>
              <a:rPr lang="en-US" sz="1400" dirty="0">
                <a:solidFill>
                  <a:schemeClr val="bg2"/>
                </a:solidFill>
              </a:rPr>
              <a:t>Choose B2B or B2C, and the first products to switch on.</a:t>
            </a:r>
            <a:endParaRPr lang="en-US" sz="1400" dirty="0"/>
          </a:p>
        </p:txBody>
      </p:sp>
      <p:sp>
        <p:nvSpPr>
          <p:cNvPr id="17" name="Next step 3"/>
          <p:cNvSpPr/>
          <p:nvPr/>
        </p:nvSpPr>
        <p:spPr>
          <a:xfrm>
            <a:off x="6309360" y="4800600"/>
            <a:ext cx="5333695" cy="1280160"/>
          </a:xfrm>
          <a:prstGeom prst="roundRect">
            <a:avLst>
              <a:gd name="adj" fmla="val 5714"/>
            </a:avLst>
          </a:prstGeom>
          <a:solidFill>
            <a:srgbClr val="2E2920"/>
          </a:solidFill>
          <a:ln w="12700">
            <a:solidFill>
              <a:srgbClr val="4A4336"/>
            </a:solidFill>
            <a:prstDash val="solid"/>
          </a:ln>
        </p:spPr>
      </p:sp>
      <p:sp>
        <p:nvSpPr>
          <p:cNvPr id="18" name="Icon disc"/>
          <p:cNvSpPr/>
          <p:nvPr/>
        </p:nvSpPr>
        <p:spPr>
          <a:xfrm>
            <a:off x="6583680" y="5120640"/>
            <a:ext cx="640080" cy="640080"/>
          </a:xfrm>
          <a:prstGeom prst="ellipse">
            <a:avLst/>
          </a:prstGeom>
          <a:solidFill>
            <a:schemeClr val="accent1"/>
          </a:solidFill>
          <a:ln/>
        </p:spPr>
      </p:sp>
      <p:pic>
        <p:nvPicPr>
          <p:cNvPr id="19" name="Image 2" descr="Rocket icon"/>
          <p:cNvPicPr>
            <a:picLocks noChangeAspect="1"/>
          </p:cNvPicPr>
          <p:nvPr/>
        </p:nvPicPr>
        <p:blipFill>
          <a:blip r:embed="rId5"/>
          <a:stretch>
            <a:fillRect/>
          </a:stretch>
        </p:blipFill>
        <p:spPr>
          <a:xfrm>
            <a:off x="6737299" y="5274259"/>
            <a:ext cx="332842" cy="332842"/>
          </a:xfrm>
          <a:prstGeom prst="rect">
            <a:avLst/>
          </a:prstGeom>
        </p:spPr>
      </p:pic>
      <p:sp>
        <p:nvSpPr>
          <p:cNvPr id="20" name="Text 15"/>
          <p:cNvSpPr txBox="1"/>
          <p:nvPr/>
        </p:nvSpPr>
        <p:spPr>
          <a:xfrm>
            <a:off x="7452360" y="5029200"/>
            <a:ext cx="4023360" cy="320040"/>
          </a:xfrm>
          <a:prstGeom prst="rect">
            <a:avLst/>
          </a:prstGeom>
          <a:noFill/>
          <a:ln/>
        </p:spPr>
        <p:txBody>
          <a:bodyPr wrap="square" lIns="0" tIns="0" rIns="0" bIns="0" rtlCol="0" anchor="t"/>
          <a:lstStyle/>
          <a:p>
            <a:pPr marL="0" indent="0">
              <a:buNone/>
            </a:pPr>
            <a:r>
              <a:rPr lang="en-US" sz="1800" b="1" dirty="0">
                <a:solidFill>
                  <a:schemeClr val="bg1"/>
                </a:solidFill>
              </a:rPr>
              <a:t>3.  Go live in days</a:t>
            </a:r>
            <a:endParaRPr lang="en-US" sz="1800" dirty="0"/>
          </a:p>
        </p:txBody>
      </p:sp>
      <p:sp>
        <p:nvSpPr>
          <p:cNvPr id="21" name="Text 16"/>
          <p:cNvSpPr txBox="1"/>
          <p:nvPr/>
        </p:nvSpPr>
        <p:spPr>
          <a:xfrm>
            <a:off x="7452360" y="5394960"/>
            <a:ext cx="4023360" cy="594360"/>
          </a:xfrm>
          <a:prstGeom prst="rect">
            <a:avLst/>
          </a:prstGeom>
          <a:noFill/>
          <a:ln/>
        </p:spPr>
        <p:txBody>
          <a:bodyPr wrap="square" lIns="0" tIns="0" rIns="0" bIns="0" rtlCol="0" anchor="t"/>
          <a:lstStyle/>
          <a:p>
            <a:pPr marL="0" indent="0">
              <a:buNone/>
            </a:pPr>
            <a:r>
              <a:rPr lang="en-US" sz="1400" dirty="0">
                <a:solidFill>
                  <a:schemeClr val="bg2"/>
                </a:solidFill>
              </a:rPr>
              <a:t>Your first loop running, with your first decision waiting for approval.</a:t>
            </a:r>
            <a:endParaRPr lang="en-US" sz="1400" dirty="0"/>
          </a:p>
        </p:txBody>
      </p:sp>
      <p:sp>
        <p:nvSpPr>
          <p:cNvPr id="25" name="Slide Number Placeholder 0"/>
          <p:cNvSpPr>
            <a:spLocks noGrp="1"/>
          </p:cNvSpPr>
          <p:nvPr>
            <p:ph type="sldNum" sz="quarter" idx="4294967295"/>
          </p:nvPr>
        </p:nvSpPr>
        <p:spPr>
          <a:xfrm>
            <a:off x="11274552" y="6400800"/>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8E82"/>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Arinox">
  <a:themeElements>
    <a:clrScheme name="Arinox">
      <a:dk1>
        <a:srgbClr val="1F1A12"/>
      </a:dk1>
      <a:lt1>
        <a:srgbClr val="FFFFFF"/>
      </a:lt1>
      <a:dk2>
        <a:srgbClr val="5C5244"/>
      </a:dk2>
      <a:lt2>
        <a:srgbClr val="F2EFE9"/>
      </a:lt2>
      <a:accent1>
        <a:srgbClr val="E8590C"/>
      </a:accent1>
      <a:accent2>
        <a:srgbClr val="1D7A5F"/>
      </a:accent2>
      <a:accent3>
        <a:srgbClr val="C0392B"/>
      </a:accent3>
      <a:accent4>
        <a:srgbClr val="9A8E82"/>
      </a:accent4>
      <a:accent5>
        <a:srgbClr val="FDE8DC"/>
      </a:accent5>
      <a:accent6>
        <a:srgbClr val="DDD8CF"/>
      </a:accent6>
      <a:hlink>
        <a:srgbClr val="E8590C"/>
      </a:hlink>
      <a:folHlink>
        <a:srgbClr val="5C5244"/>
      </a:folHlink>
    </a:clrScheme>
    <a:fontScheme name="Arinox">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2384</Words>
  <Application>Microsoft Office PowerPoint</Application>
  <PresentationFormat>Widescreen</PresentationFormat>
  <Paragraphs>332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Georgia</vt:lpstr>
      <vt:lpstr>Arinox</vt:lpstr>
      <vt:lpstr>The AI way to market.</vt:lpstr>
      <vt:lpstr>Marketing has always been the same job</vt:lpstr>
      <vt:lpstr>AI made output infinite. So the things to watch multiplied too</vt:lpstr>
      <vt:lpstr>Infinite output. No cockpit</vt:lpstr>
      <vt:lpstr>So we built the cockpit: every signal in, every decision out</vt:lpstr>
      <vt:lpstr>One loop: Capture, Learn, Create, Deploy</vt:lpstr>
      <vt:lpstr>Every signal. Every platform. One field</vt:lpstr>
      <vt:lpstr>The signal becomes the brief</vt:lpstr>
      <vt:lpstr>The decision goes back out</vt:lpstr>
      <vt:lpstr>An ad tires out at 2 a.m. By 7, the fix is waiting for you</vt:lpstr>
      <vt:lpstr>You stay in command. And every decision makes it sharper</vt:lpstr>
      <vt:lpstr>One loop. Two teams. Yours</vt:lpstr>
      <vt:lpstr>Private by design: three ways to run it</vt:lpstr>
      <vt:lpstr>Infinite output. Finite decisions, decided early</vt:lpstr>
    </vt:vector>
  </TitlesOfParts>
  <Company>Adisen Tech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OS</dc:title>
  <dc:subject>PptxGenJS Presentation</dc:subject>
  <dc:creator>Arinox AI</dc:creator>
  <cp:lastModifiedBy>RAHUL VASANTH</cp:lastModifiedBy>
  <cp:revision>4</cp:revision>
  <dcterms:created xsi:type="dcterms:W3CDTF">2026-10-12T05:42:29Z</dcterms:created>
  <dcterms:modified xsi:type="dcterms:W3CDTF">2026-10-12T08:16:32Z</dcterms:modified>
</cp:coreProperties>
</file>